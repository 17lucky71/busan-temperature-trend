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cf0e02b-049d-6bcb-1aa5-8566553c34f9}">
          <p14:sldIdLst>
            <p14:sldId id="256"/>
            <p14:sldId id="257"/>
          </p14:sldIdLst>
        </p14:section>
        <p14:section name="데이터와 방법" id="{7d8dc7be-1a42-402f-83b7-86150d819359}">
          <p14:sldIdLst>
            <p14:sldId id="258"/>
            <p14:sldId id="259"/>
            <p14:sldId id="260"/>
          </p14:sldIdLst>
        </p14:section>
        <p14:section name="인사이트" id="{2278e87b-8c47-908f-ed56-a85d522fa677}">
          <p14:sldIdLst>
            <p14:sldId id="261"/>
            <p14:sldId id="262"/>
            <p14:sldId id="263"/>
          </p14:sldIdLst>
        </p14:section>
        <p14:section name="보너스" id="{5b57bf7a-ec34-eabb-e3c7-6a7c67d6bdc6}">
          <p14:sldIdLst>
            <p14:sldId id="264"/>
            <p14:sldId id="265"/>
            <p14:sldId id="266"/>
          </p14:sldIdLst>
        </p14:section>
        <p14:section name="마무리" id="{6c02d8a7-fd63-91fd-d94f-cfc5b94b90a4}">
          <p14:sldIdLst>
            <p14:sldId id="267"/>
            <p14:sldId id="268"/>
            <p14:sldId id="269"/>
          </p14:sldIdLst>
        </p14:section>
        <p14:section name="부록: 예상 질문" id="{f6e90c2a-7c48-9d3d-653e-c747422fdae0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2020년 대비 기온 변화 (℃)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여름(6~8월)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0.4</c:v>
                </c:pt>
                <c:pt idx="2">
                  <c:v>0.79</c:v>
                </c:pt>
                <c:pt idx="3">
                  <c:v>0.91</c:v>
                </c:pt>
                <c:pt idx="4">
                  <c:v>1.53</c:v>
                </c:pt>
                <c:pt idx="5">
                  <c:v>2.21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연평균</c:v>
                </c:pt>
              </c:strCache>
            </c:strRef>
          </c:tx>
          <c:spPr>
            <a:solidFill>
              <a:srgbClr val="14213D"/>
            </a:solidFill>
            <a:ln w="3175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0.49</c:v>
                </c:pt>
                <c:pt idx="2">
                  <c:v>0.36</c:v>
                </c:pt>
                <c:pt idx="3">
                  <c:v>0.73</c:v>
                </c:pt>
                <c:pt idx="4">
                  <c:v>1.25</c:v>
                </c:pt>
                <c:pt idx="5">
                  <c:v>0.83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겨울(12·1·2월)</c:v>
                </c:pt>
              </c:strCache>
            </c:strRef>
          </c:tx>
          <c:spPr>
            <a:solidFill>
              <a:srgbClr val="2E86AB"/>
            </a:solidFill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-0.39</c:v>
                </c:pt>
                <c:pt idx="2">
                  <c:v>-2.15</c:v>
                </c:pt>
                <c:pt idx="3">
                  <c:v>-0.21</c:v>
                </c:pt>
                <c:pt idx="4">
                  <c:v>-0.02</c:v>
                </c:pt>
                <c:pt idx="5">
                  <c:v>-1.49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+0.0;-0.0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월별 일평균기온 표준편차 (℃)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11~12월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</c:v>
                </c:pt>
                <c:pt idx="11">
                  <c:v>3.93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여름 6~8월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1.91</c:v>
                </c:pt>
                <c:pt idx="6">
                  <c:v>2.24</c:v>
                </c:pt>
                <c:pt idx="7">
                  <c:v>1.85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그 외</c:v>
                </c:pt>
              </c:strCache>
            </c:strRef>
          </c:tx>
          <c:spPr>
            <a:solidFill>
              <a:srgbClr val="C9D2DE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3.69</c:v>
                </c:pt>
                <c:pt idx="1">
                  <c:v>3.84</c:v>
                </c:pt>
                <c:pt idx="2">
                  <c:v>3.4</c:v>
                </c:pt>
                <c:pt idx="3">
                  <c:v>2.65</c:v>
                </c:pt>
                <c:pt idx="4">
                  <c:v>2.48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2.52</c:v>
                </c:pt>
                <c:pt idx="9">
                  <c:v>3.38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+mn-lt"/>
              </a:rPr>
              <a:t>2025년 예측 오차 MAE (℃, 낮을수록 좋음)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MAE(℃)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작년 같은 날</c:v>
                  </c:pt>
                  <c:pt idx="1">
                    <c:v>평년값 (2020~2024 평균)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2.93</c:v>
                </c:pt>
                <c:pt idx="1">
                  <c:v>2.47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부산의 2020년부터 2025년까지 6년, 2,192일의 일별 기온 데이터를 분석했습니다. 그래프를 그리는 것보다 '그래서 이게 무슨 의미인가'를 읽어내는 데 집중했고, 특히 계절을 나눠 봤을 때 전체 평균에서는 보이지 않던 패턴이 드러났습니다. 결론부터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결론은 세 가지입니다. 첫째, 연평균은 오르내렸지만 여름 평균은 6년 동안 한 해도 빠짐없이 올라 총 2.21도 상승했습니다. 둘째, 11~12월의 기온 변동성은 여름의 약 2배입니다. 셋째, 하루에 6.2도 넘게 변한 급변일 37일은 전부 10월부터 3월 사이에 있었고, 그중 29일이 기온이 떨어진 날이었습니다. 지금부터 이 결론에 어떻게 도달했는지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 질문은 세 가지입니다. 장기 추세, 계절별 변동성, 그리고 급변일입니다. 첫 번째는 그래프로 바로 확인할 수 있는 질문이고, 세 번째는 비와의 관계처럼 추가 해석이 필요한 질문입니다. 데이터는 Open-Meteo API로 수집한 부산의 6년치 일별 데이터 2,192일입니다. 한 가지 주의할 점은, 이 데이터가 관측소 실측값이 아니라 ERA5 재분석 격자 자료라는 것입니다. 이 점은 한계점에서 다시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결측치는 0건이었지만, 그걸로 끝내지 않았습니다. 날짜 행 자체가 빠지면 isna로는 잡히지 않기 때문에 날짜 연속성, 물리적 범위, 최저-평균-최고의 논리 관계까지 따로 점검했고 모두 이상이 없었습니다. 이상치는 전날 대비 변화량의 z-score가 3을 넘는 날, 즉 하루에 약 6.2도 넘게 변한 날로 정의했고 37일이 나왔습니다. 이 날들은 지우지 않고 표시만 했습니다. 기온 급변은 오류라기보다 한파 같은 실제 현상일 가능성이 크고, 지우면 실제 변동성을 과소평가하게 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 기법은 이동평균, 월별 집계, 전일 대비 변화량 세 가지를 썼습니다. 이 그래프 한 장에 시계열의 세 요소가 다 들어 있습니다. 회색 일별 값은 노이즈, 30일 이동평균인 파란 선은 계절성, 365일 이동평균인 빨간 선은 계절을 걷어낸 추세입니다. 365일 중심 이동평균은 앞뒤 반년치가 필요해서 처음과 끝 반년은 비어 있습니다. 그런데 빨간 선이 거의 평평해 보이죠. y축이 40도 범위라 1도 차이는 눈에 안 띄는 겁니다. 그래서 그래프만 믿지 않고 숫자로 다시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인사이트입니다. 각 계열을 2020년 대비 변화로 맞춰 그렸습니다. 검은 선 연평균은 2022년과 2025년에 떨어지며 들쭉날쭉합니다. 그런데 빨간 선 여름 평균은 6년 동안 한 해도 빠짐없이 올라 2.21도 상승했습니다. 이건 대시보드에서 여름만 골라 보다가 발견한 패턴입니다. 그러면 연평균은 왜 떨어졌을까요? 파란 선 겨울을 보면, 연평균이 하락한 2022년과 2025년이 정확히 겨울이 가장 추웠던 두 해입니다. 그래서 변동이 큰 겨울 기온이 연평균을 흔들어 상승 경향을 가렸을 수 있다고 해석했습니다. 다만 6년은 기후 추세를 말하기엔 짧아서, 온난화라고 단정하지는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인사이트는 변동성입니다. 월별 기온의 표준편차를 보면, 여름 6~8월은 평균 2.0도로 안정적이고, 11~12월은 3.97도로 약 2배입니다. 혹시 이게 기온이 빠르게 내려가는 계절 전환기라서 생긴 착시가 아닐까 싶어, 보너스 분석의 시계열 분해에서 계절성을 걷어낸 잔차로 다시 봤습니다. 거기서도 2월 3.49도, 6월 1.44도로 같은 결과였습니다. 해석으로는 겨울엔 찬 대륙고기압이 강해졌다 약해졌다를 반복하는 이른바 삼한사온, 여름엔 북태평양 고기압이 오래 머물러 안정적인 것을 원인으로 추정했습니다. 이건 기압 데이터가 없어 가설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인사이트입니다. 급변일 37일은 전부 10월부터 3월 사이에 있고 4월부터 9월은 0일입니다. 방향도 치우쳐서 급하강이 29일, 급상승이 8일입니다. 비와의 관계도 달랐습니다. 급상승일은 절반이 10mm 넘게 비가 온 날이었는데, 급하강일은 3%뿐이었습니다. 그래서 저기압이 지나갈 때 앞쪽에선 따뜻한 남서풍이 비와 함께 기온을 올리고, 지나간 뒤 찬 북서풍이 맑은 날 기온을 떨어뜨리는 패턴으로 해석했습니다. 실제로 2024년 2월 19일 비 43.6mm와 함께 6.9도 오른 다음 날 7도 떨어졌습니다. 반대로 2025년 11월 30일은 비 없이 급상승해서 반례도 있습니다. 또 이상치 기준을 바꾸면 결론이 달라지지 않을까 확인하려고 기준을 2.5로 낮춰 봤는데, 60일로 늘어도 여름엔 여전히 0일이었습니다.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보너스로 시계열 분해를 했습니다. 기온을 추세, 계절성, 잔차로 나눈 겁니다. 추세는 5년 동안 0.79도 올랐는데, 계절성의 진폭은 30.47도로 추세의 약 39배입니다. 원본 그래프에서 추세가 평평해 보였던 이유가 숫자로 설명되는 거죠. 한계도 있습니다. 365일 주기로 나누면 같은 날짜의 값이 5~6개뿐이라, 평균을 내도 노이즈가 남아서 파란 계절성 선이 매끈하지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보너스는 간단한 예측입니다. 2020년부터 2024년 데이터만으로 2025년 365일을 맞혀 봤습니다. 작년 같은 날 값을 그대로 쓰는 방법은 평균 2.93도 틀렸고, 5년 같은 날짜의 평균인 평년값은 2.47도 틀려서 더 나았습니다. 작년 하루치는 그해의 우연한 변동까지 복사하지만, 여러 해를 평균하면 노이즈가 상쇄되기 때문으로 봤습니다. 월별로는 2월 오차가 가장 커서, 겨울이 예측하기 어렵다는 앞의 인사이트와도 일치합니다. 다만 두 방법 모두 추세를 반영하지 못해서, 실제 2025년은 평년보다 0.26도 높았습니다. 정확한 예측보다 '아무 정보 없이 맞힐 수 있는 기준선'을 세운 것에 의미를 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보너스는 대시보드입니다. Streamlit으로 만들었고, 기간과 월, 이동평균 기간, 급변일 기준을 바꿔 가며 탐색할 수 있습니다. 먼저 기본값에서 급변일이 37일로 리포트 수치와 일치하는지 확인해 계산을 검증했습니다. 그다음 조건을 바꿔 봤는데, 여름만 골랐을 때 여름 평균이 6년 연속 오른 패턴을 발견했고, 이게 첫 번째 인사이트가 됐습니다. 정적인 그래프 세 장으로는 보이지 않던 것을 대시보드에서 찾은 셈입니다. 기준을 2.5로 바꿔 결론이 기준값에 민감하지 않다는 것도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정리하면, 부산 기온은 계절성이 압도적이고, 그걸 걷어내면 여름은 6년 연속 상승, 연평균은 겨울 변동에 흔들리는 모습이었습니다. 급변은 추운 계절에 주로 하강 방향으로 일어났습니다. 한계도 분명합니다. 6년은 짧고, 재분석 자료라 관측소와 다를 수 있으며, 기압이나 풍향 데이터가 없어 원인은 가설로 남겨 뒀습니다. 다음 단계로는 30년 이상의 자료, 풍향 데이터 추가, 기상청 한파특보와의 대조를 계획하고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활용도 말씀드리겠습니다. 전처리와 시각화 코드, 해석 후보를 만드는 데 AI를 썼는데, 그대로 쓰지 않고 세 가지로 검증했습니다. 첫째, 직접 실행해 보고 오류를 잡았습니다. matplotlib 버전 차이로 boxplot 인자 오류가 났고, Streamlit 기본 차트가 빈칸으로 나오는 문제도 직접 발견해 고쳤습니다. 둘째, AI가 제시한 가설 중 데이터와 맞지 않는 것은 뺐습니다. 셋째, 대시보드의 급변일 37일과 평균 14.17도를 분석 로그와 대조했습니다. 그래서 결론의 근거는 모두 제가 확인한 수치로 설명할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들어 주셔서 감사합니다. 코드와 리포트, 대시보드 실행 방법은 모두 GitHub 저장소에 있습니다.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후 질의응답 대비용 슬라이드입니다. 발표 중에는 넘기고, 질문이 나오면 해당 답변을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후 질의응답 대비용 슬라이드입니다. 발표 중에는 넘기고, 질문이 나오면 해당 답변을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부산 기온 트렌드 분석 · 2020–2025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부산 6년 기온 데이터,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계절을 나눠 보니 보인 것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2020~2025 일별 기온 시계열 트렌드 분석 · AI 데이터 분석 미션</a:t>
            </a:r>
            <a:endParaRPr lang="en-US" sz="1600" dirty="0"/>
          </a:p>
        </p:txBody>
      </p:sp>
      <p:sp>
        <p:nvSpPr>
          <p:cNvPr id="4" name="logo_icon_bg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5" name="logo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713232"/>
            <a:ext cx="356616" cy="356616"/>
          </a:xfrm>
          <a:prstGeom prst="rect">
            <a:avLst/>
          </a:prstGeom>
        </p:spPr>
      </p:pic>
      <p:sp>
        <p:nvSpPr>
          <p:cNvPr id="6" name="repo_url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github.com/17lucky71/busan-temperature-trend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핵심 결론 세 가지</a:t>
            </a:r>
            <a:endParaRPr lang="en-US" sz="2400" dirty="0"/>
          </a:p>
        </p:txBody>
      </p:sp>
      <p:sp>
        <p:nvSpPr>
          <p:cNvPr id="3" name="stat_card_0"/>
          <p:cNvSpPr/>
          <p:nvPr/>
        </p:nvSpPr>
        <p:spPr>
          <a:xfrm>
            <a:off x="457200" y="109728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tat_icon_0_bg"/>
          <p:cNvSpPr/>
          <p:nvPr/>
        </p:nvSpPr>
        <p:spPr>
          <a:xfrm>
            <a:off x="731520" y="13258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5" name="stat_icon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457554"/>
            <a:ext cx="285293" cy="285293"/>
          </a:xfrm>
          <a:prstGeom prst="rect">
            <a:avLst/>
          </a:prstGeom>
        </p:spPr>
      </p:pic>
      <p:sp>
        <p:nvSpPr>
          <p:cNvPr id="6" name="stat_big_0"/>
          <p:cNvSpPr txBox="1"/>
          <p:nvPr/>
        </p:nvSpPr>
        <p:spPr>
          <a:xfrm>
            <a:off x="73152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</a:rPr>
              <a:t>+2.21℃</a:t>
            </a:r>
            <a:endParaRPr lang="en-US" sz="3200" dirty="0"/>
          </a:p>
        </p:txBody>
      </p:sp>
      <p:sp>
        <p:nvSpPr>
          <p:cNvPr id="7" name="stat_label_0"/>
          <p:cNvSpPr txBox="1"/>
          <p:nvPr/>
        </p:nvSpPr>
        <p:spPr>
          <a:xfrm>
            <a:off x="73152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여름(6~8월) 평균이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6년간 매년 상승</a:t>
            </a:r>
            <a:endParaRPr lang="en-US" sz="1500" dirty="0"/>
          </a:p>
        </p:txBody>
      </p:sp>
      <p:sp>
        <p:nvSpPr>
          <p:cNvPr id="8" name="stat_sub_0"/>
          <p:cNvSpPr txBox="1"/>
          <p:nvPr/>
        </p:nvSpPr>
        <p:spPr>
          <a:xfrm>
            <a:off x="73152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23.68℃ → 25.89℃</a:t>
            </a:r>
            <a:endParaRPr lang="en-US" sz="1200" dirty="0"/>
          </a:p>
        </p:txBody>
      </p:sp>
      <p:sp>
        <p:nvSpPr>
          <p:cNvPr id="9" name="stat_card_1"/>
          <p:cNvSpPr/>
          <p:nvPr/>
        </p:nvSpPr>
        <p:spPr>
          <a:xfrm>
            <a:off x="3291840" y="109728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tat_icon_1_bg"/>
          <p:cNvSpPr/>
          <p:nvPr/>
        </p:nvSpPr>
        <p:spPr>
          <a:xfrm>
            <a:off x="3566160" y="1325880"/>
            <a:ext cx="548640" cy="5486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1" name="stat_icon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34" y="1457554"/>
            <a:ext cx="285293" cy="285293"/>
          </a:xfrm>
          <a:prstGeom prst="rect">
            <a:avLst/>
          </a:prstGeom>
        </p:spPr>
      </p:pic>
      <p:sp>
        <p:nvSpPr>
          <p:cNvPr id="12" name="stat_big_1"/>
          <p:cNvSpPr txBox="1"/>
          <p:nvPr/>
        </p:nvSpPr>
        <p:spPr>
          <a:xfrm>
            <a:off x="356616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</a:rPr>
              <a:t>약 2배</a:t>
            </a:r>
            <a:endParaRPr lang="en-US" sz="3200" dirty="0"/>
          </a:p>
        </p:txBody>
      </p:sp>
      <p:sp>
        <p:nvSpPr>
          <p:cNvPr id="13" name="stat_label_1"/>
          <p:cNvSpPr txBox="1"/>
          <p:nvPr/>
        </p:nvSpPr>
        <p:spPr>
          <a:xfrm>
            <a:off x="356616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11~12월 기온 변동성이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여름보다 큼</a:t>
            </a:r>
            <a:endParaRPr lang="en-US" sz="1500" dirty="0"/>
          </a:p>
        </p:txBody>
      </p:sp>
      <p:sp>
        <p:nvSpPr>
          <p:cNvPr id="14" name="stat_sub_1"/>
          <p:cNvSpPr txBox="1"/>
          <p:nvPr/>
        </p:nvSpPr>
        <p:spPr>
          <a:xfrm>
            <a:off x="356616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표준편차 3.97℃ vs 2.00℃</a:t>
            </a:r>
            <a:endParaRPr lang="en-US" sz="1200" dirty="0"/>
          </a:p>
        </p:txBody>
      </p:sp>
      <p:sp>
        <p:nvSpPr>
          <p:cNvPr id="15" name="stat_card_2"/>
          <p:cNvSpPr/>
          <p:nvPr/>
        </p:nvSpPr>
        <p:spPr>
          <a:xfrm>
            <a:off x="6126480" y="109728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tat_icon_2_bg"/>
          <p:cNvSpPr/>
          <p:nvPr/>
        </p:nvSpPr>
        <p:spPr>
          <a:xfrm>
            <a:off x="6400800" y="1325880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7" name="stat_icon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1457554"/>
            <a:ext cx="285293" cy="285293"/>
          </a:xfrm>
          <a:prstGeom prst="rect">
            <a:avLst/>
          </a:prstGeom>
        </p:spPr>
      </p:pic>
      <p:sp>
        <p:nvSpPr>
          <p:cNvPr id="18" name="stat_big_2"/>
          <p:cNvSpPr txBox="1"/>
          <p:nvPr/>
        </p:nvSpPr>
        <p:spPr>
          <a:xfrm>
            <a:off x="640080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A259"/>
                </a:solidFill>
              </a:rPr>
              <a:t>37일 전부</a:t>
            </a:r>
            <a:endParaRPr lang="en-US" sz="3200" dirty="0"/>
          </a:p>
        </p:txBody>
      </p:sp>
      <p:sp>
        <p:nvSpPr>
          <p:cNvPr id="19" name="stat_label_2"/>
          <p:cNvSpPr txBox="1"/>
          <p:nvPr/>
        </p:nvSpPr>
        <p:spPr>
          <a:xfrm>
            <a:off x="640080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하루 ±6.2℃ 급변은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모두 10~3월에 발생</a:t>
            </a:r>
            <a:endParaRPr lang="en-US" sz="1500" dirty="0"/>
          </a:p>
        </p:txBody>
      </p:sp>
      <p:sp>
        <p:nvSpPr>
          <p:cNvPr id="20" name="stat_sub_2"/>
          <p:cNvSpPr txBox="1"/>
          <p:nvPr/>
        </p:nvSpPr>
        <p:spPr>
          <a:xfrm>
            <a:off x="640080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그중 29일이 급하강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세 가지 질문을 들고 2,192일을 살펴봤다</a:t>
            </a:r>
            <a:endParaRPr lang="en-US" sz="2400" dirty="0"/>
          </a:p>
        </p:txBody>
      </p:sp>
      <p:sp>
        <p:nvSpPr>
          <p:cNvPr id="3" name="q_num_bg_0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q_num_0"/>
          <p:cNvSpPr txBox="1"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q_head_0"/>
          <p:cNvSpPr txBox="1"/>
          <p:nvPr/>
        </p:nvSpPr>
        <p:spPr>
          <a:xfrm>
            <a:off x="114300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장기 추세</a:t>
            </a:r>
            <a:endParaRPr lang="en-US" sz="1600" dirty="0"/>
          </a:p>
        </p:txBody>
      </p:sp>
      <p:sp>
        <p:nvSpPr>
          <p:cNvPr id="6" name="q_body_0"/>
          <p:cNvSpPr txBox="1"/>
          <p:nvPr/>
        </p:nvSpPr>
        <p:spPr>
          <a:xfrm>
            <a:off x="1143000" y="14721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6년 사이 연평균기온은 오르는 경향이 있는가?</a:t>
            </a:r>
            <a:endParaRPr lang="en-US" sz="1400" dirty="0"/>
          </a:p>
        </p:txBody>
      </p:sp>
      <p:sp>
        <p:nvSpPr>
          <p:cNvPr id="7" name="q_num_bg_1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q_num_1"/>
          <p:cNvSpPr txBox="1"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q_head_1"/>
          <p:cNvSpPr txBox="1"/>
          <p:nvPr/>
        </p:nvSpPr>
        <p:spPr>
          <a:xfrm>
            <a:off x="1143000" y="2221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계절별 변동성</a:t>
            </a:r>
            <a:endParaRPr lang="en-US" sz="1600" dirty="0"/>
          </a:p>
        </p:txBody>
      </p:sp>
      <p:sp>
        <p:nvSpPr>
          <p:cNvPr id="10" name="q_body_1"/>
          <p:cNvSpPr txBox="1"/>
          <p:nvPr/>
        </p:nvSpPr>
        <p:spPr>
          <a:xfrm>
            <a:off x="1143000" y="25694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어느 시기에 기온이 가장 불안정한가?</a:t>
            </a:r>
            <a:endParaRPr lang="en-US" sz="1400" dirty="0"/>
          </a:p>
        </p:txBody>
      </p:sp>
      <p:sp>
        <p:nvSpPr>
          <p:cNvPr id="11" name="q_num_bg_2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q_num_2"/>
          <p:cNvSpPr txBox="1"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q_head_2"/>
          <p:cNvSpPr txBox="1"/>
          <p:nvPr/>
        </p:nvSpPr>
        <p:spPr>
          <a:xfrm>
            <a:off x="11430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급변일</a:t>
            </a:r>
            <a:endParaRPr lang="en-US" sz="1600" dirty="0"/>
          </a:p>
        </p:txBody>
      </p:sp>
      <p:sp>
        <p:nvSpPr>
          <p:cNvPr id="14" name="q_body_2"/>
          <p:cNvSpPr txBox="1"/>
          <p:nvPr/>
        </p:nvSpPr>
        <p:spPr>
          <a:xfrm>
            <a:off x="1143000" y="3666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하루 사이 급변한 날은 언제 몰리고, 비와 관련 있는가?</a:t>
            </a:r>
            <a:endParaRPr lang="en-US" sz="1400" dirty="0"/>
          </a:p>
        </p:txBody>
      </p:sp>
      <p:sp>
        <p:nvSpPr>
          <p:cNvPr id="15" name="data_card"/>
          <p:cNvSpPr/>
          <p:nvPr/>
        </p:nvSpPr>
        <p:spPr>
          <a:xfrm>
            <a:off x="5120640" y="109728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data_icon_bg"/>
          <p:cNvSpPr/>
          <p:nvPr/>
        </p:nvSpPr>
        <p:spPr>
          <a:xfrm>
            <a:off x="5349240" y="129844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7" name="data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408176"/>
            <a:ext cx="237744" cy="237744"/>
          </a:xfrm>
          <a:prstGeom prst="rect">
            <a:avLst/>
          </a:prstGeom>
        </p:spPr>
      </p:pic>
      <p:sp>
        <p:nvSpPr>
          <p:cNvPr id="18" name="data_head"/>
          <p:cNvSpPr txBox="1"/>
          <p:nvPr/>
        </p:nvSpPr>
        <p:spPr>
          <a:xfrm>
            <a:off x="594360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데이터</a:t>
            </a:r>
            <a:endParaRPr lang="en-US" sz="1800" dirty="0"/>
          </a:p>
        </p:txBody>
      </p:sp>
      <p:sp>
        <p:nvSpPr>
          <p:cNvPr id="19" name="data_body"/>
          <p:cNvSpPr txBox="1"/>
          <p:nvPr/>
        </p:nvSpPr>
        <p:spPr>
          <a:xfrm>
            <a:off x="5349240" y="1965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출처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Open-Meteo 과거 기상 API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기간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2020-01-01 ~ 2025-12-31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규모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2,192일 (일 1행)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변수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평균·최고·최저기온, 강수량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라이선스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CC BY 4.0</a:t>
            </a:r>
            <a:endParaRPr lang="en-US" sz="1400" dirty="0"/>
          </a:p>
        </p:txBody>
      </p:sp>
      <p:sp>
        <p:nvSpPr>
          <p:cNvPr id="20" name="data_note"/>
          <p:cNvSpPr txBox="1"/>
          <p:nvPr/>
        </p:nvSpPr>
        <p:spPr>
          <a:xfrm>
            <a:off x="5349240" y="3840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ERA5 재분석 격자 자료라 기상청 관측소 실측값과 다를 수 있음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결측치 0건이어도, 5가지를 따로 점검했다</a:t>
            </a:r>
            <a:endParaRPr lang="en-US" sz="2400" dirty="0"/>
          </a:p>
        </p:txBody>
      </p:sp>
      <p:graphicFrame>
        <p:nvGraphicFramePr>
          <p:cNvPr id="5" name="clean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1188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숨은 결측치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날짜·중복 날짜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 결측치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기온·강수의 빈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물리적 범위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-20~45℃ 밖의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논리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최저 ≤ 평균 ≤ 최고 위반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급변일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전일 대비 변화 |z| &gt; 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outlier_card"/>
          <p:cNvSpPr/>
          <p:nvPr/>
        </p:nvSpPr>
        <p:spPr>
          <a:xfrm>
            <a:off x="5669280" y="11430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flag_icon_bg"/>
          <p:cNvSpPr/>
          <p:nvPr/>
        </p:nvSpPr>
        <p:spPr>
          <a:xfrm>
            <a:off x="5897880" y="132588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6" name="flag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435608"/>
            <a:ext cx="237744" cy="237744"/>
          </a:xfrm>
          <a:prstGeom prst="rect">
            <a:avLst/>
          </a:prstGeom>
        </p:spPr>
      </p:pic>
      <p:sp>
        <p:nvSpPr>
          <p:cNvPr id="7" name="outlier_head"/>
          <p:cNvSpPr txBox="1"/>
          <p:nvPr/>
        </p:nvSpPr>
        <p:spPr>
          <a:xfrm>
            <a:off x="6492240" y="1298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삭제하지 않고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표시만 했다</a:t>
            </a:r>
            <a:endParaRPr lang="en-US" sz="1500" dirty="0"/>
          </a:p>
        </p:txBody>
      </p:sp>
      <p:sp>
        <p:nvSpPr>
          <p:cNvPr id="8" name="outlier_body"/>
          <p:cNvSpPr txBox="1"/>
          <p:nvPr/>
        </p:nvSpPr>
        <p:spPr>
          <a:xfrm>
            <a:off x="5897880" y="2057400"/>
            <a:ext cx="2606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|z| &gt; 3 = 하루 약 ±6.2℃ 넘는 변화 (변화량 표준편차 2.06℃)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급변은 측정 오류보다 한파 같은 실제 기상일 가능성이 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지우면 실제 변동성을 과소평가하게 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이동평균으로 추세·계절성·노이즈를 나눠 봤다</a:t>
            </a:r>
            <a:endParaRPr lang="en-US" sz="2400" dirty="0"/>
          </a:p>
        </p:txBody>
      </p:sp>
      <p:pic>
        <p:nvPicPr>
          <p:cNvPr id="3" name="graph01" descr="01_temp_trend_moving_a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2286000"/>
          </a:xfrm>
          <a:prstGeom prst="rect">
            <a:avLst/>
          </a:prstGeom>
        </p:spPr>
      </p:pic>
      <p:sp>
        <p:nvSpPr>
          <p:cNvPr id="4" name="leg_dot_0"/>
          <p:cNvSpPr/>
          <p:nvPr/>
        </p:nvSpPr>
        <p:spPr>
          <a:xfrm>
            <a:off x="6263640" y="1161288"/>
            <a:ext cx="201168" cy="201168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5" name="leg_head_0"/>
          <p:cNvSpPr txBox="1"/>
          <p:nvPr/>
        </p:nvSpPr>
        <p:spPr>
          <a:xfrm>
            <a:off x="6583680" y="1097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회색 · 일별 값</a:t>
            </a:r>
            <a:endParaRPr lang="en-US" sz="1300" dirty="0"/>
          </a:p>
        </p:txBody>
      </p:sp>
      <p:sp>
        <p:nvSpPr>
          <p:cNvPr id="6" name="leg_body_0"/>
          <p:cNvSpPr txBox="1"/>
          <p:nvPr/>
        </p:nvSpPr>
        <p:spPr>
          <a:xfrm>
            <a:off x="658368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노이즈: 날마다의 우연한 변동</a:t>
            </a:r>
            <a:endParaRPr lang="en-US" sz="1100" dirty="0"/>
          </a:p>
        </p:txBody>
      </p:sp>
      <p:sp>
        <p:nvSpPr>
          <p:cNvPr id="7" name="leg_dot_1"/>
          <p:cNvSpPr/>
          <p:nvPr/>
        </p:nvSpPr>
        <p:spPr>
          <a:xfrm>
            <a:off x="6263640" y="1938528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leg_head_1"/>
          <p:cNvSpPr txBox="1"/>
          <p:nvPr/>
        </p:nvSpPr>
        <p:spPr>
          <a:xfrm>
            <a:off x="65836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파랑 · 30일 이동평균</a:t>
            </a:r>
            <a:endParaRPr lang="en-US" sz="1300" dirty="0"/>
          </a:p>
        </p:txBody>
      </p:sp>
      <p:sp>
        <p:nvSpPr>
          <p:cNvPr id="9" name="leg_body_1"/>
          <p:cNvSpPr txBox="1"/>
          <p:nvPr/>
        </p:nvSpPr>
        <p:spPr>
          <a:xfrm>
            <a:off x="658368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계절성: 1년 주기의 오르내림</a:t>
            </a:r>
            <a:endParaRPr lang="en-US" sz="1100" dirty="0"/>
          </a:p>
        </p:txBody>
      </p:sp>
      <p:sp>
        <p:nvSpPr>
          <p:cNvPr id="10" name="leg_dot_2"/>
          <p:cNvSpPr/>
          <p:nvPr/>
        </p:nvSpPr>
        <p:spPr>
          <a:xfrm>
            <a:off x="6263640" y="2715768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leg_head_2"/>
          <p:cNvSpPr txBox="1"/>
          <p:nvPr/>
        </p:nvSpPr>
        <p:spPr>
          <a:xfrm>
            <a:off x="65836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빨강 · 365일 이동평균</a:t>
            </a:r>
            <a:endParaRPr lang="en-US" sz="1300" dirty="0"/>
          </a:p>
        </p:txBody>
      </p:sp>
      <p:sp>
        <p:nvSpPr>
          <p:cNvPr id="12" name="leg_body_2"/>
          <p:cNvSpPr txBox="1"/>
          <p:nvPr/>
        </p:nvSpPr>
        <p:spPr>
          <a:xfrm>
            <a:off x="658368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추세: 계절을 걷어낸 장기 흐름</a:t>
            </a:r>
            <a:endParaRPr lang="en-US" sz="1100" dirty="0"/>
          </a:p>
        </p:txBody>
      </p:sp>
      <p:sp>
        <p:nvSpPr>
          <p:cNvPr id="13" name="scale_card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cale_icon_bg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15" name="scale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834994"/>
            <a:ext cx="285293" cy="285293"/>
          </a:xfrm>
          <a:prstGeom prst="rect">
            <a:avLst/>
          </a:prstGeom>
        </p:spPr>
      </p:pic>
      <p:sp>
        <p:nvSpPr>
          <p:cNvPr id="16" name="scale_text"/>
          <p:cNvSpPr txBox="1"/>
          <p:nvPr/>
        </p:nvSpPr>
        <p:spPr>
          <a:xfrm>
            <a:off x="1371600" y="3639312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빨간 선이 평평해 보이는 건 착시: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y축 범위가 약 40℃라 1℃ 차이는 눈에 안 띈다. 그래서 그래프만 보지 않고 연도별 숫자로 확인했다 (다음 장).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① 연평균은 오르내렸지만, 여름은 매년 올랐다</a:t>
            </a:r>
            <a:endParaRPr lang="en-US" sz="2400" dirty="0"/>
          </a:p>
        </p:txBody>
      </p:sp>
      <p:graphicFrame>
        <p:nvGraphicFramePr>
          <p:cNvPr id="3" name="chart_anomaly" descr=""/>
          <p:cNvGraphicFramePr/>
          <p:nvPr/>
        </p:nvGraphicFramePr>
        <p:xfrm>
          <a:off x="457200" y="1005840"/>
          <a:ext cx="4846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1_obs_head"/>
          <p:cNvSpPr txBox="1"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관찰</a:t>
            </a:r>
            <a:endParaRPr lang="en-US" sz="1200" dirty="0"/>
          </a:p>
        </p:txBody>
      </p:sp>
      <p:sp>
        <p:nvSpPr>
          <p:cNvPr id="5" name="i1_obs_body"/>
          <p:cNvSpPr txBox="1"/>
          <p:nvPr/>
        </p:nvSpPr>
        <p:spPr>
          <a:xfrm>
            <a:off x="5577840" y="1280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연평균 최저 2020년 13.56℃, 최고 2024년 14.81℃. 2022·2025년엔 하락. 여름은 6년 연속 상승(+2.21℃).</a:t>
            </a:r>
            <a:endParaRPr lang="en-US" sz="1200" dirty="0"/>
          </a:p>
        </p:txBody>
      </p:sp>
      <p:sp>
        <p:nvSpPr>
          <p:cNvPr id="6" name="i1_hyp_head"/>
          <p:cNvSpPr txBox="1"/>
          <p:nvPr/>
        </p:nvSpPr>
        <p:spPr>
          <a:xfrm>
            <a:off x="557784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해석 (가설)</a:t>
            </a:r>
            <a:endParaRPr lang="en-US" sz="1200" dirty="0"/>
          </a:p>
        </p:txBody>
      </p:sp>
      <p:sp>
        <p:nvSpPr>
          <p:cNvPr id="7" name="i1_hyp_body"/>
          <p:cNvSpPr txBox="1"/>
          <p:nvPr/>
        </p:nvSpPr>
        <p:spPr>
          <a:xfrm>
            <a:off x="557784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연평균이 떨어진 2022·2025년은 겨울이 가장 추웠던 두 해. 큰 겨울 변동이 연평균을 흔들어 상승 경향을 가린 것일 수 있다.</a:t>
            </a:r>
            <a:endParaRPr lang="en-US" sz="1200" dirty="0"/>
          </a:p>
        </p:txBody>
      </p:sp>
      <p:sp>
        <p:nvSpPr>
          <p:cNvPr id="8" name="i1_warn_head"/>
          <p:cNvSpPr txBox="1"/>
          <p:nvPr/>
        </p:nvSpPr>
        <p:spPr>
          <a:xfrm>
            <a:off x="5577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23B2A"/>
                </a:solidFill>
              </a:rPr>
              <a:t>주의</a:t>
            </a:r>
            <a:endParaRPr lang="en-US" sz="1200" dirty="0"/>
          </a:p>
        </p:txBody>
      </p:sp>
      <p:sp>
        <p:nvSpPr>
          <p:cNvPr id="9" name="i1_warn_body"/>
          <p:cNvSpPr txBox="1"/>
          <p:nvPr/>
        </p:nvSpPr>
        <p:spPr>
          <a:xfrm>
            <a:off x="5577840" y="3749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6년은 기후 추세로 일반화하기엔 짧다. 30년 이상 자료로 재확인이 필요하다.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② 11~12월 기온은 여름보다 약 2배 불안정하다</a:t>
            </a:r>
            <a:endParaRPr lang="en-US" sz="2400" dirty="0"/>
          </a:p>
        </p:txBody>
      </p:sp>
      <p:graphicFrame>
        <p:nvGraphicFramePr>
          <p:cNvPr id="3" name="chart_std" descr=""/>
          <p:cNvGraphicFramePr/>
          <p:nvPr/>
        </p:nvGraphicFramePr>
        <p:xfrm>
          <a:off x="457200" y="100584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atio_card"/>
          <p:cNvSpPr/>
          <p:nvPr/>
        </p:nvSpPr>
        <p:spPr>
          <a:xfrm>
            <a:off x="5852160" y="100584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ratio_big"/>
          <p:cNvSpPr txBox="1"/>
          <p:nvPr/>
        </p:nvSpPr>
        <p:spPr>
          <a:xfrm>
            <a:off x="6035040" y="1097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</a:rPr>
              <a:t>3.97℃</a:t>
            </a:r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</a:rPr>
              <a:t> vs </a:t>
            </a:r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2.00℃</a:t>
            </a:r>
            <a:endParaRPr lang="en-US" sz="2000" dirty="0"/>
          </a:p>
        </p:txBody>
      </p:sp>
      <p:sp>
        <p:nvSpPr>
          <p:cNvPr id="6" name="ratio_label"/>
          <p:cNvSpPr txBox="1"/>
          <p:nvPr/>
        </p:nvSpPr>
        <p:spPr>
          <a:xfrm>
            <a:off x="60350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11~12월 평균 vs 여름 평균 표준편차</a:t>
            </a:r>
            <a:endParaRPr lang="en-US" sz="1100" dirty="0"/>
          </a:p>
        </p:txBody>
      </p:sp>
      <p:sp>
        <p:nvSpPr>
          <p:cNvPr id="7" name="i2_obs_head"/>
          <p:cNvSpPr txBox="1"/>
          <p:nvPr/>
        </p:nvSpPr>
        <p:spPr>
          <a:xfrm>
            <a:off x="585216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교차 확인</a:t>
            </a:r>
            <a:endParaRPr lang="en-US" sz="1200" dirty="0"/>
          </a:p>
        </p:txBody>
      </p:sp>
      <p:sp>
        <p:nvSpPr>
          <p:cNvPr id="8" name="i2_obs_body"/>
          <p:cNvSpPr txBox="1"/>
          <p:nvPr/>
        </p:nvSpPr>
        <p:spPr>
          <a:xfrm>
            <a:off x="5852160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계절성을 제거한 분해 잔차도 2월 3.49℃ vs 6월 1.44℃로 같은 방향.</a:t>
            </a:r>
            <a:endParaRPr lang="en-US" sz="1200" dirty="0"/>
          </a:p>
        </p:txBody>
      </p:sp>
      <p:sp>
        <p:nvSpPr>
          <p:cNvPr id="9" name="i2_hyp_head"/>
          <p:cNvSpPr txBox="1"/>
          <p:nvPr/>
        </p:nvSpPr>
        <p:spPr>
          <a:xfrm>
            <a:off x="585216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해석 (가설)</a:t>
            </a:r>
            <a:endParaRPr lang="en-US" sz="1200" dirty="0"/>
          </a:p>
        </p:txBody>
      </p:sp>
      <p:sp>
        <p:nvSpPr>
          <p:cNvPr id="10" name="i2_hyp_body"/>
          <p:cNvSpPr txBox="1"/>
          <p:nvPr/>
        </p:nvSpPr>
        <p:spPr>
          <a:xfrm>
            <a:off x="5852160" y="3566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겨울엔 찬 대륙고기압이 강약을 반복(삼한사온)하고, 여름엔 북태평양 고기압이 오래 머물러 안정적일 수 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③ 급변은 추운 계절에, 주로 '하강'으로 온다</a:t>
            </a:r>
            <a:endParaRPr lang="en-US" sz="2400" dirty="0"/>
          </a:p>
        </p:txBody>
      </p:sp>
      <p:pic>
        <p:nvPicPr>
          <p:cNvPr id="3" name="graph03" descr="03_outlier_by_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0" cy="2286000"/>
          </a:xfrm>
          <a:prstGeom prst="rect">
            <a:avLst/>
          </a:prstGeom>
        </p:spPr>
      </p:pic>
      <p:sp>
        <p:nvSpPr>
          <p:cNvPr id="4" name="i3_stat_card_0"/>
          <p:cNvSpPr/>
          <p:nvPr/>
        </p:nvSpPr>
        <p:spPr>
          <a:xfrm>
            <a:off x="457200" y="34290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i3_stat_big_0"/>
          <p:cNvSpPr txBox="1"/>
          <p:nvPr/>
        </p:nvSpPr>
        <p:spPr>
          <a:xfrm>
            <a:off x="594360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29일 : 8일</a:t>
            </a:r>
            <a:endParaRPr lang="en-US" sz="2000" dirty="0"/>
          </a:p>
        </p:txBody>
      </p:sp>
      <p:sp>
        <p:nvSpPr>
          <p:cNvPr id="6" name="i3_stat_lab_0"/>
          <p:cNvSpPr txBox="1"/>
          <p:nvPr/>
        </p:nvSpPr>
        <p:spPr>
          <a:xfrm>
            <a:off x="594360" y="3950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급하강 : 급상승 (약 3.6배)</a:t>
            </a:r>
            <a:endParaRPr lang="en-US" sz="1100" dirty="0"/>
          </a:p>
        </p:txBody>
      </p:sp>
      <p:sp>
        <p:nvSpPr>
          <p:cNvPr id="7" name="i3_stat_card_1"/>
          <p:cNvSpPr/>
          <p:nvPr/>
        </p:nvSpPr>
        <p:spPr>
          <a:xfrm>
            <a:off x="2788920" y="34290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i3_stat_big_1"/>
          <p:cNvSpPr txBox="1"/>
          <p:nvPr/>
        </p:nvSpPr>
        <p:spPr>
          <a:xfrm>
            <a:off x="2926080" y="3493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</a:rPr>
              <a:t>50% : 3%</a:t>
            </a:r>
            <a:endParaRPr lang="en-US" sz="2000" dirty="0"/>
          </a:p>
        </p:txBody>
      </p:sp>
      <p:sp>
        <p:nvSpPr>
          <p:cNvPr id="9" name="i3_stat_lab_1"/>
          <p:cNvSpPr txBox="1"/>
          <p:nvPr/>
        </p:nvSpPr>
        <p:spPr>
          <a:xfrm>
            <a:off x="2926080" y="3950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강수 10mm 이상 비율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(급상승일 : 급하강일)</a:t>
            </a:r>
            <a:endParaRPr lang="en-US" sz="1100" dirty="0"/>
          </a:p>
        </p:txBody>
      </p:sp>
      <p:sp>
        <p:nvSpPr>
          <p:cNvPr id="10" name="i3_hyp_head"/>
          <p:cNvSpPr txBox="1"/>
          <p:nvPr/>
        </p:nvSpPr>
        <p:spPr>
          <a:xfrm>
            <a:off x="534924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해석 (가설)</a:t>
            </a:r>
            <a:endParaRPr lang="en-US" sz="1200" dirty="0"/>
          </a:p>
        </p:txBody>
      </p:sp>
      <p:sp>
        <p:nvSpPr>
          <p:cNvPr id="11" name="i3_hyp_body"/>
          <p:cNvSpPr txBox="1"/>
          <p:nvPr/>
        </p:nvSpPr>
        <p:spPr>
          <a:xfrm>
            <a:off x="5349240" y="128016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저기압 앞쪽에선 따뜻하고 습한 남서풍이 비와 함께 기온을 올리고, 지나간 뒤엔 차고 건조한 북서풍이 맑은 날 급격히 떨어뜨릴 수 있다.</a:t>
            </a:r>
            <a:endParaRPr lang="en-US" sz="1200" dirty="0"/>
          </a:p>
        </p:txBody>
      </p:sp>
      <p:sp>
        <p:nvSpPr>
          <p:cNvPr id="12" name="i3_ev_head"/>
          <p:cNvSpPr txBox="1"/>
          <p:nvPr/>
        </p:nvSpPr>
        <p:spPr>
          <a:xfrm>
            <a:off x="5349240" y="2377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근거 사례</a:t>
            </a:r>
            <a:endParaRPr lang="en-US" sz="1200" dirty="0"/>
          </a:p>
        </p:txBody>
      </p:sp>
      <p:sp>
        <p:nvSpPr>
          <p:cNvPr id="13" name="i3_ev_body"/>
          <p:cNvSpPr txBox="1"/>
          <p:nvPr/>
        </p:nvSpPr>
        <p:spPr>
          <a:xfrm>
            <a:off x="5349240" y="26974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02-19: 비 43.6mm와 함께 +6.9℃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02-20: 맑아지며 −7.0℃ (2024년)</a:t>
            </a:r>
            <a:endParaRPr lang="en-US" sz="1200" dirty="0"/>
          </a:p>
        </p:txBody>
      </p:sp>
      <p:sp>
        <p:nvSpPr>
          <p:cNvPr id="14" name="i3_ce_head"/>
          <p:cNvSpPr txBox="1"/>
          <p:nvPr/>
        </p:nvSpPr>
        <p:spPr>
          <a:xfrm>
            <a:off x="534924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반례·검증</a:t>
            </a:r>
            <a:endParaRPr lang="en-US" sz="1200" dirty="0"/>
          </a:p>
        </p:txBody>
      </p:sp>
      <p:sp>
        <p:nvSpPr>
          <p:cNvPr id="15" name="i3_ce_body"/>
          <p:cNvSpPr txBox="1"/>
          <p:nvPr/>
        </p:nvSpPr>
        <p:spPr>
          <a:xfrm>
            <a:off x="5349240" y="36118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2025-11-30은 비 없이 +6.9℃ 급상승.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기준을 2.5로 낮추면 60일로 늘지만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여름엔 여전히 0일 → 결론 유지.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보너스 ① 분해하면 숨어 있던 1℃ 추세가 보인다</a:t>
            </a:r>
            <a:endParaRPr lang="en-US" sz="2400" dirty="0"/>
          </a:p>
        </p:txBody>
      </p:sp>
      <p:pic>
        <p:nvPicPr>
          <p:cNvPr id="3" name="graph04" descr="04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754880" cy="3566160"/>
          </a:xfrm>
          <a:prstGeom prst="rect">
            <a:avLst/>
          </a:prstGeom>
        </p:spPr>
      </p:pic>
      <p:sp>
        <p:nvSpPr>
          <p:cNvPr id="4" name="dec_big_0"/>
          <p:cNvSpPr txBox="1"/>
          <p:nvPr/>
        </p:nvSpPr>
        <p:spPr>
          <a:xfrm>
            <a:off x="548640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</a:rPr>
              <a:t>+0.79℃</a:t>
            </a:r>
            <a:endParaRPr lang="en-US" sz="2400" dirty="0"/>
          </a:p>
        </p:txBody>
      </p:sp>
      <p:sp>
        <p:nvSpPr>
          <p:cNvPr id="5" name="dec_lab_0"/>
          <p:cNvSpPr txBox="1"/>
          <p:nvPr/>
        </p:nvSpPr>
        <p:spPr>
          <a:xfrm>
            <a:off x="54864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추세 변화 (2020.7 → 2025.7)</a:t>
            </a:r>
            <a:endParaRPr lang="en-US" sz="1200" dirty="0"/>
          </a:p>
        </p:txBody>
      </p:sp>
      <p:sp>
        <p:nvSpPr>
          <p:cNvPr id="6" name="dec_big_1"/>
          <p:cNvSpPr txBox="1"/>
          <p:nvPr/>
        </p:nvSpPr>
        <p:spPr>
          <a:xfrm>
            <a:off x="5486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</a:rPr>
              <a:t>30.47℃</a:t>
            </a:r>
            <a:endParaRPr lang="en-US" sz="2400" dirty="0"/>
          </a:p>
        </p:txBody>
      </p:sp>
      <p:sp>
        <p:nvSpPr>
          <p:cNvPr id="7" name="dec_lab_1"/>
          <p:cNvSpPr txBox="1"/>
          <p:nvPr/>
        </p:nvSpPr>
        <p:spPr>
          <a:xfrm>
            <a:off x="54864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계절성 진폭 = 추세의 약 39배</a:t>
            </a:r>
            <a:endParaRPr lang="en-US" sz="1200" dirty="0"/>
          </a:p>
        </p:txBody>
      </p:sp>
      <p:sp>
        <p:nvSpPr>
          <p:cNvPr id="8" name="dec_big_2"/>
          <p:cNvSpPr txBox="1"/>
          <p:nvPr/>
        </p:nvSpPr>
        <p:spPr>
          <a:xfrm>
            <a:off x="54864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E7D"/>
                </a:solidFill>
              </a:rPr>
              <a:t>2.49℃</a:t>
            </a:r>
            <a:endParaRPr lang="en-US" sz="2400" dirty="0"/>
          </a:p>
        </p:txBody>
      </p:sp>
      <p:sp>
        <p:nvSpPr>
          <p:cNvPr id="9" name="dec_lab_2"/>
          <p:cNvSpPr txBox="1"/>
          <p:nvPr/>
        </p:nvSpPr>
        <p:spPr>
          <a:xfrm>
            <a:off x="54864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잔차(노이즈) 표준편차</a:t>
            </a:r>
            <a:endParaRPr lang="en-US" sz="1200" dirty="0"/>
          </a:p>
        </p:txBody>
      </p:sp>
      <p:sp>
        <p:nvSpPr>
          <p:cNvPr id="10" name="dec_note_card"/>
          <p:cNvSpPr/>
          <p:nvPr/>
        </p:nvSpPr>
        <p:spPr>
          <a:xfrm>
            <a:off x="5486400" y="36576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dec_note"/>
          <p:cNvSpPr txBox="1"/>
          <p:nvPr/>
        </p:nvSpPr>
        <p:spPr>
          <a:xfrm>
            <a:off x="5623560" y="37216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가법 모델·주기 365일. 같은 날짜 값이 5~6개뿐이라 계절성 선에 노이즈가 남는 한계가 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보너스 ② 2025년 예측: 평년값이 작년보다 낫다</a:t>
            </a:r>
            <a:endParaRPr lang="en-US" sz="2400" dirty="0"/>
          </a:p>
        </p:txBody>
      </p:sp>
      <p:graphicFrame>
        <p:nvGraphicFramePr>
          <p:cNvPr id="3" name="chart_mae" descr=""/>
          <p:cNvGraphicFramePr/>
          <p:nvPr/>
        </p:nvGraphicFramePr>
        <p:xfrm>
          <a:off x="457200" y="1005840"/>
          <a:ext cx="4206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_head_0"/>
          <p:cNvSpPr txBox="1"/>
          <p:nvPr/>
        </p:nvSpPr>
        <p:spPr>
          <a:xfrm>
            <a:off x="4983480" y="1005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관찰</a:t>
            </a:r>
            <a:endParaRPr lang="en-US" sz="1200" dirty="0"/>
          </a:p>
        </p:txBody>
      </p:sp>
      <p:sp>
        <p:nvSpPr>
          <p:cNvPr id="5" name="pr_body_0"/>
          <p:cNvSpPr txBox="1"/>
          <p:nvPr/>
        </p:nvSpPr>
        <p:spPr>
          <a:xfrm>
            <a:off x="4983480" y="12801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평년값 방식 오차가 0.46℃ 작다. 월별 오차는 2월 4.32℃로 최대, 6월 1.19℃로 최소.</a:t>
            </a:r>
            <a:endParaRPr lang="en-US" sz="1200" dirty="0"/>
          </a:p>
        </p:txBody>
      </p:sp>
      <p:sp>
        <p:nvSpPr>
          <p:cNvPr id="6" name="pr_head_1"/>
          <p:cNvSpPr txBox="1"/>
          <p:nvPr/>
        </p:nvSpPr>
        <p:spPr>
          <a:xfrm>
            <a:off x="4983480" y="2194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해석 (가설)</a:t>
            </a:r>
            <a:endParaRPr lang="en-US" sz="1200" dirty="0"/>
          </a:p>
        </p:txBody>
      </p:sp>
      <p:sp>
        <p:nvSpPr>
          <p:cNvPr id="7" name="pr_body_1"/>
          <p:cNvSpPr txBox="1"/>
          <p:nvPr/>
        </p:nvSpPr>
        <p:spPr>
          <a:xfrm>
            <a:off x="4983480" y="24688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작년 하루치 값은 그해의 우연한 변동까지 복사한다. 여러 해를 평균하면 노이즈가 상쇄된다.</a:t>
            </a:r>
            <a:endParaRPr lang="en-US" sz="1200" dirty="0"/>
          </a:p>
        </p:txBody>
      </p:sp>
      <p:sp>
        <p:nvSpPr>
          <p:cNvPr id="8" name="pr_head_2"/>
          <p:cNvSpPr txBox="1"/>
          <p:nvPr/>
        </p:nvSpPr>
        <p:spPr>
          <a:xfrm>
            <a:off x="4983480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23B2A"/>
                </a:solidFill>
              </a:rPr>
              <a:t>한계</a:t>
            </a:r>
            <a:endParaRPr lang="en-US" sz="1200" dirty="0"/>
          </a:p>
        </p:txBody>
      </p:sp>
      <p:sp>
        <p:nvSpPr>
          <p:cNvPr id="9" name="pr_body_2"/>
          <p:cNvSpPr txBox="1"/>
          <p:nvPr/>
        </p:nvSpPr>
        <p:spPr>
          <a:xfrm>
            <a:off x="4983480" y="36576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추세를 반영하지 못해 2025년 실제는 평년보다 0.26℃ 높았다. 정확도보다 '기준선'이 목적.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보너스 ③ 대시보드로 조건을 바꿔 보며 새 패턴을 찾았다</a:t>
            </a:r>
            <a:endParaRPr lang="en-US" sz="2400" dirty="0"/>
          </a:p>
        </p:txBody>
      </p:sp>
      <p:pic>
        <p:nvPicPr>
          <p:cNvPr id="3" name="dashboard_shot" descr="dashboard_1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2011108"/>
          </a:xfrm>
          <a:prstGeom prst="rect">
            <a:avLst/>
          </a:prstGeom>
        </p:spPr>
      </p:pic>
      <p:sp>
        <p:nvSpPr>
          <p:cNvPr id="4" name="dash_caption"/>
          <p:cNvSpPr txBox="1"/>
          <p:nvPr/>
        </p:nvSpPr>
        <p:spPr>
          <a:xfrm>
            <a:off x="457200" y="3063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Streamlit · 기간, 월, 이동평균 기간, 급변일 기준을 사이드바에서 조절</a:t>
            </a:r>
            <a:endParaRPr lang="en-US" sz="1100" dirty="0"/>
          </a:p>
        </p:txBody>
      </p:sp>
      <p:sp>
        <p:nvSpPr>
          <p:cNvPr id="5" name="dash_msg_card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dash_msg_icon_bg"/>
          <p:cNvSpPr/>
          <p:nvPr/>
        </p:nvSpPr>
        <p:spPr>
          <a:xfrm>
            <a:off x="640080" y="3794760"/>
            <a:ext cx="594360" cy="59436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pic>
        <p:nvPicPr>
          <p:cNvPr id="7" name="dash_msg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937406"/>
            <a:ext cx="309067" cy="309067"/>
          </a:xfrm>
          <a:prstGeom prst="rect">
            <a:avLst/>
          </a:prstGeom>
        </p:spPr>
      </p:pic>
      <p:sp>
        <p:nvSpPr>
          <p:cNvPr id="8" name="dash_msg"/>
          <p:cNvSpPr txBox="1"/>
          <p:nvPr/>
        </p:nvSpPr>
        <p:spPr>
          <a:xfrm>
            <a:off x="1417320" y="3703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정적 그래프 3장에선 안 보이던 </a:t>
            </a:r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</a:rPr>
              <a:t>'여름 6년 연속 상승'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을 여름만 골라 보다가 발견 → 인사이트 ①로 반영</a:t>
            </a:r>
            <a:endParaRPr lang="en-US" sz="1400" dirty="0"/>
          </a:p>
        </p:txBody>
      </p:sp>
      <p:graphicFrame>
        <p:nvGraphicFramePr>
          <p:cNvPr id="12" name="dash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05840"/>
          <a:ext cx="3749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 (전체)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급변일 37일, 리포트와 일치 → 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11·12월만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급변일 17일 (전체의 46%)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6·7·8월만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급변일 0일, 여름 평균 6년 연속 상승 발견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|z| &gt; 2.5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60일로 증가, 여름엔 여전히 0일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결론과 한계, 그리고 다음 단계</a:t>
            </a:r>
            <a:endParaRPr lang="en-US" sz="2400" dirty="0"/>
          </a:p>
        </p:txBody>
      </p:sp>
      <p:sp>
        <p:nvSpPr>
          <p:cNvPr id="3" name="end_card_0"/>
          <p:cNvSpPr/>
          <p:nvPr/>
        </p:nvSpPr>
        <p:spPr>
          <a:xfrm>
            <a:off x="457200" y="105156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end_icon_0_bg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5B8E7D"/>
          </a:solidFill>
          <a:ln w="12700">
            <a:solidFill>
              <a:srgbClr val="5B8E7D"/>
            </a:solidFill>
            <a:prstDash val="solid"/>
          </a:ln>
        </p:spPr>
      </p:sp>
      <p:pic>
        <p:nvPicPr>
          <p:cNvPr id="5" name="end_icon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355141"/>
            <a:ext cx="261518" cy="261518"/>
          </a:xfrm>
          <a:prstGeom prst="rect">
            <a:avLst/>
          </a:prstGeom>
        </p:spPr>
      </p:pic>
      <p:sp>
        <p:nvSpPr>
          <p:cNvPr id="6" name="end_head_0"/>
          <p:cNvSpPr txBox="1"/>
          <p:nvPr/>
        </p:nvSpPr>
        <p:spPr>
          <a:xfrm>
            <a:off x="132588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결론</a:t>
            </a:r>
            <a:endParaRPr lang="en-US" sz="1700" dirty="0"/>
          </a:p>
        </p:txBody>
      </p:sp>
      <p:sp>
        <p:nvSpPr>
          <p:cNvPr id="7" name="end_body_0"/>
          <p:cNvSpPr txBox="1"/>
          <p:nvPr/>
        </p:nvSpPr>
        <p:spPr>
          <a:xfrm>
            <a:off x="685800" y="1965960"/>
            <a:ext cx="2148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부산 기온은 계절성이 지배적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여름은 6년 연속 상승, 연평균은 겨울 변동에 흔들림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급변은 추운 계절에 주로 하강으로 발생</a:t>
            </a:r>
            <a:endParaRPr lang="en-US" sz="1300" dirty="0"/>
          </a:p>
        </p:txBody>
      </p:sp>
      <p:sp>
        <p:nvSpPr>
          <p:cNvPr id="8" name="end_card_1"/>
          <p:cNvSpPr/>
          <p:nvPr/>
        </p:nvSpPr>
        <p:spPr>
          <a:xfrm>
            <a:off x="3291840" y="105156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end_icon_1_bg"/>
          <p:cNvSpPr/>
          <p:nvPr/>
        </p:nvSpPr>
        <p:spPr>
          <a:xfrm>
            <a:off x="3520440" y="1234440"/>
            <a:ext cx="502920" cy="502920"/>
          </a:xfrm>
          <a:prstGeom prst="ellipse">
            <a:avLst/>
          </a:prstGeom>
          <a:solidFill>
            <a:srgbClr val="A23B2A"/>
          </a:solidFill>
          <a:ln w="12700">
            <a:solidFill>
              <a:srgbClr val="A23B2A"/>
            </a:solidFill>
            <a:prstDash val="solid"/>
          </a:ln>
        </p:spPr>
      </p:sp>
      <p:pic>
        <p:nvPicPr>
          <p:cNvPr id="10" name="end_icon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1355141"/>
            <a:ext cx="261518" cy="261518"/>
          </a:xfrm>
          <a:prstGeom prst="rect">
            <a:avLst/>
          </a:prstGeom>
        </p:spPr>
      </p:pic>
      <p:sp>
        <p:nvSpPr>
          <p:cNvPr id="11" name="end_head_1"/>
          <p:cNvSpPr txBox="1"/>
          <p:nvPr/>
        </p:nvSpPr>
        <p:spPr>
          <a:xfrm>
            <a:off x="416052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한계</a:t>
            </a:r>
            <a:endParaRPr lang="en-US" sz="1700" dirty="0"/>
          </a:p>
        </p:txBody>
      </p:sp>
      <p:sp>
        <p:nvSpPr>
          <p:cNvPr id="12" name="end_body_1"/>
          <p:cNvSpPr txBox="1"/>
          <p:nvPr/>
        </p:nvSpPr>
        <p:spPr>
          <a:xfrm>
            <a:off x="3520440" y="1965960"/>
            <a:ext cx="2148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6년: 장기 추세로 일반화 어려움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재분석 격자 자료: 관측소와 차이 가능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기압·풍향 변수가 없어 원인은 가설</a:t>
            </a:r>
            <a:endParaRPr lang="en-US" sz="1300" dirty="0"/>
          </a:p>
        </p:txBody>
      </p:sp>
      <p:sp>
        <p:nvSpPr>
          <p:cNvPr id="13" name="end_card_2"/>
          <p:cNvSpPr/>
          <p:nvPr/>
        </p:nvSpPr>
        <p:spPr>
          <a:xfrm>
            <a:off x="6126480" y="105156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end_icon_2_bg"/>
          <p:cNvSpPr/>
          <p:nvPr/>
        </p:nvSpPr>
        <p:spPr>
          <a:xfrm>
            <a:off x="6355080" y="123444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5" name="end_icon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1355141"/>
            <a:ext cx="261518" cy="261518"/>
          </a:xfrm>
          <a:prstGeom prst="rect">
            <a:avLst/>
          </a:prstGeom>
        </p:spPr>
      </p:pic>
      <p:sp>
        <p:nvSpPr>
          <p:cNvPr id="16" name="end_head_2"/>
          <p:cNvSpPr txBox="1"/>
          <p:nvPr/>
        </p:nvSpPr>
        <p:spPr>
          <a:xfrm>
            <a:off x="699516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다음 단계</a:t>
            </a:r>
            <a:endParaRPr lang="en-US" sz="1700" dirty="0"/>
          </a:p>
        </p:txBody>
      </p:sp>
      <p:sp>
        <p:nvSpPr>
          <p:cNvPr id="17" name="end_body_2"/>
          <p:cNvSpPr txBox="1"/>
          <p:nvPr/>
        </p:nvSpPr>
        <p:spPr>
          <a:xfrm>
            <a:off x="6355080" y="1965960"/>
            <a:ext cx="2148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30년 이상 자료로 같은 분석 반복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주풍향 데이터로 급변 원인 검증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급변일을 기상청 한파특보와 대조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AI는 이렇게 쓰고, 이렇게 검증했다</a:t>
            </a:r>
            <a:endParaRPr lang="en-US" sz="2400" dirty="0"/>
          </a:p>
        </p:txBody>
      </p:sp>
      <p:sp>
        <p:nvSpPr>
          <p:cNvPr id="3" name="ai_icon_0_bg"/>
          <p:cNvSpPr/>
          <p:nvPr/>
        </p:nvSpPr>
        <p:spPr>
          <a:xfrm>
            <a:off x="457200" y="105156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" name="ai_icon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1205179"/>
            <a:ext cx="332842" cy="332842"/>
          </a:xfrm>
          <a:prstGeom prst="rect">
            <a:avLst/>
          </a:prstGeom>
        </p:spPr>
      </p:pic>
      <p:sp>
        <p:nvSpPr>
          <p:cNvPr id="5" name="ai_head_0"/>
          <p:cNvSpPr txBox="1"/>
          <p:nvPr/>
        </p:nvSpPr>
        <p:spPr>
          <a:xfrm>
            <a:off x="1325880" y="10332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코드 오류를 실행으로 발견</a:t>
            </a:r>
            <a:endParaRPr lang="en-US" sz="1600" dirty="0"/>
          </a:p>
        </p:txBody>
      </p:sp>
      <p:sp>
        <p:nvSpPr>
          <p:cNvPr id="6" name="ai_body_0"/>
          <p:cNvSpPr txBox="1"/>
          <p:nvPr/>
        </p:nvSpPr>
        <p:spPr>
          <a:xfrm>
            <a:off x="1325880" y="13990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boxplot 인자 오류(matplotlib 버전 차이), Streamlit 차트 빈칸 문제를 직접 실행해 발견하고 수정</a:t>
            </a:r>
            <a:endParaRPr lang="en-US" sz="1300" dirty="0"/>
          </a:p>
        </p:txBody>
      </p:sp>
      <p:sp>
        <p:nvSpPr>
          <p:cNvPr id="7" name="ai_icon_1_bg"/>
          <p:cNvSpPr/>
          <p:nvPr/>
        </p:nvSpPr>
        <p:spPr>
          <a:xfrm>
            <a:off x="457200" y="2221992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ai_icon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2375611"/>
            <a:ext cx="332842" cy="332842"/>
          </a:xfrm>
          <a:prstGeom prst="rect">
            <a:avLst/>
          </a:prstGeom>
        </p:spPr>
      </p:pic>
      <p:sp>
        <p:nvSpPr>
          <p:cNvPr id="9" name="ai_head_1"/>
          <p:cNvSpPr txBox="1"/>
          <p:nvPr/>
        </p:nvSpPr>
        <p:spPr>
          <a:xfrm>
            <a:off x="1325880" y="22037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맞지 않는 가설은 배제</a:t>
            </a:r>
            <a:endParaRPr lang="en-US" sz="1600" dirty="0"/>
          </a:p>
        </p:txBody>
      </p:sp>
      <p:sp>
        <p:nvSpPr>
          <p:cNvPr id="10" name="ai_body_1"/>
          <p:cNvSpPr txBox="1"/>
          <p:nvPr/>
        </p:nvSpPr>
        <p:spPr>
          <a:xfrm>
            <a:off x="1325880" y="256946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'측정 장비 오류'는 재분석 자료라, '여름 비'는 여름 급변 0일이라 데이터와 맞지 않아 제외</a:t>
            </a:r>
            <a:endParaRPr lang="en-US" sz="1300" dirty="0"/>
          </a:p>
        </p:txBody>
      </p:sp>
      <p:sp>
        <p:nvSpPr>
          <p:cNvPr id="11" name="ai_icon_2_bg"/>
          <p:cNvSpPr/>
          <p:nvPr/>
        </p:nvSpPr>
        <p:spPr>
          <a:xfrm>
            <a:off x="457200" y="3392424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ai_icon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3546043"/>
            <a:ext cx="332842" cy="332842"/>
          </a:xfrm>
          <a:prstGeom prst="rect">
            <a:avLst/>
          </a:prstGeom>
        </p:spPr>
      </p:pic>
      <p:sp>
        <p:nvSpPr>
          <p:cNvPr id="13" name="ai_head_2"/>
          <p:cNvSpPr txBox="1"/>
          <p:nvPr/>
        </p:nvSpPr>
        <p:spPr>
          <a:xfrm>
            <a:off x="1325880" y="33741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수치는 교차 대조</a:t>
            </a:r>
            <a:endParaRPr lang="en-US" sz="1600" dirty="0"/>
          </a:p>
        </p:txBody>
      </p:sp>
      <p:sp>
        <p:nvSpPr>
          <p:cNvPr id="14" name="ai_body_2"/>
          <p:cNvSpPr txBox="1"/>
          <p:nvPr/>
        </p:nvSpPr>
        <p:spPr>
          <a:xfrm>
            <a:off x="1325880" y="373989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대시보드 급변일 37일·평균 14.17℃를 분석 로그와 대조. 리포트 수치를 원본 CSV로 재계산해 확인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감사합니다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질문 받겠습니다 · github.com/17lucky71/busan-temperature-trend</a:t>
            </a:r>
            <a:endParaRPr lang="en-US" sz="1600" dirty="0"/>
          </a:p>
        </p:txBody>
      </p:sp>
      <p:sp>
        <p:nvSpPr>
          <p:cNvPr id="4" name="end_logo_bg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5" name="end_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713232"/>
            <a:ext cx="35661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예상 질문과 답변 (1/2)</a:t>
            </a:r>
            <a:endParaRPr lang="en-US" sz="2400" dirty="0"/>
          </a:p>
        </p:txBody>
      </p:sp>
      <p:sp>
        <p:nvSpPr>
          <p:cNvPr id="3" name="qa_card_0_0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qa_q_0_0"/>
          <p:cNvSpPr txBox="1"/>
          <p:nvPr/>
        </p:nvSpPr>
        <p:spPr>
          <a:xfrm>
            <a:off x="64008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이상치를 왜 삭제하지 않았나요?</a:t>
            </a:r>
            <a:endParaRPr lang="en-US" sz="1300" dirty="0"/>
          </a:p>
        </p:txBody>
      </p:sp>
      <p:sp>
        <p:nvSpPr>
          <p:cNvPr id="5" name="qa_a_0_0"/>
          <p:cNvSpPr txBox="1"/>
          <p:nvPr/>
        </p:nvSpPr>
        <p:spPr>
          <a:xfrm>
            <a:off x="640080" y="15087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급변은 오류보다 한파 같은 실제 현상일 가능성이 크고, 지우면 변동성을 과소평가합니다. 대신 is_outlier로 표시해 분석 대상으로 썼습니다.</a:t>
            </a:r>
            <a:endParaRPr lang="en-US" sz="1200" dirty="0"/>
          </a:p>
        </p:txBody>
      </p:sp>
      <p:sp>
        <p:nvSpPr>
          <p:cNvPr id="6" name="qa_card_0_1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qa_q_0_1"/>
          <p:cNvSpPr txBox="1"/>
          <p:nvPr/>
        </p:nvSpPr>
        <p:spPr>
          <a:xfrm>
            <a:off x="484632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왜 |z| &gt; 3을 기준으로 했나요?</a:t>
            </a:r>
            <a:endParaRPr lang="en-US" sz="1300" dirty="0"/>
          </a:p>
        </p:txBody>
      </p:sp>
      <p:sp>
        <p:nvSpPr>
          <p:cNvPr id="8" name="qa_a_0_1"/>
          <p:cNvSpPr txBox="1"/>
          <p:nvPr/>
        </p:nvSpPr>
        <p:spPr>
          <a:xfrm>
            <a:off x="4846320" y="15087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정규분포에서 약 0.3%에 해당하는 관례적 기준(±6.2℃)입니다. 2.5로 낮춰도 '추운 계절 집중' 결론이 유지되는 것을 대시보드로 확인했습니다.</a:t>
            </a:r>
            <a:endParaRPr lang="en-US" sz="1200" dirty="0"/>
          </a:p>
        </p:txBody>
      </p:sp>
      <p:sp>
        <p:nvSpPr>
          <p:cNvPr id="9" name="qa_card_0_2"/>
          <p:cNvSpPr/>
          <p:nvPr/>
        </p:nvSpPr>
        <p:spPr>
          <a:xfrm>
            <a:off x="457200" y="27889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qa_q_0_2"/>
          <p:cNvSpPr txBox="1"/>
          <p:nvPr/>
        </p:nvSpPr>
        <p:spPr>
          <a:xfrm>
            <a:off x="6400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여름 6년 연속 상승이면 온난화인가요?</a:t>
            </a:r>
            <a:endParaRPr lang="en-US" sz="1300" dirty="0"/>
          </a:p>
        </p:txBody>
      </p:sp>
      <p:sp>
        <p:nvSpPr>
          <p:cNvPr id="11" name="qa_a_0_2"/>
          <p:cNvSpPr txBox="1"/>
          <p:nvPr/>
        </p:nvSpPr>
        <p:spPr>
          <a:xfrm>
            <a:off x="640080" y="32918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관찰은 사실이지만 6년은 짧아 단정하지 않았습니다. 30년 이상 자료로 같은 경향이 나오는지 확인하는 것이 다음 단계입니다.</a:t>
            </a:r>
            <a:endParaRPr lang="en-US" sz="1200" dirty="0"/>
          </a:p>
        </p:txBody>
      </p:sp>
      <p:sp>
        <p:nvSpPr>
          <p:cNvPr id="12" name="qa_card_0_3"/>
          <p:cNvSpPr/>
          <p:nvPr/>
        </p:nvSpPr>
        <p:spPr>
          <a:xfrm>
            <a:off x="4663440" y="27889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qa_q_0_3"/>
          <p:cNvSpPr txBox="1"/>
          <p:nvPr/>
        </p:nvSpPr>
        <p:spPr>
          <a:xfrm>
            <a:off x="48463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관찰과 해석을 어떻게 구분했나요?</a:t>
            </a:r>
            <a:endParaRPr lang="en-US" sz="1300" dirty="0"/>
          </a:p>
        </p:txBody>
      </p:sp>
      <p:sp>
        <p:nvSpPr>
          <p:cNvPr id="14" name="qa_a_0_3"/>
          <p:cNvSpPr txBox="1"/>
          <p:nvPr/>
        </p:nvSpPr>
        <p:spPr>
          <a:xfrm>
            <a:off x="4846320" y="32918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'급하강 29일, 급상승 8일'은 데이터로 확인한 관찰, '찬 공기 남하가 더 급격하다'는 검증이 필요한 해석입니다. 리포트에도 항목을 나눠 적었습니다.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예상 질문과 답변 (2/2)</a:t>
            </a:r>
            <a:endParaRPr lang="en-US" sz="2400" dirty="0"/>
          </a:p>
        </p:txBody>
      </p:sp>
      <p:sp>
        <p:nvSpPr>
          <p:cNvPr id="3" name="qa_card_1_0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qa_q_1_0"/>
          <p:cNvSpPr txBox="1"/>
          <p:nvPr/>
        </p:nvSpPr>
        <p:spPr>
          <a:xfrm>
            <a:off x="64008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365일 이동평균은 왜 앞뒤가 비어 있나요?</a:t>
            </a:r>
            <a:endParaRPr lang="en-US" sz="1300" dirty="0"/>
          </a:p>
        </p:txBody>
      </p:sp>
      <p:sp>
        <p:nvSpPr>
          <p:cNvPr id="5" name="qa_a_1_0"/>
          <p:cNvSpPr txBox="1"/>
          <p:nvPr/>
        </p:nvSpPr>
        <p:spPr>
          <a:xfrm>
            <a:off x="640080" y="15087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중심 이동평균이라 앞뒤 반년치가 있어야 계산됩니다. 1년 주기 평균이라 계절성을 지우고 추세만 남깁니다.</a:t>
            </a:r>
            <a:endParaRPr lang="en-US" sz="1200" dirty="0"/>
          </a:p>
        </p:txBody>
      </p:sp>
      <p:sp>
        <p:nvSpPr>
          <p:cNvPr id="6" name="qa_card_1_1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qa_q_1_1"/>
          <p:cNvSpPr txBox="1"/>
          <p:nvPr/>
        </p:nvSpPr>
        <p:spPr>
          <a:xfrm>
            <a:off x="484632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분해한 계절성 선은 왜 매끈하지 않나요?</a:t>
            </a:r>
            <a:endParaRPr lang="en-US" sz="1300" dirty="0"/>
          </a:p>
        </p:txBody>
      </p:sp>
      <p:sp>
        <p:nvSpPr>
          <p:cNvPr id="8" name="qa_a_1_1"/>
          <p:cNvSpPr txBox="1"/>
          <p:nvPr/>
        </p:nvSpPr>
        <p:spPr>
          <a:xfrm>
            <a:off x="4846320" y="15087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같은 날짜의 값이 5~6개뿐이라 날짜별 평균에도 노이즈가 남습니다. 기간이 길수록 매끈해집니다.</a:t>
            </a:r>
            <a:endParaRPr lang="en-US" sz="1200" dirty="0"/>
          </a:p>
        </p:txBody>
      </p:sp>
      <p:sp>
        <p:nvSpPr>
          <p:cNvPr id="9" name="qa_card_1_2"/>
          <p:cNvSpPr/>
          <p:nvPr/>
        </p:nvSpPr>
        <p:spPr>
          <a:xfrm>
            <a:off x="457200" y="27889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qa_q_1_2"/>
          <p:cNvSpPr txBox="1"/>
          <p:nvPr/>
        </p:nvSpPr>
        <p:spPr>
          <a:xfrm>
            <a:off x="6400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평년값이 더 정확한 이유는요?</a:t>
            </a:r>
            <a:endParaRPr lang="en-US" sz="1300" dirty="0"/>
          </a:p>
        </p:txBody>
      </p:sp>
      <p:sp>
        <p:nvSpPr>
          <p:cNvPr id="11" name="qa_a_1_2"/>
          <p:cNvSpPr txBox="1"/>
          <p:nvPr/>
        </p:nvSpPr>
        <p:spPr>
          <a:xfrm>
            <a:off x="640080" y="32918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여러 해를 평균해 우연한 변동이 상쇄되기 때문입니다. 단, 추세를 반영 못 해 2025년은 실제가 0.26℃ 더 높았습니다.</a:t>
            </a:r>
            <a:endParaRPr lang="en-US" sz="1200" dirty="0"/>
          </a:p>
        </p:txBody>
      </p:sp>
      <p:sp>
        <p:nvSpPr>
          <p:cNvPr id="12" name="qa_card_1_3"/>
          <p:cNvSpPr/>
          <p:nvPr/>
        </p:nvSpPr>
        <p:spPr>
          <a:xfrm>
            <a:off x="4663440" y="27889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qa_q_1_3"/>
          <p:cNvSpPr txBox="1"/>
          <p:nvPr/>
        </p:nvSpPr>
        <p:spPr>
          <a:xfrm>
            <a:off x="48463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Q. AI 결과는 어떻게 검증했나요?</a:t>
            </a:r>
            <a:endParaRPr lang="en-US" sz="1300" dirty="0"/>
          </a:p>
        </p:txBody>
      </p:sp>
      <p:sp>
        <p:nvSpPr>
          <p:cNvPr id="14" name="qa_a_1_3"/>
          <p:cNvSpPr txBox="1"/>
          <p:nvPr/>
        </p:nvSpPr>
        <p:spPr>
          <a:xfrm>
            <a:off x="4846320" y="32918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직접 실행해 오류 2건을 고쳤고, 데이터와 맞지 않는 가설은 배제했으며, 대시보드·로그·원본 CSV 수치를 서로 대조했습니다.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an Temperature">
  <a:themeElements>
    <a:clrScheme name="Busan Temperature">
      <a:dk1>
        <a:srgbClr val="1F2933"/>
      </a:dk1>
      <a:lt1>
        <a:srgbClr val="FFFFFF"/>
      </a:lt1>
      <a:dk2>
        <a:srgbClr val="14213D"/>
      </a:dk2>
      <a:lt2>
        <a:srgbClr val="EEF2F7"/>
      </a:lt2>
      <a:accent1>
        <a:srgbClr val="E4572E"/>
      </a:accent1>
      <a:accent2>
        <a:srgbClr val="2E86AB"/>
      </a:accent2>
      <a:accent3>
        <a:srgbClr val="F4A259"/>
      </a:accent3>
      <a:accent4>
        <a:srgbClr val="5B8E7D"/>
      </a:accent4>
      <a:accent5>
        <a:srgbClr val="8D99AE"/>
      </a:accent5>
      <a:accent6>
        <a:srgbClr val="A23B2A"/>
      </a:accent6>
      <a:hlink>
        <a:srgbClr val="2E86AB"/>
      </a:hlink>
      <a:folHlink>
        <a:srgbClr val="5B8E7D"/>
      </a:folHlink>
    </a:clrScheme>
    <a:fontScheme name="Busan Temperatu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부산 2020~2025 일별 기온 트렌드 분석</dc:title>
  <dc:subject>PptxGenJS Presentation</dc:subject>
  <dc:creator>17lucky71</dc:creator>
  <cp:lastModifiedBy>17lucky71</cp:lastModifiedBy>
  <cp:revision>1</cp:revision>
  <dcterms:created xsi:type="dcterms:W3CDTF">2026-10-05T09:11:17Z</dcterms:created>
  <dcterms:modified xsi:type="dcterms:W3CDTF">2026-10-05T09:11:17Z</dcterms:modified>
</cp:coreProperties>
</file>