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8.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35360018-1c2d-b74c-3bf9-157081f60dff}">
          <p14:sldIdLst>
            <p14:sldId id="256"/>
            <p14:sldId id="257"/>
            <p14:sldId id="258"/>
            <p14:sldId id="259"/>
            <p14:sldId id="260"/>
          </p14:sldIdLst>
        </p14:section>
        <p14:section name="데이터와 정제" id="{01f8d5e7-6fa8-1cc1-19f9-a175c5b27a83}">
          <p14:sldIdLst>
            <p14:sldId id="261"/>
            <p14:sldId id="262"/>
            <p14:sldId id="263"/>
            <p14:sldId id="264"/>
            <p14:sldId id="265"/>
            <p14:sldId id="266"/>
          </p14:sldIdLst>
        </p14:section>
        <p14:section name="분석 방법" id="{1ffa540b-c6a5-311e-3c5e-8e4396269016}">
          <p14:sldIdLst>
            <p14:sldId id="267"/>
            <p14:sldId id="268"/>
          </p14:sldIdLst>
        </p14:section>
        <p14:section name="인사이트" id="{bb60f742-6617-f58f-9bf9-db5fd9240466}">
          <p14:sldIdLst>
            <p14:sldId id="269"/>
            <p14:sldId id="270"/>
            <p14:sldId id="271"/>
            <p14:sldId id="272"/>
            <p14:sldId id="273"/>
            <p14:sldId id="274"/>
            <p14:sldId id="275"/>
            <p14:sldId id="276"/>
          </p14:sldIdLst>
        </p14:section>
        <p14:section name="보너스" id="{a83bc6a2-7f99-646c-206a-d32195e5bd18}">
          <p14:sldIdLst>
            <p14:sldId id="277"/>
            <p14:sldId id="278"/>
            <p14:sldId id="279"/>
            <p14:sldId id="280"/>
          </p14:sldIdLst>
        </p14:section>
        <p14:section name="마무리" id="{cab1cecf-a4ec-ae85-b127-b70bf0840cc3}">
          <p14:sldIdLst>
            <p14:sldId id="281"/>
            <p14:sldId id="282"/>
            <p14:sldId id="283"/>
          </p14:sldIdLst>
        </p14:section>
        <p14:section name="부록: 예상 질문" id="{bac44983-f05b-89ca-e1a1-ea2fe252fcaa}">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연강수량 (mm)</a:t>
            </a:r>
          </a:p>
        </c:rich>
      </c:tx>
      <c:layout/>
      <c:overlay val="0"/>
    </c:title>
    <c:autoTitleDeleted val="0"/>
    <c:plotArea>
      <c:layout/>
      <c:barChart>
        <c:barDir val="col"/>
        <c:grouping val="clustered"/>
        <c:varyColors val="0"/>
        <c:ser>
          <c:idx val="0"/>
          <c:order val="0"/>
          <c:tx>
            <c:strRef>
              <c:f>Sheet1!$B$1</c:f>
              <c:strCache>
                <c:ptCount val="1"/>
                <c:pt idx="0">
                  <c:v>연강수량(mm)</c:v>
                </c:pt>
              </c:strCache>
            </c:strRef>
          </c:tx>
          <c:spPr>
            <a:solidFill>
              <a:srgbClr val="2E86AB"/>
            </a:solidFill>
            <a:effectLst/>
          </c:spPr>
          <c:invertIfNegative val="0"/>
          <c:dLbls>
            <c:numFmt formatCode="#,##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cat>
            <c:multiLvlStrRef>
              <c:f>Sheet1!$A$2:$A$7</c:f>
              <c:multiLvlStrCache>
                <c:ptCount val="6"/>
                <c:lvl>
                  <c:pt idx="0">
                    <c:v>2020</c:v>
                  </c:pt>
                  <c:pt idx="1">
                    <c:v>2021</c:v>
                  </c:pt>
                  <c:pt idx="2">
                    <c:v>2022</c:v>
                  </c:pt>
                  <c:pt idx="3">
                    <c:v>2023</c:v>
                  </c:pt>
                  <c:pt idx="4">
                    <c:v>2024</c:v>
                  </c:pt>
                  <c:pt idx="5">
                    <c:v>2025</c:v>
                  </c:pt>
                </c:lvl>
              </c:multiLvlStrCache>
            </c:multiLvlStrRef>
          </c:cat>
          <c:val>
            <c:numRef>
              <c:f>Sheet1!$B$2:$B$7</c:f>
              <c:numCache>
                <c:formatCode>General</c:formatCode>
                <c:ptCount val="6"/>
                <c:pt idx="0">
                  <c:v>1988</c:v>
                </c:pt>
                <c:pt idx="1">
                  <c:v>1560</c:v>
                </c:pt>
                <c:pt idx="2">
                  <c:v>1075</c:v>
                </c:pt>
                <c:pt idx="3">
                  <c:v>1913</c:v>
                </c:pt>
                <c:pt idx="4">
                  <c:v>1734</c:v>
                </c:pt>
                <c:pt idx="5">
                  <c:v>1226</c:v>
                </c:pt>
              </c:numCache>
            </c:numRef>
          </c:val>
        </c:ser>
        <c:dLbls>
          <c:numFmt formatCode="#,##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6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전날 대비 기온 변화 분포 (1℃ 구간, 일수)</a:t>
            </a:r>
          </a:p>
        </c:rich>
      </c:tx>
      <c:layout/>
      <c:overlay val="0"/>
    </c:title>
    <c:autoTitleDeleted val="0"/>
    <c:plotArea>
      <c:layout/>
      <c:barChart>
        <c:barDir val="col"/>
        <c:grouping val="stacked"/>
        <c:varyColors val="0"/>
        <c:ser>
          <c:idx val="0"/>
          <c:order val="0"/>
          <c:tx>
            <c:strRef>
              <c:f>Sheet1!$B$1</c:f>
              <c:strCache>
                <c:ptCount val="1"/>
                <c:pt idx="0">
                  <c:v>약 ±6.2℃ 밖 (급변)</c:v>
                </c:pt>
              </c:strCache>
            </c:strRef>
          </c:tx>
          <c:spPr>
            <a:solidFill>
              <a:srgbClr val="E4572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Sheet1!$A$2:$A$25</c:f>
              <c:multiLvlStrCache>
                <c:ptCount val="24"/>
                <c:lvl>
                  <c:pt idx="0">
                    <c:v>-15</c:v>
                  </c:pt>
                  <c:pt idx="1">
                    <c:v>-14</c:v>
                  </c:pt>
                  <c:pt idx="2">
                    <c:v>-13</c:v>
                  </c:pt>
                  <c:pt idx="3">
                    <c:v>-12</c:v>
                  </c:pt>
                  <c:pt idx="4">
                    <c:v>-11</c:v>
                  </c:pt>
                  <c:pt idx="5">
                    <c:v>-10</c:v>
                  </c:pt>
                  <c:pt idx="6">
                    <c:v>-9</c:v>
                  </c:pt>
                  <c:pt idx="7">
                    <c:v>-8</c:v>
                  </c:pt>
                  <c:pt idx="8">
                    <c:v>-7</c:v>
                  </c:pt>
                  <c:pt idx="9">
                    <c:v>-6</c:v>
                  </c:pt>
                  <c:pt idx="10">
                    <c:v>-5</c:v>
                  </c:pt>
                  <c:pt idx="11">
                    <c:v>-4</c:v>
                  </c:pt>
                  <c:pt idx="12">
                    <c:v>-3</c:v>
                  </c:pt>
                  <c:pt idx="13">
                    <c:v>-2</c:v>
                  </c:pt>
                  <c:pt idx="14">
                    <c:v>-1</c:v>
                  </c:pt>
                  <c:pt idx="15">
                    <c:v>0</c:v>
                  </c:pt>
                  <c:pt idx="16">
                    <c:v>1</c:v>
                  </c:pt>
                  <c:pt idx="17">
                    <c:v>2</c:v>
                  </c:pt>
                  <c:pt idx="18">
                    <c:v>3</c:v>
                  </c:pt>
                  <c:pt idx="19">
                    <c:v>4</c:v>
                  </c:pt>
                  <c:pt idx="20">
                    <c:v>5</c:v>
                  </c:pt>
                  <c:pt idx="21">
                    <c:v>6</c:v>
                  </c:pt>
                  <c:pt idx="22">
                    <c:v>7</c:v>
                  </c:pt>
                  <c:pt idx="23">
                    <c:v>8</c:v>
                  </c:pt>
                </c:lvl>
              </c:multiLvlStrCache>
            </c:multiLvlStrRef>
          </c:cat>
          <c:val>
            <c:numRef>
              <c:f>Sheet1!$B$2:$B$25</c:f>
              <c:numCache>
                <c:formatCode>General</c:formatCode>
                <c:ptCount val="24"/>
                <c:pt idx="0">
                  <c:v>1</c:v>
                </c:pt>
                <c:pt idx="1">
                  <c:v>0</c:v>
                </c:pt>
                <c:pt idx="2">
                  <c:v>0</c:v>
                </c:pt>
                <c:pt idx="3">
                  <c:v>0</c:v>
                </c:pt>
                <c:pt idx="4">
                  <c:v>0</c:v>
                </c:pt>
                <c:pt idx="5">
                  <c:v>2</c:v>
                </c:pt>
                <c:pt idx="6">
                  <c:v>7</c:v>
                </c:pt>
                <c:pt idx="7">
                  <c:v>5</c:v>
                </c:pt>
                <c:pt idx="8">
                  <c:v>16</c:v>
                </c:pt>
                <c:pt idx="9">
                  <c:v>0</c:v>
                </c:pt>
                <c:pt idx="10">
                  <c:v>0</c:v>
                </c:pt>
                <c:pt idx="11">
                  <c:v>0</c:v>
                </c:pt>
                <c:pt idx="12">
                  <c:v>0</c:v>
                </c:pt>
                <c:pt idx="13">
                  <c:v>0</c:v>
                </c:pt>
                <c:pt idx="14">
                  <c:v>0</c:v>
                </c:pt>
                <c:pt idx="15">
                  <c:v>0</c:v>
                </c:pt>
                <c:pt idx="16">
                  <c:v>0</c:v>
                </c:pt>
                <c:pt idx="17">
                  <c:v>0</c:v>
                </c:pt>
                <c:pt idx="18">
                  <c:v>0</c:v>
                </c:pt>
                <c:pt idx="19">
                  <c:v>0</c:v>
                </c:pt>
                <c:pt idx="20">
                  <c:v>0</c:v>
                </c:pt>
                <c:pt idx="21">
                  <c:v>5</c:v>
                </c:pt>
                <c:pt idx="22">
                  <c:v>3</c:v>
                </c:pt>
                <c:pt idx="23">
                  <c:v>1</c:v>
                </c:pt>
              </c:numCache>
            </c:numRef>
          </c:val>
        </c:ser>
        <c:ser>
          <c:idx val="1"/>
          <c:order val="1"/>
          <c:tx>
            <c:strRef>
              <c:f>Sheet1!$C$1</c:f>
              <c:strCache>
                <c:ptCount val="1"/>
                <c:pt idx="0">
                  <c:v>일반적인 변화</c:v>
                </c:pt>
              </c:strCache>
            </c:strRef>
          </c:tx>
          <c:spPr>
            <a:solidFill>
              <a:srgbClr val="C9D2D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Sheet1!$A$2:$A$25</c:f>
              <c:multiLvlStrCache>
                <c:ptCount val="24"/>
                <c:lvl>
                  <c:pt idx="0">
                    <c:v>-15</c:v>
                  </c:pt>
                  <c:pt idx="1">
                    <c:v>-14</c:v>
                  </c:pt>
                  <c:pt idx="2">
                    <c:v>-13</c:v>
                  </c:pt>
                  <c:pt idx="3">
                    <c:v>-12</c:v>
                  </c:pt>
                  <c:pt idx="4">
                    <c:v>-11</c:v>
                  </c:pt>
                  <c:pt idx="5">
                    <c:v>-10</c:v>
                  </c:pt>
                  <c:pt idx="6">
                    <c:v>-9</c:v>
                  </c:pt>
                  <c:pt idx="7">
                    <c:v>-8</c:v>
                  </c:pt>
                  <c:pt idx="8">
                    <c:v>-7</c:v>
                  </c:pt>
                  <c:pt idx="9">
                    <c:v>-6</c:v>
                  </c:pt>
                  <c:pt idx="10">
                    <c:v>-5</c:v>
                  </c:pt>
                  <c:pt idx="11">
                    <c:v>-4</c:v>
                  </c:pt>
                  <c:pt idx="12">
                    <c:v>-3</c:v>
                  </c:pt>
                  <c:pt idx="13">
                    <c:v>-2</c:v>
                  </c:pt>
                  <c:pt idx="14">
                    <c:v>-1</c:v>
                  </c:pt>
                  <c:pt idx="15">
                    <c:v>0</c:v>
                  </c:pt>
                  <c:pt idx="16">
                    <c:v>1</c:v>
                  </c:pt>
                  <c:pt idx="17">
                    <c:v>2</c:v>
                  </c:pt>
                  <c:pt idx="18">
                    <c:v>3</c:v>
                  </c:pt>
                  <c:pt idx="19">
                    <c:v>4</c:v>
                  </c:pt>
                  <c:pt idx="20">
                    <c:v>5</c:v>
                  </c:pt>
                  <c:pt idx="21">
                    <c:v>6</c:v>
                  </c:pt>
                  <c:pt idx="22">
                    <c:v>7</c:v>
                  </c:pt>
                  <c:pt idx="23">
                    <c:v>8</c:v>
                  </c:pt>
                </c:lvl>
              </c:multiLvlStrCache>
            </c:multiLvlStrRef>
          </c:cat>
          <c:val>
            <c:numRef>
              <c:f>Sheet1!$C$2:$C$25</c:f>
              <c:numCache>
                <c:formatCode>General</c:formatCode>
                <c:ptCount val="24"/>
                <c:pt idx="0">
                  <c:v>0</c:v>
                </c:pt>
                <c:pt idx="1">
                  <c:v>0</c:v>
                </c:pt>
                <c:pt idx="2">
                  <c:v>0</c:v>
                </c:pt>
                <c:pt idx="3">
                  <c:v>0</c:v>
                </c:pt>
                <c:pt idx="4">
                  <c:v>0</c:v>
                </c:pt>
                <c:pt idx="5">
                  <c:v>0</c:v>
                </c:pt>
                <c:pt idx="6">
                  <c:v>0</c:v>
                </c:pt>
                <c:pt idx="7">
                  <c:v>0</c:v>
                </c:pt>
                <c:pt idx="8">
                  <c:v>0</c:v>
                </c:pt>
                <c:pt idx="9">
                  <c:v>16</c:v>
                </c:pt>
                <c:pt idx="10">
                  <c:v>45</c:v>
                </c:pt>
                <c:pt idx="11">
                  <c:v>61</c:v>
                </c:pt>
                <c:pt idx="12">
                  <c:v>115</c:v>
                </c:pt>
                <c:pt idx="13">
                  <c:v>232</c:v>
                </c:pt>
                <c:pt idx="14">
                  <c:v>456</c:v>
                </c:pt>
                <c:pt idx="15">
                  <c:v>592</c:v>
                </c:pt>
                <c:pt idx="16">
                  <c:v>367</c:v>
                </c:pt>
                <c:pt idx="17">
                  <c:v>166</c:v>
                </c:pt>
                <c:pt idx="18">
                  <c:v>65</c:v>
                </c:pt>
                <c:pt idx="19">
                  <c:v>28</c:v>
                </c:pt>
                <c:pt idx="20">
                  <c:v>8</c:v>
                </c:pt>
                <c:pt idx="21">
                  <c:v>0</c:v>
                </c:pt>
                <c:pt idx="22">
                  <c:v>0</c:v>
                </c:pt>
                <c:pt idx="23">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9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연도별 평균기온 (℃, y축 13℃부터)</a:t>
            </a:r>
          </a:p>
        </c:rich>
      </c:tx>
      <c:layout/>
      <c:overlay val="0"/>
    </c:title>
    <c:autoTitleDeleted val="0"/>
    <c:plotArea>
      <c:layout/>
      <c:barChart>
        <c:barDir val="col"/>
        <c:grouping val="clustered"/>
        <c:varyColors val="0"/>
        <c:ser>
          <c:idx val="0"/>
          <c:order val="0"/>
          <c:tx>
            <c:strRef>
              <c:f>Sheet1!$B$1</c:f>
              <c:strCache>
                <c:ptCount val="1"/>
                <c:pt idx="0">
                  <c:v>연평균(℃)</c:v>
                </c:pt>
              </c:strCache>
            </c:strRef>
          </c:tx>
          <c:spPr>
            <a:solidFill>
              <a:srgbClr val="E4572E"/>
            </a:solidFill>
            <a:effectLst/>
          </c:spPr>
          <c:invertIfNegative val="0"/>
          <c:dLbls>
            <c:numFmt formatCode="0.00" sourceLinked="0"/>
            <c:txPr>
              <a:bodyPr/>
              <a:lstStyle/>
              <a:p>
                <a:pPr>
                  <a:defRPr b="0" i="0" strike="noStrike" sz="1100" u="none">
                    <a:solidFill>
                      <a:srgbClr val="1F2933"/>
                    </a:solidFill>
                    <a:latin typeface="+mn-lt"/>
                  </a:defRPr>
                </a:pPr>
              </a:p>
            </c:txPr>
            <c:showLegendKey val="0"/>
            <c:showVal val="1"/>
            <c:showCatName val="0"/>
            <c:showSerName val="0"/>
            <c:showPercent val="0"/>
            <c:showBubbleSize val="0"/>
            <c:showLeaderLines val="0"/>
          </c:dLbls>
          <c:cat>
            <c:multiLvlStrRef>
              <c:f>Sheet1!$A$2:$A$7</c:f>
              <c:multiLvlStrCache>
                <c:ptCount val="6"/>
                <c:lvl>
                  <c:pt idx="0">
                    <c:v>2020</c:v>
                  </c:pt>
                  <c:pt idx="1">
                    <c:v>2021</c:v>
                  </c:pt>
                  <c:pt idx="2">
                    <c:v>2022</c:v>
                  </c:pt>
                  <c:pt idx="3">
                    <c:v>2023</c:v>
                  </c:pt>
                  <c:pt idx="4">
                    <c:v>2024</c:v>
                  </c:pt>
                  <c:pt idx="5">
                    <c:v>2025</c:v>
                  </c:pt>
                </c:lvl>
              </c:multiLvlStrCache>
            </c:multiLvlStrRef>
          </c:cat>
          <c:val>
            <c:numRef>
              <c:f>Sheet1!$B$2:$B$7</c:f>
              <c:numCache>
                <c:formatCode>General</c:formatCode>
                <c:ptCount val="6"/>
                <c:pt idx="0">
                  <c:v>13.56</c:v>
                </c:pt>
                <c:pt idx="1">
                  <c:v>14.05</c:v>
                </c:pt>
                <c:pt idx="2">
                  <c:v>13.92</c:v>
                </c:pt>
                <c:pt idx="3">
                  <c:v>14.29</c:v>
                </c:pt>
                <c:pt idx="4">
                  <c:v>14.81</c:v>
                </c:pt>
                <c:pt idx="5">
                  <c:v>14.39</c:v>
                </c:pt>
              </c:numCache>
            </c:numRef>
          </c:val>
        </c:ser>
        <c:dLbls>
          <c:numFmt formatCode="0.00" sourceLinked="0"/>
          <c:txPr>
            <a:bodyPr/>
            <a:lstStyle/>
            <a:p>
              <a:pPr>
                <a:defRPr b="0" i="0" strike="noStrike" sz="1100" u="none">
                  <a:solidFill>
                    <a:srgbClr val="1F29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5.2"/>
          <c:min val="13"/>
        </c:scaling>
        <c:delete val="0"/>
        <c:axPos val="l"/>
        <c:majorGridlines>
          <c:spPr>
            <a:ln w="9525" cap="flat">
              <a:solidFill>
                <a:srgbClr val="E1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2020년 대비 기온 변화 (℃)</a:t>
            </a:r>
          </a:p>
        </c:rich>
      </c:tx>
      <c:layout/>
      <c:overlay val="0"/>
    </c:title>
    <c:autoTitleDeleted val="0"/>
    <c:plotArea>
      <c:layout/>
      <c:lineChart>
        <c:varyColors val="0"/>
        <c:ser>
          <c:idx val="0"/>
          <c:order val="0"/>
          <c:tx>
            <c:strRef>
              <c:f>Sheet1!$B$1</c:f>
              <c:strCache>
                <c:ptCount val="1"/>
                <c:pt idx="0">
                  <c:v>여름(6~8월)</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4572E"/>
              </a:solidFill>
              <a:ln w="9525" cap="flat">
                <a:solidFill>
                  <a:srgbClr val="E4572E"/>
                </a:solidFill>
                <a:prstDash val="solid"/>
                <a:round/>
              </a:ln>
              <a:effectLst/>
            </c:spPr>
          </c:marker>
          <c:cat>
            <c:multiLvlStrRef>
              <c:f>Sheet1!$A$2:$A$7</c:f>
              <c:multiLvlStrCache>
                <c:ptCount val="6"/>
                <c:lvl>
                  <c:pt idx="0">
                    <c:v>2020</c:v>
                  </c:pt>
                  <c:pt idx="1">
                    <c:v>2021</c:v>
                  </c:pt>
                  <c:pt idx="2">
                    <c:v>2022</c:v>
                  </c:pt>
                  <c:pt idx="3">
                    <c:v>2023</c:v>
                  </c:pt>
                  <c:pt idx="4">
                    <c:v>2024</c:v>
                  </c:pt>
                  <c:pt idx="5">
                    <c:v>2025</c:v>
                  </c:pt>
                </c:lvl>
              </c:multiLvlStrCache>
            </c:multiLvlStrRef>
          </c:cat>
          <c:val>
            <c:numRef>
              <c:f>Sheet1!$B$2:$B$7</c:f>
              <c:numCache>
                <c:formatCode>General</c:formatCode>
                <c:ptCount val="6"/>
                <c:pt idx="0">
                  <c:v>0</c:v>
                </c:pt>
                <c:pt idx="1">
                  <c:v>0.4</c:v>
                </c:pt>
                <c:pt idx="2">
                  <c:v>0.79</c:v>
                </c:pt>
                <c:pt idx="3">
                  <c:v>0.91</c:v>
                </c:pt>
                <c:pt idx="4">
                  <c:v>1.53</c:v>
                </c:pt>
                <c:pt idx="5">
                  <c:v>2.21</c:v>
                </c:pt>
              </c:numCache>
            </c:numRef>
          </c:val>
          <c:smooth val="0"/>
        </c:ser>
        <c:ser>
          <c:idx val="1"/>
          <c:order val="1"/>
          <c:tx>
            <c:strRef>
              <c:f>Sheet1!$C$1</c:f>
              <c:strCache>
                <c:ptCount val="1"/>
                <c:pt idx="0">
                  <c:v>연평균</c:v>
                </c:pt>
              </c:strCache>
            </c:strRef>
          </c:tx>
          <c:spPr>
            <a:solidFill>
              <a:srgbClr val="14213D"/>
            </a:solidFill>
            <a:ln w="31750" cap="flat">
              <a:solidFill>
                <a:srgbClr val="1421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4213D"/>
              </a:solidFill>
              <a:ln w="9525" cap="flat">
                <a:solidFill>
                  <a:srgbClr val="14213D"/>
                </a:solidFill>
                <a:prstDash val="solid"/>
                <a:round/>
              </a:ln>
              <a:effectLst/>
            </c:spPr>
          </c:marker>
          <c:cat>
            <c:multiLvlStrRef>
              <c:f>Sheet1!$A$2:$A$7</c:f>
              <c:multiLvlStrCache>
                <c:ptCount val="6"/>
                <c:lvl>
                  <c:pt idx="0">
                    <c:v>2020</c:v>
                  </c:pt>
                  <c:pt idx="1">
                    <c:v>2021</c:v>
                  </c:pt>
                  <c:pt idx="2">
                    <c:v>2022</c:v>
                  </c:pt>
                  <c:pt idx="3">
                    <c:v>2023</c:v>
                  </c:pt>
                  <c:pt idx="4">
                    <c:v>2024</c:v>
                  </c:pt>
                  <c:pt idx="5">
                    <c:v>2025</c:v>
                  </c:pt>
                </c:lvl>
              </c:multiLvlStrCache>
            </c:multiLvlStrRef>
          </c:cat>
          <c:val>
            <c:numRef>
              <c:f>Sheet1!$C$2:$C$7</c:f>
              <c:numCache>
                <c:formatCode>General</c:formatCode>
                <c:ptCount val="6"/>
                <c:pt idx="0">
                  <c:v>0</c:v>
                </c:pt>
                <c:pt idx="1">
                  <c:v>0.49</c:v>
                </c:pt>
                <c:pt idx="2">
                  <c:v>0.36</c:v>
                </c:pt>
                <c:pt idx="3">
                  <c:v>0.73</c:v>
                </c:pt>
                <c:pt idx="4">
                  <c:v>1.25</c:v>
                </c:pt>
                <c:pt idx="5">
                  <c:v>0.83</c:v>
                </c:pt>
              </c:numCache>
            </c:numRef>
          </c:val>
          <c:smooth val="0"/>
        </c:ser>
        <c:ser>
          <c:idx val="2"/>
          <c:order val="2"/>
          <c:tx>
            <c:strRef>
              <c:f>Sheet1!$D$1</c:f>
              <c:strCache>
                <c:ptCount val="1"/>
                <c:pt idx="0">
                  <c:v>겨울(12·1·2월)</c:v>
                </c:pt>
              </c:strCache>
            </c:strRef>
          </c:tx>
          <c:spPr>
            <a:solidFill>
              <a:srgbClr val="2E86AB"/>
            </a:solidFill>
            <a:ln w="31750" cap="flat">
              <a:solidFill>
                <a:srgbClr val="2E86A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E86AB"/>
              </a:solidFill>
              <a:ln w="9525" cap="flat">
                <a:solidFill>
                  <a:srgbClr val="2E86AB"/>
                </a:solidFill>
                <a:prstDash val="solid"/>
                <a:round/>
              </a:ln>
              <a:effectLst/>
            </c:spPr>
          </c:marker>
          <c:cat>
            <c:multiLvlStrRef>
              <c:f>Sheet1!$A$2:$A$7</c:f>
              <c:multiLvlStrCache>
                <c:ptCount val="6"/>
                <c:lvl>
                  <c:pt idx="0">
                    <c:v>2020</c:v>
                  </c:pt>
                  <c:pt idx="1">
                    <c:v>2021</c:v>
                  </c:pt>
                  <c:pt idx="2">
                    <c:v>2022</c:v>
                  </c:pt>
                  <c:pt idx="3">
                    <c:v>2023</c:v>
                  </c:pt>
                  <c:pt idx="4">
                    <c:v>2024</c:v>
                  </c:pt>
                  <c:pt idx="5">
                    <c:v>2025</c:v>
                  </c:pt>
                </c:lvl>
              </c:multiLvlStrCache>
            </c:multiLvlStrRef>
          </c:cat>
          <c:val>
            <c:numRef>
              <c:f>Sheet1!$D$2:$D$7</c:f>
              <c:numCache>
                <c:formatCode>General</c:formatCode>
                <c:ptCount val="6"/>
                <c:pt idx="0">
                  <c:v>0</c:v>
                </c:pt>
                <c:pt idx="1">
                  <c:v>-0.39</c:v>
                </c:pt>
                <c:pt idx="2">
                  <c:v>-2.15</c:v>
                </c:pt>
                <c:pt idx="3">
                  <c:v>-0.21</c:v>
                </c:pt>
                <c:pt idx="4">
                  <c:v>-0.02</c:v>
                </c:pt>
                <c:pt idx="5">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1E6EE"/>
              </a:solidFill>
              <a:prstDash val="solid"/>
              <a:round/>
            </a:ln>
          </c:spPr>
        </c:majorGridlines>
        <c:numFmt formatCode="+0.0;-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9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월별 일평균기온 표준편차 (℃)</a:t>
            </a:r>
          </a:p>
        </c:rich>
      </c:tx>
      <c:layout/>
      <c:overlay val="0"/>
    </c:title>
    <c:autoTitleDeleted val="0"/>
    <c:plotArea>
      <c:layout/>
      <c:barChart>
        <c:barDir val="col"/>
        <c:grouping val="stacked"/>
        <c:varyColors val="0"/>
        <c:ser>
          <c:idx val="0"/>
          <c:order val="0"/>
          <c:tx>
            <c:strRef>
              <c:f>Sheet1!$B$1</c:f>
              <c:strCache>
                <c:ptCount val="1"/>
                <c:pt idx="0">
                  <c:v>11~12월</c:v>
                </c:pt>
              </c:strCache>
            </c:strRef>
          </c:tx>
          <c:spPr>
            <a:solidFill>
              <a:srgbClr val="E4572E"/>
            </a:solidFill>
            <a:effectLst/>
          </c:spPr>
          <c:invertIfNegative val="0"/>
          <c:dLbls>
            <c:numFmt formatCode="0.0;;;" sourceLinked="0"/>
            <c:txPr>
              <a:bodyPr/>
              <a:lstStyle/>
              <a:p>
                <a:pPr>
                  <a:defRPr b="0" i="0" strike="noStrike" sz="9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Sheet1!$A$2:$A$13</c:f>
              <c:multiLvlStrCache>
                <c:ptCount val="12"/>
                <c:lvl>
                  <c:pt idx="0">
                    <c:v>1월</c:v>
                  </c:pt>
                  <c:pt idx="1">
                    <c:v>2월</c:v>
                  </c:pt>
                  <c:pt idx="2">
                    <c:v>3월</c:v>
                  </c:pt>
                  <c:pt idx="3">
                    <c:v>4월</c:v>
                  </c:pt>
                  <c:pt idx="4">
                    <c:v>5월</c:v>
                  </c:pt>
                  <c:pt idx="5">
                    <c:v>6월</c:v>
                  </c:pt>
                  <c:pt idx="6">
                    <c:v>7월</c:v>
                  </c:pt>
                  <c:pt idx="7">
                    <c:v>8월</c:v>
                  </c:pt>
                  <c:pt idx="8">
                    <c:v>9월</c:v>
                  </c:pt>
                  <c:pt idx="9">
                    <c:v>10월</c:v>
                  </c:pt>
                  <c:pt idx="10">
                    <c:v>11월</c:v>
                  </c:pt>
                  <c:pt idx="11">
                    <c:v>12월</c:v>
                  </c:pt>
                </c:lvl>
              </c:multiLvlStrCache>
            </c:multiLvlStrRef>
          </c:cat>
          <c:val>
            <c:numRef>
              <c:f>Sheet1!$B$2:$B$13</c:f>
              <c:numCache>
                <c:formatCode>General</c:formatCode>
                <c:ptCount val="12"/>
                <c:pt idx="0">
                  <c:v>0</c:v>
                </c:pt>
                <c:pt idx="1">
                  <c:v>0</c:v>
                </c:pt>
                <c:pt idx="2">
                  <c:v>0</c:v>
                </c:pt>
                <c:pt idx="3">
                  <c:v>0</c:v>
                </c:pt>
                <c:pt idx="4">
                  <c:v>0</c:v>
                </c:pt>
                <c:pt idx="5">
                  <c:v>0</c:v>
                </c:pt>
                <c:pt idx="6">
                  <c:v>0</c:v>
                </c:pt>
                <c:pt idx="7">
                  <c:v>0</c:v>
                </c:pt>
                <c:pt idx="8">
                  <c:v>0</c:v>
                </c:pt>
                <c:pt idx="9">
                  <c:v>0</c:v>
                </c:pt>
                <c:pt idx="10">
                  <c:v>4</c:v>
                </c:pt>
                <c:pt idx="11">
                  <c:v>3.93</c:v>
                </c:pt>
              </c:numCache>
            </c:numRef>
          </c:val>
        </c:ser>
        <c:ser>
          <c:idx val="1"/>
          <c:order val="1"/>
          <c:tx>
            <c:strRef>
              <c:f>Sheet1!$C$1</c:f>
              <c:strCache>
                <c:ptCount val="1"/>
                <c:pt idx="0">
                  <c:v>여름 6~8월</c:v>
                </c:pt>
              </c:strCache>
            </c:strRef>
          </c:tx>
          <c:spPr>
            <a:solidFill>
              <a:srgbClr val="2E86AB"/>
            </a:solidFill>
            <a:effectLst/>
          </c:spPr>
          <c:invertIfNegative val="0"/>
          <c:dLbls>
            <c:numFmt formatCode="0.0;;;" sourceLinked="0"/>
            <c:txPr>
              <a:bodyPr/>
              <a:lstStyle/>
              <a:p>
                <a:pPr>
                  <a:defRPr b="0" i="0" strike="noStrike" sz="9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Sheet1!$A$2:$A$13</c:f>
              <c:multiLvlStrCache>
                <c:ptCount val="12"/>
                <c:lvl>
                  <c:pt idx="0">
                    <c:v>1월</c:v>
                  </c:pt>
                  <c:pt idx="1">
                    <c:v>2월</c:v>
                  </c:pt>
                  <c:pt idx="2">
                    <c:v>3월</c:v>
                  </c:pt>
                  <c:pt idx="3">
                    <c:v>4월</c:v>
                  </c:pt>
                  <c:pt idx="4">
                    <c:v>5월</c:v>
                  </c:pt>
                  <c:pt idx="5">
                    <c:v>6월</c:v>
                  </c:pt>
                  <c:pt idx="6">
                    <c:v>7월</c:v>
                  </c:pt>
                  <c:pt idx="7">
                    <c:v>8월</c:v>
                  </c:pt>
                  <c:pt idx="8">
                    <c:v>9월</c:v>
                  </c:pt>
                  <c:pt idx="9">
                    <c:v>10월</c:v>
                  </c:pt>
                  <c:pt idx="10">
                    <c:v>11월</c:v>
                  </c:pt>
                  <c:pt idx="11">
                    <c:v>12월</c:v>
                  </c:pt>
                </c:lvl>
              </c:multiLvlStrCache>
            </c:multiLvlStrRef>
          </c:cat>
          <c:val>
            <c:numRef>
              <c:f>Sheet1!$C$2:$C$13</c:f>
              <c:numCache>
                <c:formatCode>General</c:formatCode>
                <c:ptCount val="12"/>
                <c:pt idx="0">
                  <c:v>0</c:v>
                </c:pt>
                <c:pt idx="1">
                  <c:v>0</c:v>
                </c:pt>
                <c:pt idx="2">
                  <c:v>0</c:v>
                </c:pt>
                <c:pt idx="3">
                  <c:v>0</c:v>
                </c:pt>
                <c:pt idx="4">
                  <c:v>0</c:v>
                </c:pt>
                <c:pt idx="5">
                  <c:v>1.91</c:v>
                </c:pt>
                <c:pt idx="6">
                  <c:v>2.24</c:v>
                </c:pt>
                <c:pt idx="7">
                  <c:v>1.85</c:v>
                </c:pt>
                <c:pt idx="8">
                  <c:v>0</c:v>
                </c:pt>
                <c:pt idx="9">
                  <c:v>0</c:v>
                </c:pt>
                <c:pt idx="10">
                  <c:v>0</c:v>
                </c:pt>
                <c:pt idx="11">
                  <c:v>0</c:v>
                </c:pt>
              </c:numCache>
            </c:numRef>
          </c:val>
        </c:ser>
        <c:ser>
          <c:idx val="2"/>
          <c:order val="2"/>
          <c:tx>
            <c:strRef>
              <c:f>Sheet1!$D$1</c:f>
              <c:strCache>
                <c:ptCount val="1"/>
                <c:pt idx="0">
                  <c:v>그 외</c:v>
                </c:pt>
              </c:strCache>
            </c:strRef>
          </c:tx>
          <c:spPr>
            <a:solidFill>
              <a:srgbClr val="C9D2DE"/>
            </a:solidFill>
            <a:effectLst/>
          </c:spPr>
          <c:invertIfNegative val="0"/>
          <c:dLbls>
            <c:numFmt formatCode="0.0;;;" sourceLinked="0"/>
            <c:txPr>
              <a:bodyPr/>
              <a:lstStyle/>
              <a:p>
                <a:pPr>
                  <a:defRPr b="0" i="0" strike="noStrike" sz="9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Sheet1!$A$2:$A$13</c:f>
              <c:multiLvlStrCache>
                <c:ptCount val="12"/>
                <c:lvl>
                  <c:pt idx="0">
                    <c:v>1월</c:v>
                  </c:pt>
                  <c:pt idx="1">
                    <c:v>2월</c:v>
                  </c:pt>
                  <c:pt idx="2">
                    <c:v>3월</c:v>
                  </c:pt>
                  <c:pt idx="3">
                    <c:v>4월</c:v>
                  </c:pt>
                  <c:pt idx="4">
                    <c:v>5월</c:v>
                  </c:pt>
                  <c:pt idx="5">
                    <c:v>6월</c:v>
                  </c:pt>
                  <c:pt idx="6">
                    <c:v>7월</c:v>
                  </c:pt>
                  <c:pt idx="7">
                    <c:v>8월</c:v>
                  </c:pt>
                  <c:pt idx="8">
                    <c:v>9월</c:v>
                  </c:pt>
                  <c:pt idx="9">
                    <c:v>10월</c:v>
                  </c:pt>
                  <c:pt idx="10">
                    <c:v>11월</c:v>
                  </c:pt>
                  <c:pt idx="11">
                    <c:v>12월</c:v>
                  </c:pt>
                </c:lvl>
              </c:multiLvlStrCache>
            </c:multiLvlStrRef>
          </c:cat>
          <c:val>
            <c:numRef>
              <c:f>Sheet1!$D$2:$D$13</c:f>
              <c:numCache>
                <c:formatCode>General</c:formatCode>
                <c:ptCount val="12"/>
                <c:pt idx="0">
                  <c:v>3.69</c:v>
                </c:pt>
                <c:pt idx="1">
                  <c:v>3.84</c:v>
                </c:pt>
                <c:pt idx="2">
                  <c:v>3.4</c:v>
                </c:pt>
                <c:pt idx="3">
                  <c:v>2.65</c:v>
                </c:pt>
                <c:pt idx="4">
                  <c:v>2.48</c:v>
                </c:pt>
                <c:pt idx="5">
                  <c:v>0</c:v>
                </c:pt>
                <c:pt idx="6">
                  <c:v>0</c:v>
                </c:pt>
                <c:pt idx="7">
                  <c:v>0</c:v>
                </c:pt>
                <c:pt idx="8">
                  <c:v>2.52</c:v>
                </c:pt>
                <c:pt idx="9">
                  <c:v>3.38</c:v>
                </c:pt>
                <c:pt idx="10">
                  <c:v>0</c:v>
                </c:pt>
                <c:pt idx="11">
                  <c:v>0</c:v>
                </c:pt>
              </c:numCache>
            </c:numRef>
          </c:val>
        </c:ser>
        <c:dLbls>
          <c:numFmt formatCode="0.0;;;" sourceLinked="0"/>
          <c:txPr>
            <a:bodyPr/>
            <a:lstStyle/>
            <a:p>
              <a:pPr>
                <a:defRPr b="0" i="0" strike="noStrike" sz="9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9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시계열 분해 후 월별 잔차(노이즈) 표준편차 (℃)</a:t>
            </a:r>
          </a:p>
        </c:rich>
      </c:tx>
      <c:layout/>
      <c:overlay val="0"/>
    </c:title>
    <c:autoTitleDeleted val="0"/>
    <c:plotArea>
      <c:layout/>
      <c:barChart>
        <c:barDir val="col"/>
        <c:grouping val="clustered"/>
        <c:varyColors val="0"/>
        <c:ser>
          <c:idx val="0"/>
          <c:order val="0"/>
          <c:tx>
            <c:strRef>
              <c:f>Sheet1!$B$1</c:f>
              <c:strCache>
                <c:ptCount val="1"/>
                <c:pt idx="0">
                  <c:v>잔차 표준편차</c:v>
                </c:pt>
              </c:strCache>
            </c:strRef>
          </c:tx>
          <c:spPr>
            <a:solidFill>
              <a:srgbClr val="5B8E7D"/>
            </a:solidFill>
            <a:effectLst/>
          </c:spPr>
          <c:invertIfNegative val="0"/>
          <c:dLbls>
            <c:numFmt formatCode="0.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cat>
            <c:multiLvlStrRef>
              <c:f>Sheet1!$A$2:$A$13</c:f>
              <c:multiLvlStrCache>
                <c:ptCount val="12"/>
                <c:lvl>
                  <c:pt idx="0">
                    <c:v>1월</c:v>
                  </c:pt>
                  <c:pt idx="1">
                    <c:v>2월</c:v>
                  </c:pt>
                  <c:pt idx="2">
                    <c:v>3월</c:v>
                  </c:pt>
                  <c:pt idx="3">
                    <c:v>4월</c:v>
                  </c:pt>
                  <c:pt idx="4">
                    <c:v>5월</c:v>
                  </c:pt>
                  <c:pt idx="5">
                    <c:v>6월</c:v>
                  </c:pt>
                  <c:pt idx="6">
                    <c:v>7월</c:v>
                  </c:pt>
                  <c:pt idx="7">
                    <c:v>8월</c:v>
                  </c:pt>
                  <c:pt idx="8">
                    <c:v>9월</c:v>
                  </c:pt>
                  <c:pt idx="9">
                    <c:v>10월</c:v>
                  </c:pt>
                  <c:pt idx="10">
                    <c:v>11월</c:v>
                  </c:pt>
                  <c:pt idx="11">
                    <c:v>12월</c:v>
                  </c:pt>
                </c:lvl>
              </c:multiLvlStrCache>
            </c:multiLvlStrRef>
          </c:cat>
          <c:val>
            <c:numRef>
              <c:f>Sheet1!$B$2:$B$13</c:f>
              <c:numCache>
                <c:formatCode>General</c:formatCode>
                <c:ptCount val="12"/>
                <c:pt idx="0">
                  <c:v>3.39</c:v>
                </c:pt>
                <c:pt idx="1">
                  <c:v>3.49</c:v>
                </c:pt>
                <c:pt idx="2">
                  <c:v>2.85</c:v>
                </c:pt>
                <c:pt idx="3">
                  <c:v>2.02</c:v>
                </c:pt>
                <c:pt idx="4">
                  <c:v>1.78</c:v>
                </c:pt>
                <c:pt idx="5">
                  <c:v>1.44</c:v>
                </c:pt>
                <c:pt idx="6">
                  <c:v>1.62</c:v>
                </c:pt>
                <c:pt idx="7">
                  <c:v>1.49</c:v>
                </c:pt>
                <c:pt idx="8">
                  <c:v>1.88</c:v>
                </c:pt>
                <c:pt idx="9">
                  <c:v>2.25</c:v>
                </c:pt>
                <c:pt idx="10">
                  <c:v>3.36</c:v>
                </c:pt>
                <c:pt idx="11">
                  <c:v>3.04</c:v>
                </c:pt>
              </c:numCache>
            </c:numRef>
          </c:val>
        </c:ser>
        <c:dLbls>
          <c:numFmt formatCode="0.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2025년 예측 오차 MAE (℃, 낮을수록 좋음)</a:t>
            </a:r>
          </a:p>
        </c:rich>
      </c:tx>
      <c:layout/>
      <c:overlay val="0"/>
    </c:title>
    <c:autoTitleDeleted val="0"/>
    <c:plotArea>
      <c:layout/>
      <c:barChart>
        <c:barDir val="col"/>
        <c:grouping val="clustered"/>
        <c:varyColors val="0"/>
        <c:ser>
          <c:idx val="0"/>
          <c:order val="0"/>
          <c:tx>
            <c:strRef>
              <c:f>Sheet1!$B$1</c:f>
              <c:strCache>
                <c:ptCount val="1"/>
                <c:pt idx="0">
                  <c:v>MAE(℃)</c:v>
                </c:pt>
              </c:strCache>
            </c:strRef>
          </c:tx>
          <c:spPr>
            <a:solidFill>
              <a:srgbClr val="8D99AE"/>
            </a:solidFill>
            <a:effectLst/>
          </c:spPr>
          <c:invertIfNegative val="0"/>
          <c:dLbls>
            <c:numFmt formatCode="0.00" sourceLinked="0"/>
            <c:txPr>
              <a:bodyPr/>
              <a:lstStyle/>
              <a:p>
                <a:pPr>
                  <a:defRPr b="0" i="0" strike="noStrike" sz="14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8D99AE"/>
              </a:solidFill>
              <a:effectLst/>
            </c:spPr>
          </c:dPt>
          <c:dPt>
            <c:idx val="1"/>
            <c:invertIfNegative val="0"/>
            <c:bubble3D val="0"/>
            <c:spPr>
              <a:solidFill>
                <a:srgbClr val="2E86AB"/>
              </a:solidFill>
              <a:effectLst/>
            </c:spPr>
          </c:dPt>
          <c:cat>
            <c:multiLvlStrRef>
              <c:f>Sheet1!$A$2:$A$3</c:f>
              <c:multiLvlStrCache>
                <c:ptCount val="2"/>
                <c:lvl>
                  <c:pt idx="0">
                    <c:v>작년 같은 날</c:v>
                  </c:pt>
                  <c:pt idx="1">
                    <c:v>평년값 (2020~2024 평균)</c:v>
                  </c:pt>
                </c:lvl>
              </c:multiLvlStrCache>
            </c:multiLvlStrRef>
          </c:cat>
          <c:val>
            <c:numRef>
              <c:f>Sheet1!$B$2:$B$3</c:f>
              <c:numCache>
                <c:formatCode>General</c:formatCode>
                <c:ptCount val="2"/>
                <c:pt idx="0">
                  <c:v>2.93</c:v>
                </c:pt>
                <c:pt idx="1">
                  <c:v>2.47</c:v>
                </c:pt>
              </c:numCache>
            </c:numRef>
          </c:val>
        </c:ser>
        <c:dLbls>
          <c:numFmt formatCode="0.00" sourceLinked="0"/>
          <c:txPr>
            <a:bodyPr/>
            <a:lstStyle/>
            <a:p>
              <a:pPr>
                <a:defRPr b="0" i="0" strike="noStrike" sz="1400" u="none">
                  <a:solidFill>
                    <a:srgbClr val="1F29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1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2025년 월별 예측 오차 (평년값 방식, ℃)</a:t>
            </a:r>
          </a:p>
        </c:rich>
      </c:tx>
      <c:layout/>
      <c:overlay val="0"/>
    </c:title>
    <c:autoTitleDeleted val="0"/>
    <c:plotArea>
      <c:layout/>
      <c:barChart>
        <c:barDir val="col"/>
        <c:grouping val="clustered"/>
        <c:varyColors val="0"/>
        <c:ser>
          <c:idx val="0"/>
          <c:order val="0"/>
          <c:tx>
            <c:strRef>
              <c:f>Sheet1!$B$1</c:f>
              <c:strCache>
                <c:ptCount val="1"/>
                <c:pt idx="0">
                  <c:v>평년값 MAE</c:v>
                </c:pt>
              </c:strCache>
            </c:strRef>
          </c:tx>
          <c:spPr>
            <a:solidFill>
              <a:srgbClr val="2E86AB"/>
            </a:solidFill>
            <a:effectLst/>
          </c:spPr>
          <c:invertIfNegative val="0"/>
          <c:dLbls>
            <c:numFmt formatCode="0.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cat>
            <c:multiLvlStrRef>
              <c:f>Sheet1!$A$2:$A$13</c:f>
              <c:multiLvlStrCache>
                <c:ptCount val="12"/>
                <c:lvl>
                  <c:pt idx="0">
                    <c:v>1월</c:v>
                  </c:pt>
                  <c:pt idx="1">
                    <c:v>2월</c:v>
                  </c:pt>
                  <c:pt idx="2">
                    <c:v>3월</c:v>
                  </c:pt>
                  <c:pt idx="3">
                    <c:v>4월</c:v>
                  </c:pt>
                  <c:pt idx="4">
                    <c:v>5월</c:v>
                  </c:pt>
                  <c:pt idx="5">
                    <c:v>6월</c:v>
                  </c:pt>
                  <c:pt idx="6">
                    <c:v>7월</c:v>
                  </c:pt>
                  <c:pt idx="7">
                    <c:v>8월</c:v>
                  </c:pt>
                  <c:pt idx="8">
                    <c:v>9월</c:v>
                  </c:pt>
                  <c:pt idx="9">
                    <c:v>10월</c:v>
                  </c:pt>
                  <c:pt idx="10">
                    <c:v>11월</c:v>
                  </c:pt>
                  <c:pt idx="11">
                    <c:v>12월</c:v>
                  </c:pt>
                </c:lvl>
              </c:multiLvlStrCache>
            </c:multiLvlStrRef>
          </c:cat>
          <c:val>
            <c:numRef>
              <c:f>Sheet1!$B$2:$B$13</c:f>
              <c:numCache>
                <c:formatCode>General</c:formatCode>
                <c:ptCount val="12"/>
                <c:pt idx="0">
                  <c:v>1.81</c:v>
                </c:pt>
                <c:pt idx="1">
                  <c:v>4.32</c:v>
                </c:pt>
                <c:pt idx="2">
                  <c:v>3.06</c:v>
                </c:pt>
                <c:pt idx="3">
                  <c:v>2.11</c:v>
                </c:pt>
                <c:pt idx="4">
                  <c:v>1.81</c:v>
                </c:pt>
                <c:pt idx="5">
                  <c:v>1.19</c:v>
                </c:pt>
                <c:pt idx="6">
                  <c:v>2.6</c:v>
                </c:pt>
                <c:pt idx="7">
                  <c:v>2.1</c:v>
                </c:pt>
                <c:pt idx="8">
                  <c:v>1.83</c:v>
                </c:pt>
                <c:pt idx="9">
                  <c:v>2.94</c:v>
                </c:pt>
                <c:pt idx="10">
                  <c:v>2.45</c:v>
                </c:pt>
                <c:pt idx="11">
                  <c:v>3.47</c:v>
                </c:pt>
              </c:numCache>
            </c:numRef>
          </c:val>
        </c:ser>
        <c:dLbls>
          <c:numFmt formatCode="0.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1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부산의 2020년부터 2025년까지 6년, 2,192일의 일별 기온 데이터를 분석한 결과를 발표하겠습니다. 그래프를 그리는 것보다 '그래서 이게 무슨 의미인가'를 읽어내는 데 집중했고, 특히 계절을 나눠 봤을 때 전체 평균에서는 보이지 않던 패턴이 드러났습니다.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여섯 부분으로 진행합니다. 결론을 먼저 말씀드리고, 데이터와 정제 과정, 분석 방법, 세 가지 인사이트, 보너스 분석, 마지막으로 한계와 AI 활용 검증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결론은 세 가지입니다. 첫째, 연평균은 오르내렸지만 여름 평균은 6년 동안 한 해도 빠짐없이 올라 2.21도 상승했습니다. 둘째, 11~12월의 기온 변동성은 여름의 약 2배입니다. 셋째, 하루에 6.2도 넘게 변한 급변일 37일은 전부 10월부터 3월 사이였고, 그중 29일이 기온이 떨어진 날이었습니다.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부산 기온을 고른 이유는, 매일 체감하는 데이터라 결과를 경험과 대조하기 쉽기 때문입니다. '요즘 겨울 날씨가 들쭉날쭉하다', '해마다 더워진다'는 체감이 실제 데이터로도 맞는지 확인하고 싶었습니다. 오른쪽은 미션에서 요구한 목표와, 각각을 이 발표 몇 번 장에서 다루는지 정리한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분석 질문은 세 가지입니다. 장기 추세와 계절별 변동성은 그래프로 바로 확인할 수 있는 질문이고, 세 번째 급변일과 비의 관계는 그래프만으로는 답할 수 없어 추가 해석이 필요한 질문입니다. 미션 안내처럼 두 종류를 섞어서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데이터는 collect.py로 Open-Meteo의 과거 기상 API에서 받았습니다. API 키 없이 쓸 수 있고, 부산시청 부근 좌표의 2020년부터 2025년까지 일별 데이터 2,192일입니다. 라이선스는 CC BY 4.0이라 README와 리포트에 출처를 표기했습니다. 한 가지 주의할 점은 이 데이터가 관측소 실측이 아니라 ERA5 재분석 격자 자료라는 것이고, 이건 한계점에서 다시 언급하겠습니다.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데이터는 날짜, 평균·최고·최저기온, 강수량 다섯 개 컬럼입니다. 위 표는 실제 첫 세 줄인데, 2020년 1월 1일 부산 평균기온이 영하 1.3도였습니다. 정제 단계에서 세 개의 컬럼을 추가했습니다. 보간 여부, 전날 대비 변화량, 그리고 급변일 표시입니다.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본격적인 분석 전에 데이터를 한눈에 보겠습니다. 6년 동안 가장 더웠던 날은 2025년 7월 6일 최고 37.1도, 가장 추웠던 날은 2023년 1월 25일 최저 영하 13.6도였습니다. 1mm 이상 비가 온 날은 656일로 전체의 30%입니다. 연강수량은 2022년 1,075mm부터 2020년 1,988mm까지 해마다 차이가 컸습니다. 강수는 이후 급변일 분석에서 다시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분석은 스크립트 다섯 개로 나눴습니다. 수집, 정제, 분석이 필수 과정이고, 4번과 5번은 보너스입니다. requirements.txt로 라이브러리를 설치하고 순서대로 실행하면 같은 결과가 나오도록 재현성을 챙겼고, 단계마다 GitHub에 커밋했습니다.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결측치는 0건이었지만 거기서 끝내지 않았습니다. 날짜 행 자체가 빠지면 isna로는 잡히지 않기 때문에 날짜 연속성을 따로 확인했고, 물리적으로 불가능한 값, 최저-평균-최고의 논리 관계도 점검했습니다. 모두 이상이 없었고, 마지막 줄의 급변일 37일은 다음 장에서 기준을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이상치는 전날 대비 평균기온 변화량으로 정의했습니다. 일교차가 아니라 하루 사이의 변화입니다. 변화량의 표준편차가 2.06도라서, z-score 3은 하루에 약 6.2도 넘게 변한 날을 뜻하고, 전체의 98.3%가 그 안에 듭니다. 정규분포에서 흔히 쓰는 기준입니다. 이 날들은 삭제하지 않고 표시만 했습니다. 그리고 이 분포를 보면 왼쪽, 즉 기온이 떨어지는 쪽 꼬리가 훨씬 깁니다. 이게 세 번째 인사이트의 출발점이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그래프 한 장에 시계열의 세 요소가 다 들어 있습니다. 회색 일별 값은 노이즈, 30일 이동평균인 파란 선은 계절성, 365일 이동평균인 빨간 선은 계절을 걷어낸 추세입니다. 365일 중심 이동평균은 앞뒤 반년치가 필요해 처음과 끝 반년은 비어 있습니다. 그런데 빨간 선이 거의 평평해 보이죠. y축이 40도 범위라 1도 차이는 안 보이는 겁니다. 그래서 그래프만 믿지 않고 숫자로 다시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월별로 묶은 박스플롯입니다. 1월 평균 1.5도, 8월 26.7도로 약 25도 차이가 나고, 이 모양이 6년 내내 반복됩니다. 이게 계절성입니다. 여기서 상자의 높이는 그달 기온이 얼마나 퍼져 있는지를 보여주는데, 겨울 달의 상자가 여름보다 확연히 깁니다. 이 관찰이 두 번째 인사이트로 이어집니다. 일 단위 대신 월 단위로 집계한 건 일별 노이즈가 계절 차이를 가리기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인사이트입니다. 연평균기온은 2020년 13.56도가 가장 낮았고 2024년 14.81도가 가장 높았습니다. 1.25도 차이입니다. 그런데 매년 오른 건 아니고, 2022년과 2025년엔 전년보다 떨어졌습니다. 참고로 이 그래프는 y축을 13도부터 시작해서 차이를 키워 보여준 것이라는 점도 말씀드립니다. 그러면 왜 어떤 해엔 떨어졌을까요?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계절을 나눠 봤습니다. 각 계열을 2020년 대비 변화로 맞춰 그렸습니다. 빨간 선 여름 평균은 6년 동안 한 해도 빠짐없이 올라 2.21도 상승했습니다. 이건 대시보드에서 여름만 골라 보다가 발견했습니다. 그리고 파란 선 겨울을 보면, 연평균이 떨어진 2022년과 2025년이 정확히 겨울이 가장 추웠던 두 해입니다. 그래서 변동이 큰 겨울이 연평균을 흔들어 상승 경향을 가렸을 수 있다고 해석했습니다. 다만 6년은 짧아서 온난화라고 단정하지는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인사이트는 변동성입니다. 월별 기온의 표준편차를 보면, 여름 6~8월은 평균 2.0도로 안정적이고 11~12월은 3.97도로 약 2배입니다. 해석으로는 겨울엔 찬 대륙고기압이 강해졌다 약해졌다를 반복하는 이른바 삼한사온, 여름엔 북태평양 고기압이 오래 머물러 안정적인 것을 원인으로 추정했습니다. 기압 데이터가 없어서 이건 가설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그런데 의심이 하나 들었습니다. 겨울은 기온이 빠르게 내려가는 시기라서, 그 흐름 때문에 표준편차가 커 보인 건 아닐까? 그래서 보너스 분석의 시계열 분해에서 계절 흐름을 걷어낸 잔차로 다시 확인했습니다. 거기서도 2월 3.49도, 6월 1.44도로 겨울이 2배 넘게 컸습니다. 서로 다른 두 지표가 같은 결론을 가리켜서 인사이트가 더 튼튼해졌습니다.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인사이트입니다. 급변일 37일은 전부 10월부터 3월 사이에 있고, 4월부터 9월은 0일입니다. 방향도 한쪽으로 치우쳐서 파란 급하강이 29일, 주황 급상승이 8일로 약 3.6배입니다. 특히 12월의 9일은 전부 급하강이었습니다.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비와의 관계도 달랐습니다. 급상승한 날은 절반이 10mm 넘게 비가 온 날이었는데, 급하강한 날은 3%뿐이었습니다. 그래서 저기압이 지나갈 때 앞쪽에선 따뜻한 남서풍이 비와 함께 기온을 올리고, 지나간 뒤엔 찬 북서풍이 맑은 날 기온을 떨어뜨리는 패턴으로 해석했습니다. 실제로 2024년 2월 19일 비 43.6mm와 함께 6.9도 오른 다음 날 7도 떨어졌습니다. 반대로 2025년 11월 30일은 비 없이 급상승해서 반례도 있다는 점을 같이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날짜를 보면 더 분명합니다. 하루 변화폭이 가장 컸던 8일은 모두 하강이었고 대부분 비가 오지 않았습니다. 가장 큰 날은 2022년 11월 30일로, 하루 만에 14.5도가 떨어졌습니다. 앞에서 본 변화량 분포의 왼쪽 꼬리가 길었던 이유가 바로 이 날들입니다. 이 날짜들을 기상청 한파특보와 대조해 실제 한파였는지 확인하는 것을 다음 검증 과제로 남겼습니다.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인사이트를 미션의 형식대로 관찰, 해석, 행동으로 정리하면 이렇습니다. 관찰 칸은 모두 데이터로 확인한 수치이고, 해석 칸은 아직 검증이 필요한 가설입니다. 행동 칸은 그 가설을 확인하기 위한 다음 분석입니다.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보너스는 시계열 분해입니다. 기온을 추세, 계절성, 잔차로 나눴습니다. 추세는 5년 동안 0.79도 올랐고, 계절성의 진폭은 30.47도로 추세의 약 39배입니다. 원본 그래프에서 추세가 평평해 보였던 이유가 숫자로 설명됩니다. 한계도 있습니다. 365일 주기로 나누면 같은 날짜 값이 5~6개뿐이라, 평균을 내도 노이즈가 남아 계절성 선이 매끈하지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보너스는 간단한 예측입니다. 2020년부터 2024년 데이터만으로 2025년 365일을 맞혀 봤습니다. 작년 같은 날 값을 그대로 쓰는 방법은 평균 2.93도 틀렸고, 5년 같은 날짜의 평균인 평년값은 2.47도 틀려서 더 나았습니다. 작년 하루치는 그해의 우연한 변동까지 복사하지만, 여러 해를 평균하면 노이즈가 상쇄되기 때문으로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월별로 오차를 나눠 보면 2월이 4.32도로 가장 크고, 6월이 1.19도로 가장 작습니다. 겨울이 예측하기 어렵다는 건, 표준편차와 분해 잔차에 이어 인사이트 2를 뒷받침하는 세 번째 근거입니다. 다만 두 방법 모두 추세를 반영하지 못해서 2025년 실제 기온은 평년보다 0.26도 높았습니다. 정확한 예측보다 '아무 정보 없이 맞힐 수 있는 기준선'을 세운 것에 의미를 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보너스는 대시보드입니다. Streamlit으로 만들었고 기간, 월, 이동평균 기간, 급변일 기준을 바꿔 가며 탐색할 수 있습니다. 먼저 기본값에서 급변일이 37일로 리포트와 일치하는지 확인해 계산을 검증했습니다. 그다음 여름만 골랐을 때 여름 평균이 6년 연속 오른 패턴을 발견했고, 이게 첫 번째 인사이트가 됐습니다. 기준을 2.5로 낮춰도 여름엔 급변일이 없어서, 결론이 기준값에 민감하지 않다는 것도 확인했습니다. 가능하면 여기서 실제 대시보드를 시연하겠습니다.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부산 기온은 계절성이 압도적이고, 그걸 걷어내면 여름은 6년 연속 상승, 연평균은 겨울 변동에 흔들리는 모습이었습니다. 급변은 추운 계절에 주로 하강으로 일어났습니다. 한계로는 6년이라는 짧은 기간, 재분석 자료, 그리고 기압·풍향 데이터가 없어 원인이 가설로 남았다는 점이 있습니다. 다음 단계로 30년 이상의 자료, 풍향 데이터 추가, 한파특보와의 대조를 계획하고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AI 활용입니다. 코드와 해석 후보를 만드는 데 AI를 썼지만, 그대로 쓰지 않고 세 가지로 검증했습니다. 직접 실행해 오류 두 건을 잡았고, 데이터와 맞지 않는 가설은 뺐고, 대시보드·로그·원본 CSV 수치를 서로 대조했습니다. 그래서 결론의 근거는 모두 제가 확인한 수치로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 주셔서 감사합니다. 코드와 리포트, 대시보드 실행 방법은 모두 GitHub 저장소에 있습니다.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대비용 슬라이드입니다. 발표 중에는 넘기고, 질문이 나오면 해당 답변을 참고하세요.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대비용 슬라이드입니다. 발표 중에는 넘기고, 질문이 나오면 해당 답변을 참고하세요.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743200"/>
            <a:ext cx="8046720" cy="8229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697480"/>
            <a:ext cx="8046720" cy="73152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73168"/>
            <a:ext cx="4572000" cy="228600"/>
          </a:xfrm>
          <a:prstGeom prst="rect">
            <a:avLst/>
          </a:prstGeom>
          <a:noFill/>
          <a:ln/>
        </p:spPr>
        <p:txBody>
          <a:bodyPr wrap="square" lIns="0" tIns="0" rIns="0" bIns="0" rtlCol="0" anchor="ctr"/>
          <a:lstStyle/>
          <a:p>
            <a:pPr indent="0" marL="0">
              <a:buNone/>
            </a:pPr>
            <a:r>
              <a:rPr lang="en-US" sz="900" dirty="0">
                <a:solidFill>
                  <a:schemeClr val="accent5"/>
                </a:solidFill>
              </a:rPr>
              <a:t>부산 기온 트렌드 분석 · 2020–2025</a:t>
            </a:r>
            <a:endParaRPr lang="en-US" sz="9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lIns="0" tIns="0" rIns="0" bIns="0" rtlCol="0" anchor="b"/>
          <a:lstStyle/>
          <a:p>
            <a:pPr algn="l" indent="0" marL="0">
              <a:buNone/>
            </a:pPr>
            <a:r>
              <a:rPr lang="en-US" sz="3400" b="1" dirty="0">
                <a:solidFill>
                  <a:schemeClr val="bg1"/>
                </a:solidFill>
              </a:rPr>
              <a:t>부산 6년 기온 데이터,</a:t>
            </a:r>
            <a:endParaRPr lang="en-US" sz="3400" dirty="0"/>
          </a:p>
          <a:p>
            <a:pPr algn="l" indent="0" marL="0">
              <a:buNone/>
            </a:pPr>
            <a:r>
              <a:rPr lang="en-US" sz="3400" b="1" dirty="0">
                <a:solidFill>
                  <a:schemeClr val="bg1"/>
                </a:solidFill>
              </a:rPr>
              <a:t>계절을 나눠 보니 보인 것</a:t>
            </a:r>
            <a:endParaRPr lang="en-US" sz="3400" dirty="0"/>
          </a:p>
        </p:txBody>
      </p:sp>
      <p:sp>
        <p:nvSpPr>
          <p:cNvPr id="3" name="Text 0"/>
          <p:cNvSpPr/>
          <p:nvPr>
            <p:ph idx="101" type="body" hasCustomPrompt="1"/>
          </p:nvPr>
        </p:nvSpPr>
        <p:spPr>
          <a:xfrm>
            <a:off x="548640" y="2743200"/>
            <a:ext cx="8046720" cy="822960"/>
          </a:xfrm>
          <a:prstGeom prst="rect">
            <a:avLst/>
          </a:prstGeom>
          <a:noFill/>
          <a:ln/>
        </p:spPr>
        <p:txBody>
          <a:bodyPr wrap="square" lIns="0" tIns="0" rIns="0" bIns="0" rtlCol="0" anchor="t"/>
          <a:lstStyle/>
          <a:p>
            <a:pPr algn="l" indent="0" marL="0">
              <a:buNone/>
            </a:pPr>
            <a:r>
              <a:rPr lang="en-US" sz="1600" dirty="0">
                <a:solidFill>
                  <a:schemeClr val="bg2"/>
                </a:solidFill>
              </a:rPr>
              <a:t>2020~2025 일별 기온 시계열 트렌드 분석 · AI 데이터 분석 미션</a:t>
            </a:r>
            <a:endParaRPr lang="en-US" sz="1600" dirty="0"/>
          </a:p>
        </p:txBody>
      </p:sp>
      <p:sp>
        <p:nvSpPr>
          <p:cNvPr id="4" name="logo_bg"/>
          <p:cNvSpPr/>
          <p:nvPr/>
        </p:nvSpPr>
        <p:spPr>
          <a:xfrm>
            <a:off x="548640" y="548640"/>
            <a:ext cx="685800" cy="685800"/>
          </a:xfrm>
          <a:prstGeom prst="ellipse">
            <a:avLst/>
          </a:prstGeom>
          <a:solidFill>
            <a:srgbClr val="E4572E"/>
          </a:solidFill>
          <a:ln w="12700">
            <a:solidFill>
              <a:srgbClr val="E4572E"/>
            </a:solidFill>
            <a:prstDash val="solid"/>
          </a:ln>
        </p:spPr>
      </p:sp>
      <p:pic>
        <p:nvPicPr>
          <p:cNvPr id="5" name="logo" descr="preencoded.png">    </p:cNvPr>
          <p:cNvPicPr>
            <a:picLocks noChangeAspect="1"/>
          </p:cNvPicPr>
          <p:nvPr/>
        </p:nvPicPr>
        <p:blipFill>
          <a:blip r:embed="rId1"/>
          <a:stretch>
            <a:fillRect/>
          </a:stretch>
        </p:blipFill>
        <p:spPr>
          <a:xfrm>
            <a:off x="713232" y="713232"/>
            <a:ext cx="356616" cy="356616"/>
          </a:xfrm>
          <a:prstGeom prst="rect">
            <a:avLst/>
          </a:prstGeom>
        </p:spPr>
      </p:pic>
      <p:sp>
        <p:nvSpPr>
          <p:cNvPr id="6" name="repo"/>
          <p:cNvSpPr txBox="1"/>
          <p:nvPr/>
        </p:nvSpPr>
        <p:spPr>
          <a:xfrm>
            <a:off x="548640" y="4343400"/>
            <a:ext cx="8046720" cy="274320"/>
          </a:xfrm>
          <a:prstGeom prst="rect">
            <a:avLst/>
          </a:prstGeom>
          <a:noFill/>
          <a:ln/>
        </p:spPr>
        <p:txBody>
          <a:bodyPr wrap="square" lIns="0" tIns="0" rIns="0" bIns="0" rtlCol="0" anchor="t"/>
          <a:lstStyle/>
          <a:p>
            <a:pPr indent="0" marL="0">
              <a:buNone/>
            </a:pPr>
            <a:r>
              <a:rPr lang="en-US" sz="1200" dirty="0">
                <a:solidFill>
                  <a:schemeClr val="accent5"/>
                </a:solidFill>
              </a:rPr>
              <a:t>github.com/17lucky71/busan-temperature-trend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발표 순서</a:t>
            </a:r>
            <a:endParaRPr lang="en-US" sz="2400" dirty="0"/>
          </a:p>
        </p:txBody>
      </p:sp>
      <p:sp>
        <p:nvSpPr>
          <p:cNvPr id="3" name="ag_card_0"/>
          <p:cNvSpPr/>
          <p:nvPr/>
        </p:nvSpPr>
        <p:spPr>
          <a:xfrm>
            <a:off x="457200" y="1097280"/>
            <a:ext cx="2560320" cy="1508760"/>
          </a:xfrm>
          <a:prstGeom prst="roundRect">
            <a:avLst>
              <a:gd name="adj" fmla="val 7273"/>
            </a:avLst>
          </a:prstGeom>
          <a:solidFill>
            <a:srgbClr val="EEF2F7"/>
          </a:solidFill>
          <a:ln w="12700">
            <a:solidFill>
              <a:srgbClr val="EEF2F7"/>
            </a:solidFill>
            <a:prstDash val="solid"/>
          </a:ln>
        </p:spPr>
      </p:sp>
      <p:sp>
        <p:nvSpPr>
          <p:cNvPr id="4" name="ag_num_0"/>
          <p:cNvSpPr txBox="1"/>
          <p:nvPr/>
        </p:nvSpPr>
        <p:spPr>
          <a:xfrm>
            <a:off x="685800" y="1280160"/>
            <a:ext cx="914400" cy="457200"/>
          </a:xfrm>
          <a:prstGeom prst="rect">
            <a:avLst/>
          </a:prstGeom>
          <a:noFill/>
          <a:ln/>
        </p:spPr>
        <p:txBody>
          <a:bodyPr wrap="square" lIns="0" tIns="0" rIns="0" bIns="0" rtlCol="0" anchor="t"/>
          <a:lstStyle/>
          <a:p>
            <a:pPr indent="0" marL="0">
              <a:buNone/>
            </a:pPr>
            <a:r>
              <a:rPr lang="en-US" sz="2400" b="1" dirty="0">
                <a:solidFill>
                  <a:schemeClr val="accent1"/>
                </a:solidFill>
              </a:rPr>
              <a:t>01</a:t>
            </a:r>
            <a:endParaRPr lang="en-US" sz="2400" dirty="0"/>
          </a:p>
        </p:txBody>
      </p:sp>
      <p:sp>
        <p:nvSpPr>
          <p:cNvPr id="5" name="ag_head_0"/>
          <p:cNvSpPr txBox="1"/>
          <p:nvPr/>
        </p:nvSpPr>
        <p:spPr>
          <a:xfrm>
            <a:off x="685800" y="1755648"/>
            <a:ext cx="2103120" cy="320040"/>
          </a:xfrm>
          <a:prstGeom prst="rect">
            <a:avLst/>
          </a:prstGeom>
          <a:noFill/>
          <a:ln/>
        </p:spPr>
        <p:txBody>
          <a:bodyPr wrap="square" lIns="0" tIns="0" rIns="0" bIns="0" rtlCol="0" anchor="t"/>
          <a:lstStyle/>
          <a:p>
            <a:pPr indent="0" marL="0">
              <a:buNone/>
            </a:pPr>
            <a:r>
              <a:rPr lang="en-US" sz="1600" b="1" dirty="0">
                <a:solidFill>
                  <a:schemeClr val="tx2"/>
                </a:solidFill>
              </a:rPr>
              <a:t>도입</a:t>
            </a:r>
            <a:endParaRPr lang="en-US" sz="1600" dirty="0"/>
          </a:p>
        </p:txBody>
      </p:sp>
      <p:sp>
        <p:nvSpPr>
          <p:cNvPr id="6" name="ag_body_0"/>
          <p:cNvSpPr txBox="1"/>
          <p:nvPr/>
        </p:nvSpPr>
        <p:spPr>
          <a:xfrm>
            <a:off x="685800" y="2103120"/>
            <a:ext cx="2103120" cy="365760"/>
          </a:xfrm>
          <a:prstGeom prst="rect">
            <a:avLst/>
          </a:prstGeom>
          <a:noFill/>
          <a:ln/>
        </p:spPr>
        <p:txBody>
          <a:bodyPr wrap="square" lIns="0" tIns="0" rIns="0" bIns="0" rtlCol="0" anchor="t"/>
          <a:lstStyle/>
          <a:p>
            <a:pPr indent="0" marL="0">
              <a:buNone/>
            </a:pPr>
            <a:r>
              <a:rPr lang="en-US" sz="1200" dirty="0">
                <a:solidFill>
                  <a:schemeClr val="tx1"/>
                </a:solidFill>
              </a:rPr>
              <a:t>핵심 결론과 주제 선정 이유</a:t>
            </a:r>
            <a:endParaRPr lang="en-US" sz="1200" dirty="0"/>
          </a:p>
        </p:txBody>
      </p:sp>
      <p:sp>
        <p:nvSpPr>
          <p:cNvPr id="7" name="ag_card_1"/>
          <p:cNvSpPr/>
          <p:nvPr/>
        </p:nvSpPr>
        <p:spPr>
          <a:xfrm>
            <a:off x="3291840" y="1097280"/>
            <a:ext cx="2560320" cy="1508760"/>
          </a:xfrm>
          <a:prstGeom prst="roundRect">
            <a:avLst>
              <a:gd name="adj" fmla="val 7273"/>
            </a:avLst>
          </a:prstGeom>
          <a:solidFill>
            <a:srgbClr val="EEF2F7"/>
          </a:solidFill>
          <a:ln w="12700">
            <a:solidFill>
              <a:srgbClr val="EEF2F7"/>
            </a:solidFill>
            <a:prstDash val="solid"/>
          </a:ln>
        </p:spPr>
      </p:sp>
      <p:sp>
        <p:nvSpPr>
          <p:cNvPr id="8" name="ag_num_1"/>
          <p:cNvSpPr txBox="1"/>
          <p:nvPr/>
        </p:nvSpPr>
        <p:spPr>
          <a:xfrm>
            <a:off x="3520440" y="1280160"/>
            <a:ext cx="914400" cy="457200"/>
          </a:xfrm>
          <a:prstGeom prst="rect">
            <a:avLst/>
          </a:prstGeom>
          <a:noFill/>
          <a:ln/>
        </p:spPr>
        <p:txBody>
          <a:bodyPr wrap="square" lIns="0" tIns="0" rIns="0" bIns="0" rtlCol="0" anchor="t"/>
          <a:lstStyle/>
          <a:p>
            <a:pPr indent="0" marL="0">
              <a:buNone/>
            </a:pPr>
            <a:r>
              <a:rPr lang="en-US" sz="2400" b="1" dirty="0">
                <a:solidFill>
                  <a:schemeClr val="accent1"/>
                </a:solidFill>
              </a:rPr>
              <a:t>02</a:t>
            </a:r>
            <a:endParaRPr lang="en-US" sz="2400" dirty="0"/>
          </a:p>
        </p:txBody>
      </p:sp>
      <p:sp>
        <p:nvSpPr>
          <p:cNvPr id="9" name="ag_head_1"/>
          <p:cNvSpPr txBox="1"/>
          <p:nvPr/>
        </p:nvSpPr>
        <p:spPr>
          <a:xfrm>
            <a:off x="3520440" y="1755648"/>
            <a:ext cx="2103120" cy="320040"/>
          </a:xfrm>
          <a:prstGeom prst="rect">
            <a:avLst/>
          </a:prstGeom>
          <a:noFill/>
          <a:ln/>
        </p:spPr>
        <p:txBody>
          <a:bodyPr wrap="square" lIns="0" tIns="0" rIns="0" bIns="0" rtlCol="0" anchor="t"/>
          <a:lstStyle/>
          <a:p>
            <a:pPr indent="0" marL="0">
              <a:buNone/>
            </a:pPr>
            <a:r>
              <a:rPr lang="en-US" sz="1600" b="1" dirty="0">
                <a:solidFill>
                  <a:schemeClr val="tx2"/>
                </a:solidFill>
              </a:rPr>
              <a:t>데이터와 정제</a:t>
            </a:r>
            <a:endParaRPr lang="en-US" sz="1600" dirty="0"/>
          </a:p>
        </p:txBody>
      </p:sp>
      <p:sp>
        <p:nvSpPr>
          <p:cNvPr id="10" name="ag_body_1"/>
          <p:cNvSpPr txBox="1"/>
          <p:nvPr/>
        </p:nvSpPr>
        <p:spPr>
          <a:xfrm>
            <a:off x="3520440" y="2103120"/>
            <a:ext cx="2103120" cy="365760"/>
          </a:xfrm>
          <a:prstGeom prst="rect">
            <a:avLst/>
          </a:prstGeom>
          <a:noFill/>
          <a:ln/>
        </p:spPr>
        <p:txBody>
          <a:bodyPr wrap="square" lIns="0" tIns="0" rIns="0" bIns="0" rtlCol="0" anchor="t"/>
          <a:lstStyle/>
          <a:p>
            <a:pPr indent="0" marL="0">
              <a:buNone/>
            </a:pPr>
            <a:r>
              <a:rPr lang="en-US" sz="1200" dirty="0">
                <a:solidFill>
                  <a:schemeClr val="tx1"/>
                </a:solidFill>
              </a:rPr>
              <a:t>출처, 구조, 점검 기준</a:t>
            </a:r>
            <a:endParaRPr lang="en-US" sz="1200" dirty="0"/>
          </a:p>
        </p:txBody>
      </p:sp>
      <p:sp>
        <p:nvSpPr>
          <p:cNvPr id="11" name="ag_card_2"/>
          <p:cNvSpPr/>
          <p:nvPr/>
        </p:nvSpPr>
        <p:spPr>
          <a:xfrm>
            <a:off x="6126480" y="1097280"/>
            <a:ext cx="2560320" cy="1508760"/>
          </a:xfrm>
          <a:prstGeom prst="roundRect">
            <a:avLst>
              <a:gd name="adj" fmla="val 7273"/>
            </a:avLst>
          </a:prstGeom>
          <a:solidFill>
            <a:srgbClr val="EEF2F7"/>
          </a:solidFill>
          <a:ln w="12700">
            <a:solidFill>
              <a:srgbClr val="EEF2F7"/>
            </a:solidFill>
            <a:prstDash val="solid"/>
          </a:ln>
        </p:spPr>
      </p:sp>
      <p:sp>
        <p:nvSpPr>
          <p:cNvPr id="12" name="ag_num_2"/>
          <p:cNvSpPr txBox="1"/>
          <p:nvPr/>
        </p:nvSpPr>
        <p:spPr>
          <a:xfrm>
            <a:off x="6355080" y="1280160"/>
            <a:ext cx="914400" cy="457200"/>
          </a:xfrm>
          <a:prstGeom prst="rect">
            <a:avLst/>
          </a:prstGeom>
          <a:noFill/>
          <a:ln/>
        </p:spPr>
        <p:txBody>
          <a:bodyPr wrap="square" lIns="0" tIns="0" rIns="0" bIns="0" rtlCol="0" anchor="t"/>
          <a:lstStyle/>
          <a:p>
            <a:pPr indent="0" marL="0">
              <a:buNone/>
            </a:pPr>
            <a:r>
              <a:rPr lang="en-US" sz="2400" b="1" dirty="0">
                <a:solidFill>
                  <a:schemeClr val="accent1"/>
                </a:solidFill>
              </a:rPr>
              <a:t>03</a:t>
            </a:r>
            <a:endParaRPr lang="en-US" sz="2400" dirty="0"/>
          </a:p>
        </p:txBody>
      </p:sp>
      <p:sp>
        <p:nvSpPr>
          <p:cNvPr id="13" name="ag_head_2"/>
          <p:cNvSpPr txBox="1"/>
          <p:nvPr/>
        </p:nvSpPr>
        <p:spPr>
          <a:xfrm>
            <a:off x="6355080" y="1755648"/>
            <a:ext cx="2103120" cy="320040"/>
          </a:xfrm>
          <a:prstGeom prst="rect">
            <a:avLst/>
          </a:prstGeom>
          <a:noFill/>
          <a:ln/>
        </p:spPr>
        <p:txBody>
          <a:bodyPr wrap="square" lIns="0" tIns="0" rIns="0" bIns="0" rtlCol="0" anchor="t"/>
          <a:lstStyle/>
          <a:p>
            <a:pPr indent="0" marL="0">
              <a:buNone/>
            </a:pPr>
            <a:r>
              <a:rPr lang="en-US" sz="1600" b="1" dirty="0">
                <a:solidFill>
                  <a:schemeClr val="tx2"/>
                </a:solidFill>
              </a:rPr>
              <a:t>분석 방법</a:t>
            </a:r>
            <a:endParaRPr lang="en-US" sz="1600" dirty="0"/>
          </a:p>
        </p:txBody>
      </p:sp>
      <p:sp>
        <p:nvSpPr>
          <p:cNvPr id="14" name="ag_body_2"/>
          <p:cNvSpPr txBox="1"/>
          <p:nvPr/>
        </p:nvSpPr>
        <p:spPr>
          <a:xfrm>
            <a:off x="6355080" y="2103120"/>
            <a:ext cx="2103120" cy="365760"/>
          </a:xfrm>
          <a:prstGeom prst="rect">
            <a:avLst/>
          </a:prstGeom>
          <a:noFill/>
          <a:ln/>
        </p:spPr>
        <p:txBody>
          <a:bodyPr wrap="square" lIns="0" tIns="0" rIns="0" bIns="0" rtlCol="0" anchor="t"/>
          <a:lstStyle/>
          <a:p>
            <a:pPr indent="0" marL="0">
              <a:buNone/>
            </a:pPr>
            <a:r>
              <a:rPr lang="en-US" sz="1200" dirty="0">
                <a:solidFill>
                  <a:schemeClr val="tx1"/>
                </a:solidFill>
              </a:rPr>
              <a:t>추세·계절성·노이즈 나누기</a:t>
            </a:r>
            <a:endParaRPr lang="en-US" sz="1200" dirty="0"/>
          </a:p>
        </p:txBody>
      </p:sp>
      <p:sp>
        <p:nvSpPr>
          <p:cNvPr id="15" name="ag_card_3"/>
          <p:cNvSpPr/>
          <p:nvPr/>
        </p:nvSpPr>
        <p:spPr>
          <a:xfrm>
            <a:off x="457200" y="2834640"/>
            <a:ext cx="2560320" cy="1508760"/>
          </a:xfrm>
          <a:prstGeom prst="roundRect">
            <a:avLst>
              <a:gd name="adj" fmla="val 7273"/>
            </a:avLst>
          </a:prstGeom>
          <a:solidFill>
            <a:srgbClr val="EEF2F7"/>
          </a:solidFill>
          <a:ln w="12700">
            <a:solidFill>
              <a:srgbClr val="EEF2F7"/>
            </a:solidFill>
            <a:prstDash val="solid"/>
          </a:ln>
        </p:spPr>
      </p:sp>
      <p:sp>
        <p:nvSpPr>
          <p:cNvPr id="16" name="ag_num_3"/>
          <p:cNvSpPr txBox="1"/>
          <p:nvPr/>
        </p:nvSpPr>
        <p:spPr>
          <a:xfrm>
            <a:off x="685800" y="3017520"/>
            <a:ext cx="914400" cy="457200"/>
          </a:xfrm>
          <a:prstGeom prst="rect">
            <a:avLst/>
          </a:prstGeom>
          <a:noFill/>
          <a:ln/>
        </p:spPr>
        <p:txBody>
          <a:bodyPr wrap="square" lIns="0" tIns="0" rIns="0" bIns="0" rtlCol="0" anchor="t"/>
          <a:lstStyle/>
          <a:p>
            <a:pPr indent="0" marL="0">
              <a:buNone/>
            </a:pPr>
            <a:r>
              <a:rPr lang="en-US" sz="2400" b="1" dirty="0">
                <a:solidFill>
                  <a:schemeClr val="accent1"/>
                </a:solidFill>
              </a:rPr>
              <a:t>04</a:t>
            </a:r>
            <a:endParaRPr lang="en-US" sz="2400" dirty="0"/>
          </a:p>
        </p:txBody>
      </p:sp>
      <p:sp>
        <p:nvSpPr>
          <p:cNvPr id="17" name="ag_head_3"/>
          <p:cNvSpPr txBox="1"/>
          <p:nvPr/>
        </p:nvSpPr>
        <p:spPr>
          <a:xfrm>
            <a:off x="685800" y="3493008"/>
            <a:ext cx="2103120" cy="320040"/>
          </a:xfrm>
          <a:prstGeom prst="rect">
            <a:avLst/>
          </a:prstGeom>
          <a:noFill/>
          <a:ln/>
        </p:spPr>
        <p:txBody>
          <a:bodyPr wrap="square" lIns="0" tIns="0" rIns="0" bIns="0" rtlCol="0" anchor="t"/>
          <a:lstStyle/>
          <a:p>
            <a:pPr indent="0" marL="0">
              <a:buNone/>
            </a:pPr>
            <a:r>
              <a:rPr lang="en-US" sz="1600" b="1" dirty="0">
                <a:solidFill>
                  <a:schemeClr val="tx2"/>
                </a:solidFill>
              </a:rPr>
              <a:t>인사이트</a:t>
            </a:r>
            <a:endParaRPr lang="en-US" sz="1600" dirty="0"/>
          </a:p>
        </p:txBody>
      </p:sp>
      <p:sp>
        <p:nvSpPr>
          <p:cNvPr id="18" name="ag_body_3"/>
          <p:cNvSpPr txBox="1"/>
          <p:nvPr/>
        </p:nvSpPr>
        <p:spPr>
          <a:xfrm>
            <a:off x="685800" y="3840480"/>
            <a:ext cx="2103120" cy="365760"/>
          </a:xfrm>
          <a:prstGeom prst="rect">
            <a:avLst/>
          </a:prstGeom>
          <a:noFill/>
          <a:ln/>
        </p:spPr>
        <p:txBody>
          <a:bodyPr wrap="square" lIns="0" tIns="0" rIns="0" bIns="0" rtlCol="0" anchor="t"/>
          <a:lstStyle/>
          <a:p>
            <a:pPr indent="0" marL="0">
              <a:buNone/>
            </a:pPr>
            <a:r>
              <a:rPr lang="en-US" sz="1200" dirty="0">
                <a:solidFill>
                  <a:schemeClr val="tx1"/>
                </a:solidFill>
              </a:rPr>
              <a:t>세 가지 발견과 해석</a:t>
            </a:r>
            <a:endParaRPr lang="en-US" sz="1200" dirty="0"/>
          </a:p>
        </p:txBody>
      </p:sp>
      <p:sp>
        <p:nvSpPr>
          <p:cNvPr id="19" name="ag_card_4"/>
          <p:cNvSpPr/>
          <p:nvPr/>
        </p:nvSpPr>
        <p:spPr>
          <a:xfrm>
            <a:off x="3291840" y="2834640"/>
            <a:ext cx="2560320" cy="1508760"/>
          </a:xfrm>
          <a:prstGeom prst="roundRect">
            <a:avLst>
              <a:gd name="adj" fmla="val 7273"/>
            </a:avLst>
          </a:prstGeom>
          <a:solidFill>
            <a:srgbClr val="EEF2F7"/>
          </a:solidFill>
          <a:ln w="12700">
            <a:solidFill>
              <a:srgbClr val="EEF2F7"/>
            </a:solidFill>
            <a:prstDash val="solid"/>
          </a:ln>
        </p:spPr>
      </p:sp>
      <p:sp>
        <p:nvSpPr>
          <p:cNvPr id="20" name="ag_num_4"/>
          <p:cNvSpPr txBox="1"/>
          <p:nvPr/>
        </p:nvSpPr>
        <p:spPr>
          <a:xfrm>
            <a:off x="3520440" y="3017520"/>
            <a:ext cx="914400" cy="457200"/>
          </a:xfrm>
          <a:prstGeom prst="rect">
            <a:avLst/>
          </a:prstGeom>
          <a:noFill/>
          <a:ln/>
        </p:spPr>
        <p:txBody>
          <a:bodyPr wrap="square" lIns="0" tIns="0" rIns="0" bIns="0" rtlCol="0" anchor="t"/>
          <a:lstStyle/>
          <a:p>
            <a:pPr indent="0" marL="0">
              <a:buNone/>
            </a:pPr>
            <a:r>
              <a:rPr lang="en-US" sz="2400" b="1" dirty="0">
                <a:solidFill>
                  <a:schemeClr val="accent1"/>
                </a:solidFill>
              </a:rPr>
              <a:t>05</a:t>
            </a:r>
            <a:endParaRPr lang="en-US" sz="2400" dirty="0"/>
          </a:p>
        </p:txBody>
      </p:sp>
      <p:sp>
        <p:nvSpPr>
          <p:cNvPr id="21" name="ag_head_4"/>
          <p:cNvSpPr txBox="1"/>
          <p:nvPr/>
        </p:nvSpPr>
        <p:spPr>
          <a:xfrm>
            <a:off x="3520440" y="3493008"/>
            <a:ext cx="2103120" cy="320040"/>
          </a:xfrm>
          <a:prstGeom prst="rect">
            <a:avLst/>
          </a:prstGeom>
          <a:noFill/>
          <a:ln/>
        </p:spPr>
        <p:txBody>
          <a:bodyPr wrap="square" lIns="0" tIns="0" rIns="0" bIns="0" rtlCol="0" anchor="t"/>
          <a:lstStyle/>
          <a:p>
            <a:pPr indent="0" marL="0">
              <a:buNone/>
            </a:pPr>
            <a:r>
              <a:rPr lang="en-US" sz="1600" b="1" dirty="0">
                <a:solidFill>
                  <a:schemeClr val="tx2"/>
                </a:solidFill>
              </a:rPr>
              <a:t>보너스</a:t>
            </a:r>
            <a:endParaRPr lang="en-US" sz="1600" dirty="0"/>
          </a:p>
        </p:txBody>
      </p:sp>
      <p:sp>
        <p:nvSpPr>
          <p:cNvPr id="22" name="ag_body_4"/>
          <p:cNvSpPr txBox="1"/>
          <p:nvPr/>
        </p:nvSpPr>
        <p:spPr>
          <a:xfrm>
            <a:off x="3520440" y="3840480"/>
            <a:ext cx="2103120" cy="365760"/>
          </a:xfrm>
          <a:prstGeom prst="rect">
            <a:avLst/>
          </a:prstGeom>
          <a:noFill/>
          <a:ln/>
        </p:spPr>
        <p:txBody>
          <a:bodyPr wrap="square" lIns="0" tIns="0" rIns="0" bIns="0" rtlCol="0" anchor="t"/>
          <a:lstStyle/>
          <a:p>
            <a:pPr indent="0" marL="0">
              <a:buNone/>
            </a:pPr>
            <a:r>
              <a:rPr lang="en-US" sz="1200" dirty="0">
                <a:solidFill>
                  <a:schemeClr val="tx1"/>
                </a:solidFill>
              </a:rPr>
              <a:t>분해, 예측, 대시보드</a:t>
            </a:r>
            <a:endParaRPr lang="en-US" sz="1200" dirty="0"/>
          </a:p>
        </p:txBody>
      </p:sp>
      <p:sp>
        <p:nvSpPr>
          <p:cNvPr id="23" name="ag_card_5"/>
          <p:cNvSpPr/>
          <p:nvPr/>
        </p:nvSpPr>
        <p:spPr>
          <a:xfrm>
            <a:off x="6126480" y="2834640"/>
            <a:ext cx="2560320" cy="1508760"/>
          </a:xfrm>
          <a:prstGeom prst="roundRect">
            <a:avLst>
              <a:gd name="adj" fmla="val 7273"/>
            </a:avLst>
          </a:prstGeom>
          <a:solidFill>
            <a:srgbClr val="EEF2F7"/>
          </a:solidFill>
          <a:ln w="12700">
            <a:solidFill>
              <a:srgbClr val="EEF2F7"/>
            </a:solidFill>
            <a:prstDash val="solid"/>
          </a:ln>
        </p:spPr>
      </p:sp>
      <p:sp>
        <p:nvSpPr>
          <p:cNvPr id="24" name="ag_num_5"/>
          <p:cNvSpPr txBox="1"/>
          <p:nvPr/>
        </p:nvSpPr>
        <p:spPr>
          <a:xfrm>
            <a:off x="6355080" y="3017520"/>
            <a:ext cx="914400" cy="457200"/>
          </a:xfrm>
          <a:prstGeom prst="rect">
            <a:avLst/>
          </a:prstGeom>
          <a:noFill/>
          <a:ln/>
        </p:spPr>
        <p:txBody>
          <a:bodyPr wrap="square" lIns="0" tIns="0" rIns="0" bIns="0" rtlCol="0" anchor="t"/>
          <a:lstStyle/>
          <a:p>
            <a:pPr indent="0" marL="0">
              <a:buNone/>
            </a:pPr>
            <a:r>
              <a:rPr lang="en-US" sz="2400" b="1" dirty="0">
                <a:solidFill>
                  <a:schemeClr val="accent1"/>
                </a:solidFill>
              </a:rPr>
              <a:t>06</a:t>
            </a:r>
            <a:endParaRPr lang="en-US" sz="2400" dirty="0"/>
          </a:p>
        </p:txBody>
      </p:sp>
      <p:sp>
        <p:nvSpPr>
          <p:cNvPr id="25" name="ag_head_5"/>
          <p:cNvSpPr txBox="1"/>
          <p:nvPr/>
        </p:nvSpPr>
        <p:spPr>
          <a:xfrm>
            <a:off x="6355080" y="3493008"/>
            <a:ext cx="2103120" cy="320040"/>
          </a:xfrm>
          <a:prstGeom prst="rect">
            <a:avLst/>
          </a:prstGeom>
          <a:noFill/>
          <a:ln/>
        </p:spPr>
        <p:txBody>
          <a:bodyPr wrap="square" lIns="0" tIns="0" rIns="0" bIns="0" rtlCol="0" anchor="t"/>
          <a:lstStyle/>
          <a:p>
            <a:pPr indent="0" marL="0">
              <a:buNone/>
            </a:pPr>
            <a:r>
              <a:rPr lang="en-US" sz="1600" b="1" dirty="0">
                <a:solidFill>
                  <a:schemeClr val="tx2"/>
                </a:solidFill>
              </a:rPr>
              <a:t>마무리</a:t>
            </a:r>
            <a:endParaRPr lang="en-US" sz="1600" dirty="0"/>
          </a:p>
        </p:txBody>
      </p:sp>
      <p:sp>
        <p:nvSpPr>
          <p:cNvPr id="26" name="ag_body_5"/>
          <p:cNvSpPr txBox="1"/>
          <p:nvPr/>
        </p:nvSpPr>
        <p:spPr>
          <a:xfrm>
            <a:off x="6355080" y="3840480"/>
            <a:ext cx="2103120" cy="365760"/>
          </a:xfrm>
          <a:prstGeom prst="rect">
            <a:avLst/>
          </a:prstGeom>
          <a:noFill/>
          <a:ln/>
        </p:spPr>
        <p:txBody>
          <a:bodyPr wrap="square" lIns="0" tIns="0" rIns="0" bIns="0" rtlCol="0" anchor="t"/>
          <a:lstStyle/>
          <a:p>
            <a:pPr indent="0" marL="0">
              <a:buNone/>
            </a:pPr>
            <a:r>
              <a:rPr lang="en-US" sz="1200" dirty="0">
                <a:solidFill>
                  <a:schemeClr val="tx1"/>
                </a:solidFill>
              </a:rPr>
              <a:t>결론, 한계, AI 검증</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핵심 결론 세 가지</a:t>
            </a:r>
            <a:endParaRPr lang="en-US" sz="2400" dirty="0"/>
          </a:p>
        </p:txBody>
      </p:sp>
      <p:sp>
        <p:nvSpPr>
          <p:cNvPr id="3" name="st_card_0"/>
          <p:cNvSpPr/>
          <p:nvPr/>
        </p:nvSpPr>
        <p:spPr>
          <a:xfrm>
            <a:off x="457200" y="1097280"/>
            <a:ext cx="2560320" cy="3383280"/>
          </a:xfrm>
          <a:prstGeom prst="roundRect">
            <a:avLst>
              <a:gd name="adj" fmla="val 4286"/>
            </a:avLst>
          </a:prstGeom>
          <a:solidFill>
            <a:srgbClr val="EEF2F7"/>
          </a:solidFill>
          <a:ln w="12700">
            <a:solidFill>
              <a:srgbClr val="EEF2F7"/>
            </a:solidFill>
            <a:prstDash val="solid"/>
          </a:ln>
        </p:spPr>
      </p:sp>
      <p:sp>
        <p:nvSpPr>
          <p:cNvPr id="4" name="st_icon_0_bg"/>
          <p:cNvSpPr/>
          <p:nvPr/>
        </p:nvSpPr>
        <p:spPr>
          <a:xfrm>
            <a:off x="731520" y="1325880"/>
            <a:ext cx="548640" cy="548640"/>
          </a:xfrm>
          <a:prstGeom prst="ellipse">
            <a:avLst/>
          </a:prstGeom>
          <a:solidFill>
            <a:srgbClr val="E4572E"/>
          </a:solidFill>
          <a:ln w="12700">
            <a:solidFill>
              <a:srgbClr val="E4572E"/>
            </a:solidFill>
            <a:prstDash val="solid"/>
          </a:ln>
        </p:spPr>
      </p:sp>
      <p:pic>
        <p:nvPicPr>
          <p:cNvPr id="5" name="st_icon_0" descr="preencoded.png">    </p:cNvPr>
          <p:cNvPicPr>
            <a:picLocks noChangeAspect="1"/>
          </p:cNvPicPr>
          <p:nvPr/>
        </p:nvPicPr>
        <p:blipFill>
          <a:blip r:embed="rId1"/>
          <a:stretch>
            <a:fillRect/>
          </a:stretch>
        </p:blipFill>
        <p:spPr>
          <a:xfrm>
            <a:off x="863194" y="1457554"/>
            <a:ext cx="285293" cy="285293"/>
          </a:xfrm>
          <a:prstGeom prst="rect">
            <a:avLst/>
          </a:prstGeom>
        </p:spPr>
      </p:pic>
      <p:sp>
        <p:nvSpPr>
          <p:cNvPr id="6" name="st_big_0"/>
          <p:cNvSpPr txBox="1"/>
          <p:nvPr/>
        </p:nvSpPr>
        <p:spPr>
          <a:xfrm>
            <a:off x="731520" y="2011680"/>
            <a:ext cx="2103120" cy="731520"/>
          </a:xfrm>
          <a:prstGeom prst="rect">
            <a:avLst/>
          </a:prstGeom>
          <a:noFill/>
          <a:ln/>
        </p:spPr>
        <p:txBody>
          <a:bodyPr wrap="square" lIns="0" tIns="0" rIns="0" bIns="0" rtlCol="0" anchor="ctr"/>
          <a:lstStyle/>
          <a:p>
            <a:pPr indent="0" marL="0">
              <a:buNone/>
            </a:pPr>
            <a:r>
              <a:rPr lang="en-US" sz="3200" b="1" dirty="0">
                <a:solidFill>
                  <a:srgbClr val="E4572E"/>
                </a:solidFill>
              </a:rPr>
              <a:t>+2.21℃</a:t>
            </a:r>
            <a:endParaRPr lang="en-US" sz="3200" dirty="0"/>
          </a:p>
        </p:txBody>
      </p:sp>
      <p:sp>
        <p:nvSpPr>
          <p:cNvPr id="7" name="st_label_0"/>
          <p:cNvSpPr txBox="1"/>
          <p:nvPr/>
        </p:nvSpPr>
        <p:spPr>
          <a:xfrm>
            <a:off x="731520" y="2788920"/>
            <a:ext cx="2103120" cy="822960"/>
          </a:xfrm>
          <a:prstGeom prst="rect">
            <a:avLst/>
          </a:prstGeom>
          <a:noFill/>
          <a:ln/>
        </p:spPr>
        <p:txBody>
          <a:bodyPr wrap="square" lIns="0" tIns="0" rIns="0" bIns="0" rtlCol="0" anchor="t"/>
          <a:lstStyle/>
          <a:p>
            <a:pPr indent="0" marL="0">
              <a:buNone/>
            </a:pPr>
            <a:r>
              <a:rPr lang="en-US" sz="1500" b="1" dirty="0">
                <a:solidFill>
                  <a:schemeClr val="tx2"/>
                </a:solidFill>
              </a:rPr>
              <a:t>여름(6~8월) 평균이</a:t>
            </a:r>
            <a:endParaRPr lang="en-US" sz="1500" dirty="0"/>
          </a:p>
          <a:p>
            <a:pPr indent="0" marL="0">
              <a:buNone/>
            </a:pPr>
            <a:r>
              <a:rPr lang="en-US" sz="1500" b="1" dirty="0">
                <a:solidFill>
                  <a:schemeClr val="tx2"/>
                </a:solidFill>
              </a:rPr>
              <a:t>6년간 매년 상승</a:t>
            </a:r>
            <a:endParaRPr lang="en-US" sz="1500" dirty="0"/>
          </a:p>
        </p:txBody>
      </p:sp>
      <p:sp>
        <p:nvSpPr>
          <p:cNvPr id="8" name="st_sub_0"/>
          <p:cNvSpPr txBox="1"/>
          <p:nvPr/>
        </p:nvSpPr>
        <p:spPr>
          <a:xfrm>
            <a:off x="731520" y="3749040"/>
            <a:ext cx="2103120" cy="457200"/>
          </a:xfrm>
          <a:prstGeom prst="rect">
            <a:avLst/>
          </a:prstGeom>
          <a:noFill/>
          <a:ln/>
        </p:spPr>
        <p:txBody>
          <a:bodyPr wrap="square" lIns="0" tIns="0" rIns="0" bIns="0" rtlCol="0" anchor="t"/>
          <a:lstStyle/>
          <a:p>
            <a:pPr indent="0" marL="0">
              <a:buNone/>
            </a:pPr>
            <a:r>
              <a:rPr lang="en-US" sz="1200" dirty="0">
                <a:solidFill>
                  <a:schemeClr val="tx1"/>
                </a:solidFill>
              </a:rPr>
              <a:t>23.68℃ → 25.89℃</a:t>
            </a:r>
            <a:endParaRPr lang="en-US" sz="1200" dirty="0"/>
          </a:p>
        </p:txBody>
      </p:sp>
      <p:sp>
        <p:nvSpPr>
          <p:cNvPr id="9" name="st_card_1"/>
          <p:cNvSpPr/>
          <p:nvPr/>
        </p:nvSpPr>
        <p:spPr>
          <a:xfrm>
            <a:off x="3291840" y="1097280"/>
            <a:ext cx="2560320" cy="3383280"/>
          </a:xfrm>
          <a:prstGeom prst="roundRect">
            <a:avLst>
              <a:gd name="adj" fmla="val 4286"/>
            </a:avLst>
          </a:prstGeom>
          <a:solidFill>
            <a:srgbClr val="EEF2F7"/>
          </a:solidFill>
          <a:ln w="12700">
            <a:solidFill>
              <a:srgbClr val="EEF2F7"/>
            </a:solidFill>
            <a:prstDash val="solid"/>
          </a:ln>
        </p:spPr>
      </p:sp>
      <p:sp>
        <p:nvSpPr>
          <p:cNvPr id="10" name="st_icon_1_bg"/>
          <p:cNvSpPr/>
          <p:nvPr/>
        </p:nvSpPr>
        <p:spPr>
          <a:xfrm>
            <a:off x="3566160" y="1325880"/>
            <a:ext cx="548640" cy="548640"/>
          </a:xfrm>
          <a:prstGeom prst="ellipse">
            <a:avLst/>
          </a:prstGeom>
          <a:solidFill>
            <a:srgbClr val="2E86AB"/>
          </a:solidFill>
          <a:ln w="12700">
            <a:solidFill>
              <a:srgbClr val="2E86AB"/>
            </a:solidFill>
            <a:prstDash val="solid"/>
          </a:ln>
        </p:spPr>
      </p:sp>
      <p:pic>
        <p:nvPicPr>
          <p:cNvPr id="11" name="st_icon_1" descr="preencoded.png">    </p:cNvPr>
          <p:cNvPicPr>
            <a:picLocks noChangeAspect="1"/>
          </p:cNvPicPr>
          <p:nvPr/>
        </p:nvPicPr>
        <p:blipFill>
          <a:blip r:embed="rId2"/>
          <a:stretch>
            <a:fillRect/>
          </a:stretch>
        </p:blipFill>
        <p:spPr>
          <a:xfrm>
            <a:off x="3697834" y="1457554"/>
            <a:ext cx="285293" cy="285293"/>
          </a:xfrm>
          <a:prstGeom prst="rect">
            <a:avLst/>
          </a:prstGeom>
        </p:spPr>
      </p:pic>
      <p:sp>
        <p:nvSpPr>
          <p:cNvPr id="12" name="st_big_1"/>
          <p:cNvSpPr txBox="1"/>
          <p:nvPr/>
        </p:nvSpPr>
        <p:spPr>
          <a:xfrm>
            <a:off x="3566160" y="2011680"/>
            <a:ext cx="2103120" cy="731520"/>
          </a:xfrm>
          <a:prstGeom prst="rect">
            <a:avLst/>
          </a:prstGeom>
          <a:noFill/>
          <a:ln/>
        </p:spPr>
        <p:txBody>
          <a:bodyPr wrap="square" lIns="0" tIns="0" rIns="0" bIns="0" rtlCol="0" anchor="ctr"/>
          <a:lstStyle/>
          <a:p>
            <a:pPr indent="0" marL="0">
              <a:buNone/>
            </a:pPr>
            <a:r>
              <a:rPr lang="en-US" sz="3200" b="1" dirty="0">
                <a:solidFill>
                  <a:srgbClr val="2E86AB"/>
                </a:solidFill>
              </a:rPr>
              <a:t>약 2배</a:t>
            </a:r>
            <a:endParaRPr lang="en-US" sz="3200" dirty="0"/>
          </a:p>
        </p:txBody>
      </p:sp>
      <p:sp>
        <p:nvSpPr>
          <p:cNvPr id="13" name="st_label_1"/>
          <p:cNvSpPr txBox="1"/>
          <p:nvPr/>
        </p:nvSpPr>
        <p:spPr>
          <a:xfrm>
            <a:off x="3566160" y="2788920"/>
            <a:ext cx="2103120" cy="822960"/>
          </a:xfrm>
          <a:prstGeom prst="rect">
            <a:avLst/>
          </a:prstGeom>
          <a:noFill/>
          <a:ln/>
        </p:spPr>
        <p:txBody>
          <a:bodyPr wrap="square" lIns="0" tIns="0" rIns="0" bIns="0" rtlCol="0" anchor="t"/>
          <a:lstStyle/>
          <a:p>
            <a:pPr indent="0" marL="0">
              <a:buNone/>
            </a:pPr>
            <a:r>
              <a:rPr lang="en-US" sz="1500" b="1" dirty="0">
                <a:solidFill>
                  <a:schemeClr val="tx2"/>
                </a:solidFill>
              </a:rPr>
              <a:t>11~12월 기온 변동성이</a:t>
            </a:r>
            <a:endParaRPr lang="en-US" sz="1500" dirty="0"/>
          </a:p>
          <a:p>
            <a:pPr indent="0" marL="0">
              <a:buNone/>
            </a:pPr>
            <a:r>
              <a:rPr lang="en-US" sz="1500" b="1" dirty="0">
                <a:solidFill>
                  <a:schemeClr val="tx2"/>
                </a:solidFill>
              </a:rPr>
              <a:t>여름보다 큼</a:t>
            </a:r>
            <a:endParaRPr lang="en-US" sz="1500" dirty="0"/>
          </a:p>
        </p:txBody>
      </p:sp>
      <p:sp>
        <p:nvSpPr>
          <p:cNvPr id="14" name="st_sub_1"/>
          <p:cNvSpPr txBox="1"/>
          <p:nvPr/>
        </p:nvSpPr>
        <p:spPr>
          <a:xfrm>
            <a:off x="3566160" y="3749040"/>
            <a:ext cx="2103120" cy="457200"/>
          </a:xfrm>
          <a:prstGeom prst="rect">
            <a:avLst/>
          </a:prstGeom>
          <a:noFill/>
          <a:ln/>
        </p:spPr>
        <p:txBody>
          <a:bodyPr wrap="square" lIns="0" tIns="0" rIns="0" bIns="0" rtlCol="0" anchor="t"/>
          <a:lstStyle/>
          <a:p>
            <a:pPr indent="0" marL="0">
              <a:buNone/>
            </a:pPr>
            <a:r>
              <a:rPr lang="en-US" sz="1200" dirty="0">
                <a:solidFill>
                  <a:schemeClr val="tx1"/>
                </a:solidFill>
              </a:rPr>
              <a:t>표준편차 3.97℃ vs 2.00℃</a:t>
            </a:r>
            <a:endParaRPr lang="en-US" sz="1200" dirty="0"/>
          </a:p>
        </p:txBody>
      </p:sp>
      <p:sp>
        <p:nvSpPr>
          <p:cNvPr id="15" name="st_card_2"/>
          <p:cNvSpPr/>
          <p:nvPr/>
        </p:nvSpPr>
        <p:spPr>
          <a:xfrm>
            <a:off x="6126480" y="1097280"/>
            <a:ext cx="2560320" cy="3383280"/>
          </a:xfrm>
          <a:prstGeom prst="roundRect">
            <a:avLst>
              <a:gd name="adj" fmla="val 4286"/>
            </a:avLst>
          </a:prstGeom>
          <a:solidFill>
            <a:srgbClr val="EEF2F7"/>
          </a:solidFill>
          <a:ln w="12700">
            <a:solidFill>
              <a:srgbClr val="EEF2F7"/>
            </a:solidFill>
            <a:prstDash val="solid"/>
          </a:ln>
        </p:spPr>
      </p:sp>
      <p:sp>
        <p:nvSpPr>
          <p:cNvPr id="16" name="st_icon_2_bg"/>
          <p:cNvSpPr/>
          <p:nvPr/>
        </p:nvSpPr>
        <p:spPr>
          <a:xfrm>
            <a:off x="6400800" y="1325880"/>
            <a:ext cx="548640" cy="548640"/>
          </a:xfrm>
          <a:prstGeom prst="ellipse">
            <a:avLst/>
          </a:prstGeom>
          <a:solidFill>
            <a:srgbClr val="F4A259"/>
          </a:solidFill>
          <a:ln w="12700">
            <a:solidFill>
              <a:srgbClr val="F4A259"/>
            </a:solidFill>
            <a:prstDash val="solid"/>
          </a:ln>
        </p:spPr>
      </p:sp>
      <p:pic>
        <p:nvPicPr>
          <p:cNvPr id="17" name="st_icon_2" descr="preencoded.png">    </p:cNvPr>
          <p:cNvPicPr>
            <a:picLocks noChangeAspect="1"/>
          </p:cNvPicPr>
          <p:nvPr/>
        </p:nvPicPr>
        <p:blipFill>
          <a:blip r:embed="rId3"/>
          <a:stretch>
            <a:fillRect/>
          </a:stretch>
        </p:blipFill>
        <p:spPr>
          <a:xfrm>
            <a:off x="6532474" y="1457554"/>
            <a:ext cx="285293" cy="285293"/>
          </a:xfrm>
          <a:prstGeom prst="rect">
            <a:avLst/>
          </a:prstGeom>
        </p:spPr>
      </p:pic>
      <p:sp>
        <p:nvSpPr>
          <p:cNvPr id="18" name="st_big_2"/>
          <p:cNvSpPr txBox="1"/>
          <p:nvPr/>
        </p:nvSpPr>
        <p:spPr>
          <a:xfrm>
            <a:off x="6400800" y="2011680"/>
            <a:ext cx="2103120" cy="731520"/>
          </a:xfrm>
          <a:prstGeom prst="rect">
            <a:avLst/>
          </a:prstGeom>
          <a:noFill/>
          <a:ln/>
        </p:spPr>
        <p:txBody>
          <a:bodyPr wrap="square" lIns="0" tIns="0" rIns="0" bIns="0" rtlCol="0" anchor="ctr"/>
          <a:lstStyle/>
          <a:p>
            <a:pPr indent="0" marL="0">
              <a:buNone/>
            </a:pPr>
            <a:r>
              <a:rPr lang="en-US" sz="3200" b="1" dirty="0">
                <a:solidFill>
                  <a:srgbClr val="F4A259"/>
                </a:solidFill>
              </a:rPr>
              <a:t>37일 전부</a:t>
            </a:r>
            <a:endParaRPr lang="en-US" sz="3200" dirty="0"/>
          </a:p>
        </p:txBody>
      </p:sp>
      <p:sp>
        <p:nvSpPr>
          <p:cNvPr id="19" name="st_label_2"/>
          <p:cNvSpPr txBox="1"/>
          <p:nvPr/>
        </p:nvSpPr>
        <p:spPr>
          <a:xfrm>
            <a:off x="6400800" y="2788920"/>
            <a:ext cx="2103120" cy="822960"/>
          </a:xfrm>
          <a:prstGeom prst="rect">
            <a:avLst/>
          </a:prstGeom>
          <a:noFill/>
          <a:ln/>
        </p:spPr>
        <p:txBody>
          <a:bodyPr wrap="square" lIns="0" tIns="0" rIns="0" bIns="0" rtlCol="0" anchor="t"/>
          <a:lstStyle/>
          <a:p>
            <a:pPr indent="0" marL="0">
              <a:buNone/>
            </a:pPr>
            <a:r>
              <a:rPr lang="en-US" sz="1500" b="1" dirty="0">
                <a:solidFill>
                  <a:schemeClr val="tx2"/>
                </a:solidFill>
              </a:rPr>
              <a:t>하루 ±6.2℃ 급변은</a:t>
            </a:r>
            <a:endParaRPr lang="en-US" sz="1500" dirty="0"/>
          </a:p>
          <a:p>
            <a:pPr indent="0" marL="0">
              <a:buNone/>
            </a:pPr>
            <a:r>
              <a:rPr lang="en-US" sz="1500" b="1" dirty="0">
                <a:solidFill>
                  <a:schemeClr val="tx2"/>
                </a:solidFill>
              </a:rPr>
              <a:t>모두 10~3월에 발생</a:t>
            </a:r>
            <a:endParaRPr lang="en-US" sz="1500" dirty="0"/>
          </a:p>
        </p:txBody>
      </p:sp>
      <p:sp>
        <p:nvSpPr>
          <p:cNvPr id="20" name="st_sub_2"/>
          <p:cNvSpPr txBox="1"/>
          <p:nvPr/>
        </p:nvSpPr>
        <p:spPr>
          <a:xfrm>
            <a:off x="6400800" y="3749040"/>
            <a:ext cx="2103120" cy="457200"/>
          </a:xfrm>
          <a:prstGeom prst="rect">
            <a:avLst/>
          </a:prstGeom>
          <a:noFill/>
          <a:ln/>
        </p:spPr>
        <p:txBody>
          <a:bodyPr wrap="square" lIns="0" tIns="0" rIns="0" bIns="0" rtlCol="0" anchor="t"/>
          <a:lstStyle/>
          <a:p>
            <a:pPr indent="0" marL="0">
              <a:buNone/>
            </a:pPr>
            <a:r>
              <a:rPr lang="en-US" sz="1200" dirty="0">
                <a:solidFill>
                  <a:schemeClr val="tx1"/>
                </a:solidFill>
              </a:rPr>
              <a:t>그중 29일이 급하강</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왜 부산 기온을, 어떤 목표로 분석했나</a:t>
            </a:r>
            <a:endParaRPr lang="en-US" sz="2400" dirty="0"/>
          </a:p>
        </p:txBody>
      </p:sp>
      <p:sp>
        <p:nvSpPr>
          <p:cNvPr id="3" name="why_card"/>
          <p:cNvSpPr/>
          <p:nvPr/>
        </p:nvSpPr>
        <p:spPr>
          <a:xfrm>
            <a:off x="457200" y="1051560"/>
            <a:ext cx="3931920" cy="3474720"/>
          </a:xfrm>
          <a:prstGeom prst="roundRect">
            <a:avLst>
              <a:gd name="adj" fmla="val 3158"/>
            </a:avLst>
          </a:prstGeom>
          <a:solidFill>
            <a:srgbClr val="EEF2F7"/>
          </a:solidFill>
          <a:ln w="12700">
            <a:solidFill>
              <a:srgbClr val="EEF2F7"/>
            </a:solidFill>
            <a:prstDash val="solid"/>
          </a:ln>
        </p:spPr>
      </p:sp>
      <p:sp>
        <p:nvSpPr>
          <p:cNvPr id="4" name="why_icon_bg"/>
          <p:cNvSpPr/>
          <p:nvPr/>
        </p:nvSpPr>
        <p:spPr>
          <a:xfrm>
            <a:off x="685800" y="1261872"/>
            <a:ext cx="502920" cy="502920"/>
          </a:xfrm>
          <a:prstGeom prst="ellipse">
            <a:avLst/>
          </a:prstGeom>
          <a:solidFill>
            <a:srgbClr val="E4572E"/>
          </a:solidFill>
          <a:ln w="12700">
            <a:solidFill>
              <a:srgbClr val="E4572E"/>
            </a:solidFill>
            <a:prstDash val="solid"/>
          </a:ln>
        </p:spPr>
      </p:sp>
      <p:pic>
        <p:nvPicPr>
          <p:cNvPr id="5" name="why_icon" descr="preencoded.png">    </p:cNvPr>
          <p:cNvPicPr>
            <a:picLocks noChangeAspect="1"/>
          </p:cNvPicPr>
          <p:nvPr/>
        </p:nvPicPr>
        <p:blipFill>
          <a:blip r:embed="rId1"/>
          <a:stretch>
            <a:fillRect/>
          </a:stretch>
        </p:blipFill>
        <p:spPr>
          <a:xfrm>
            <a:off x="806501" y="1382573"/>
            <a:ext cx="261518" cy="261518"/>
          </a:xfrm>
          <a:prstGeom prst="rect">
            <a:avLst/>
          </a:prstGeom>
        </p:spPr>
      </p:pic>
      <p:sp>
        <p:nvSpPr>
          <p:cNvPr id="6" name="why_head"/>
          <p:cNvSpPr txBox="1"/>
          <p:nvPr/>
        </p:nvSpPr>
        <p:spPr>
          <a:xfrm>
            <a:off x="1325880" y="1280160"/>
            <a:ext cx="2926080" cy="457200"/>
          </a:xfrm>
          <a:prstGeom prst="rect">
            <a:avLst/>
          </a:prstGeom>
          <a:noFill/>
          <a:ln/>
        </p:spPr>
        <p:txBody>
          <a:bodyPr wrap="square" lIns="0" tIns="0" rIns="0" bIns="0" rtlCol="0" anchor="ctr"/>
          <a:lstStyle/>
          <a:p>
            <a:pPr indent="0" marL="0">
              <a:buNone/>
            </a:pPr>
            <a:r>
              <a:rPr lang="en-US" sz="1700" b="1" dirty="0">
                <a:solidFill>
                  <a:schemeClr val="tx2"/>
                </a:solidFill>
              </a:rPr>
              <a:t>주제 선정 이유</a:t>
            </a:r>
            <a:endParaRPr lang="en-US" sz="1700" dirty="0"/>
          </a:p>
        </p:txBody>
      </p:sp>
      <p:sp>
        <p:nvSpPr>
          <p:cNvPr id="7" name="why_body"/>
          <p:cNvSpPr txBox="1"/>
          <p:nvPr/>
        </p:nvSpPr>
        <p:spPr>
          <a:xfrm>
            <a:off x="685800" y="1965960"/>
            <a:ext cx="352044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매일 체감하는 데이터라 결과를 경험과 대조해 검증하기 쉽다</a:t>
            </a:r>
            <a:endParaRPr lang="en-US" sz="1300" dirty="0"/>
          </a:p>
          <a:p>
            <a:pPr marL="342900" indent="-342900">
              <a:spcAft>
                <a:spcPts val="800"/>
              </a:spcAft>
              <a:buSzPct val="100000"/>
              <a:buChar char="•"/>
            </a:pPr>
            <a:r>
              <a:rPr lang="en-US" sz="1300" dirty="0">
                <a:solidFill>
                  <a:schemeClr val="tx1"/>
                </a:solidFill>
              </a:rPr>
              <a:t>'요즘 겨울은 들쭉날쭉', '해마다 더워진다'는 체감이 데이터로도 맞는지 확인하고 싶었다</a:t>
            </a:r>
            <a:endParaRPr lang="en-US" sz="1300" dirty="0"/>
          </a:p>
          <a:p>
            <a:pPr marL="342900" indent="-342900">
              <a:spcAft>
                <a:spcPts val="800"/>
              </a:spcAft>
              <a:buSzPct val="100000"/>
              <a:buChar char="•"/>
            </a:pPr>
            <a:r>
              <a:rPr lang="en-US" sz="1300" dirty="0">
                <a:solidFill>
                  <a:schemeClr val="tx1"/>
                </a:solidFill>
              </a:rPr>
              <a:t>일별 2,192개로 시계열 분석에 충분한 양</a:t>
            </a:r>
            <a:endParaRPr lang="en-US" sz="1300" dirty="0"/>
          </a:p>
        </p:txBody>
      </p:sp>
      <p:sp>
        <p:nvSpPr>
          <p:cNvPr id="8" name="goal_card"/>
          <p:cNvSpPr/>
          <p:nvPr/>
        </p:nvSpPr>
        <p:spPr>
          <a:xfrm>
            <a:off x="4754880" y="1051560"/>
            <a:ext cx="3931920" cy="3474720"/>
          </a:xfrm>
          <a:prstGeom prst="roundRect">
            <a:avLst>
              <a:gd name="adj" fmla="val 3158"/>
            </a:avLst>
          </a:prstGeom>
          <a:solidFill>
            <a:srgbClr val="EEF2F7"/>
          </a:solidFill>
          <a:ln w="12700">
            <a:solidFill>
              <a:srgbClr val="EEF2F7"/>
            </a:solidFill>
            <a:prstDash val="solid"/>
          </a:ln>
        </p:spPr>
      </p:sp>
      <p:sp>
        <p:nvSpPr>
          <p:cNvPr id="9" name="goal_icon_bg"/>
          <p:cNvSpPr/>
          <p:nvPr/>
        </p:nvSpPr>
        <p:spPr>
          <a:xfrm>
            <a:off x="4983480" y="1261872"/>
            <a:ext cx="502920" cy="502920"/>
          </a:xfrm>
          <a:prstGeom prst="ellipse">
            <a:avLst/>
          </a:prstGeom>
          <a:solidFill>
            <a:srgbClr val="2E86AB"/>
          </a:solidFill>
          <a:ln w="12700">
            <a:solidFill>
              <a:srgbClr val="2E86AB"/>
            </a:solidFill>
            <a:prstDash val="solid"/>
          </a:ln>
        </p:spPr>
      </p:sp>
      <p:pic>
        <p:nvPicPr>
          <p:cNvPr id="10" name="goal_icon" descr="preencoded.png">    </p:cNvPr>
          <p:cNvPicPr>
            <a:picLocks noChangeAspect="1"/>
          </p:cNvPicPr>
          <p:nvPr/>
        </p:nvPicPr>
        <p:blipFill>
          <a:blip r:embed="rId2"/>
          <a:stretch>
            <a:fillRect/>
          </a:stretch>
        </p:blipFill>
        <p:spPr>
          <a:xfrm>
            <a:off x="5104181" y="1382573"/>
            <a:ext cx="261518" cy="261518"/>
          </a:xfrm>
          <a:prstGeom prst="rect">
            <a:avLst/>
          </a:prstGeom>
        </p:spPr>
      </p:pic>
      <p:sp>
        <p:nvSpPr>
          <p:cNvPr id="11" name="goal_head"/>
          <p:cNvSpPr txBox="1"/>
          <p:nvPr/>
        </p:nvSpPr>
        <p:spPr>
          <a:xfrm>
            <a:off x="5623560" y="1280160"/>
            <a:ext cx="2926080" cy="457200"/>
          </a:xfrm>
          <a:prstGeom prst="rect">
            <a:avLst/>
          </a:prstGeom>
          <a:noFill/>
          <a:ln/>
        </p:spPr>
        <p:txBody>
          <a:bodyPr wrap="square" lIns="0" tIns="0" rIns="0" bIns="0" rtlCol="0" anchor="ctr"/>
          <a:lstStyle/>
          <a:p>
            <a:pPr indent="0" marL="0">
              <a:buNone/>
            </a:pPr>
            <a:r>
              <a:rPr lang="en-US" sz="1700" b="1" dirty="0">
                <a:solidFill>
                  <a:schemeClr val="tx2"/>
                </a:solidFill>
              </a:rPr>
              <a:t>미션 목표와 대응</a:t>
            </a:r>
            <a:endParaRPr lang="en-US" sz="1700" dirty="0"/>
          </a:p>
        </p:txBody>
      </p:sp>
      <p:sp>
        <p:nvSpPr>
          <p:cNvPr id="12" name="goal_body"/>
          <p:cNvSpPr txBox="1"/>
          <p:nvPr/>
        </p:nvSpPr>
        <p:spPr>
          <a:xfrm>
            <a:off x="4983480" y="1965960"/>
            <a:ext cx="35204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질문 3개 이상 정의 → 5장</a:t>
            </a:r>
            <a:endParaRPr lang="en-US" sz="1300" dirty="0"/>
          </a:p>
          <a:p>
            <a:pPr marL="342900" indent="-342900">
              <a:spcAft>
                <a:spcPts val="600"/>
              </a:spcAft>
              <a:buSzPct val="100000"/>
              <a:buChar char="•"/>
            </a:pPr>
            <a:r>
              <a:rPr lang="en-US" sz="1300" dirty="0">
                <a:solidFill>
                  <a:schemeClr val="tx1"/>
                </a:solidFill>
              </a:rPr>
              <a:t>결측·이상치 기준 설명 → 10~11장</a:t>
            </a:r>
            <a:endParaRPr lang="en-US" sz="1300" dirty="0"/>
          </a:p>
          <a:p>
            <a:pPr marL="342900" indent="-342900">
              <a:spcAft>
                <a:spcPts val="600"/>
              </a:spcAft>
              <a:buSzPct val="100000"/>
              <a:buChar char="•"/>
            </a:pPr>
            <a:r>
              <a:rPr lang="en-US" sz="1300" dirty="0">
                <a:solidFill>
                  <a:schemeClr val="tx1"/>
                </a:solidFill>
              </a:rPr>
              <a:t>관찰과 해석 구분 → 14~21장</a:t>
            </a:r>
            <a:endParaRPr lang="en-US" sz="1300" dirty="0"/>
          </a:p>
          <a:p>
            <a:pPr marL="342900" indent="-342900">
              <a:spcAft>
                <a:spcPts val="600"/>
              </a:spcAft>
              <a:buSzPct val="100000"/>
              <a:buChar char="•"/>
            </a:pPr>
            <a:r>
              <a:rPr lang="en-US" sz="1300" dirty="0">
                <a:solidFill>
                  <a:schemeClr val="tx1"/>
                </a:solidFill>
              </a:rPr>
              <a:t>트렌드·계절성·노이즈 → 12장, 22장</a:t>
            </a:r>
            <a:endParaRPr lang="en-US" sz="1300" dirty="0"/>
          </a:p>
          <a:p>
            <a:pPr marL="342900" indent="-342900">
              <a:spcAft>
                <a:spcPts val="600"/>
              </a:spcAft>
              <a:buSzPct val="100000"/>
              <a:buChar char="•"/>
            </a:pPr>
            <a:r>
              <a:rPr lang="en-US" sz="1300" dirty="0">
                <a:solidFill>
                  <a:schemeClr val="tx1"/>
                </a:solidFill>
              </a:rPr>
              <a:t>AI 결과 검증 → 27장</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세 가지 질문을 세웠다</a:t>
            </a:r>
            <a:endParaRPr lang="en-US" sz="2400" dirty="0"/>
          </a:p>
        </p:txBody>
      </p:sp>
      <p:sp>
        <p:nvSpPr>
          <p:cNvPr id="3" name="q_bg_0"/>
          <p:cNvSpPr/>
          <p:nvPr/>
        </p:nvSpPr>
        <p:spPr>
          <a:xfrm>
            <a:off x="457200" y="1097280"/>
            <a:ext cx="548640" cy="548640"/>
          </a:xfrm>
          <a:prstGeom prst="ellipse">
            <a:avLst/>
          </a:prstGeom>
          <a:solidFill>
            <a:srgbClr val="14213D"/>
          </a:solidFill>
          <a:ln w="12700">
            <a:solidFill>
              <a:srgbClr val="14213D"/>
            </a:solidFill>
            <a:prstDash val="solid"/>
          </a:ln>
        </p:spPr>
      </p:sp>
      <p:sp>
        <p:nvSpPr>
          <p:cNvPr id="4" name="q_num_0"/>
          <p:cNvSpPr txBox="1"/>
          <p:nvPr/>
        </p:nvSpPr>
        <p:spPr>
          <a:xfrm>
            <a:off x="457200" y="1097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q_head_0"/>
          <p:cNvSpPr txBox="1"/>
          <p:nvPr/>
        </p:nvSpPr>
        <p:spPr>
          <a:xfrm>
            <a:off x="1234440" y="1078992"/>
            <a:ext cx="5029200" cy="347472"/>
          </a:xfrm>
          <a:prstGeom prst="rect">
            <a:avLst/>
          </a:prstGeom>
          <a:noFill/>
          <a:ln/>
        </p:spPr>
        <p:txBody>
          <a:bodyPr wrap="square" lIns="0" tIns="0" rIns="0" bIns="0" rtlCol="0" anchor="t"/>
          <a:lstStyle/>
          <a:p>
            <a:pPr indent="0" marL="0">
              <a:buNone/>
            </a:pPr>
            <a:r>
              <a:rPr lang="en-US" sz="1700" b="1" dirty="0">
                <a:solidFill>
                  <a:schemeClr val="tx2"/>
                </a:solidFill>
              </a:rPr>
              <a:t>장기 추세</a:t>
            </a:r>
            <a:endParaRPr lang="en-US" sz="1700" dirty="0"/>
          </a:p>
        </p:txBody>
      </p:sp>
      <p:sp>
        <p:nvSpPr>
          <p:cNvPr id="6" name="q_body_0"/>
          <p:cNvSpPr txBox="1"/>
          <p:nvPr/>
        </p:nvSpPr>
        <p:spPr>
          <a:xfrm>
            <a:off x="1234440" y="1463040"/>
            <a:ext cx="5029200" cy="457200"/>
          </a:xfrm>
          <a:prstGeom prst="rect">
            <a:avLst/>
          </a:prstGeom>
          <a:noFill/>
          <a:ln/>
        </p:spPr>
        <p:txBody>
          <a:bodyPr wrap="square" lIns="0" tIns="0" rIns="0" bIns="0" rtlCol="0" anchor="t"/>
          <a:lstStyle/>
          <a:p>
            <a:pPr indent="0" marL="0">
              <a:buNone/>
            </a:pPr>
            <a:r>
              <a:rPr lang="en-US" sz="1400" dirty="0">
                <a:solidFill>
                  <a:schemeClr val="tx1"/>
                </a:solidFill>
              </a:rPr>
              <a:t>6년 사이 연평균기온은 오르는 경향이 있는가?</a:t>
            </a:r>
            <a:endParaRPr lang="en-US" sz="1400" dirty="0"/>
          </a:p>
        </p:txBody>
      </p:sp>
      <p:sp>
        <p:nvSpPr>
          <p:cNvPr id="7" name="q_tag_bg_0"/>
          <p:cNvSpPr/>
          <p:nvPr/>
        </p:nvSpPr>
        <p:spPr>
          <a:xfrm>
            <a:off x="6675120" y="1170432"/>
            <a:ext cx="2011680" cy="411480"/>
          </a:xfrm>
          <a:prstGeom prst="roundRect">
            <a:avLst>
              <a:gd name="adj" fmla="val 44444"/>
            </a:avLst>
          </a:prstGeom>
          <a:solidFill>
            <a:srgbClr val="5B8E7D"/>
          </a:solidFill>
          <a:ln w="12700">
            <a:solidFill>
              <a:srgbClr val="5B8E7D"/>
            </a:solidFill>
            <a:prstDash val="solid"/>
          </a:ln>
        </p:spPr>
      </p:sp>
      <p:sp>
        <p:nvSpPr>
          <p:cNvPr id="8" name="q_tag_0"/>
          <p:cNvSpPr txBox="1"/>
          <p:nvPr/>
        </p:nvSpPr>
        <p:spPr>
          <a:xfrm>
            <a:off x="6675120" y="1170432"/>
            <a:ext cx="2011680" cy="411480"/>
          </a:xfrm>
          <a:prstGeom prst="rect">
            <a:avLst/>
          </a:prstGeom>
          <a:noFill/>
          <a:ln/>
        </p:spPr>
        <p:txBody>
          <a:bodyPr wrap="square" lIns="0" tIns="0" rIns="0" bIns="0" rtlCol="0" anchor="ctr"/>
          <a:lstStyle/>
          <a:p>
            <a:pPr algn="ctr" indent="0" marL="0">
              <a:buNone/>
            </a:pPr>
            <a:r>
              <a:rPr lang="en-US" sz="1200" b="1" dirty="0">
                <a:solidFill>
                  <a:schemeClr val="bg1"/>
                </a:solidFill>
              </a:rPr>
              <a:t>그래프로 확인 가능</a:t>
            </a:r>
            <a:endParaRPr lang="en-US" sz="1200" dirty="0"/>
          </a:p>
        </p:txBody>
      </p:sp>
      <p:sp>
        <p:nvSpPr>
          <p:cNvPr id="9" name="q_bg_1"/>
          <p:cNvSpPr/>
          <p:nvPr/>
        </p:nvSpPr>
        <p:spPr>
          <a:xfrm>
            <a:off x="457200" y="2240280"/>
            <a:ext cx="548640" cy="548640"/>
          </a:xfrm>
          <a:prstGeom prst="ellipse">
            <a:avLst/>
          </a:prstGeom>
          <a:solidFill>
            <a:srgbClr val="14213D"/>
          </a:solidFill>
          <a:ln w="12700">
            <a:solidFill>
              <a:srgbClr val="14213D"/>
            </a:solidFill>
            <a:prstDash val="solid"/>
          </a:ln>
        </p:spPr>
      </p:sp>
      <p:sp>
        <p:nvSpPr>
          <p:cNvPr id="10" name="q_num_1"/>
          <p:cNvSpPr txBox="1"/>
          <p:nvPr/>
        </p:nvSpPr>
        <p:spPr>
          <a:xfrm>
            <a:off x="457200" y="2240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q_head_1"/>
          <p:cNvSpPr txBox="1"/>
          <p:nvPr/>
        </p:nvSpPr>
        <p:spPr>
          <a:xfrm>
            <a:off x="1234440" y="2221992"/>
            <a:ext cx="5029200" cy="347472"/>
          </a:xfrm>
          <a:prstGeom prst="rect">
            <a:avLst/>
          </a:prstGeom>
          <a:noFill/>
          <a:ln/>
        </p:spPr>
        <p:txBody>
          <a:bodyPr wrap="square" lIns="0" tIns="0" rIns="0" bIns="0" rtlCol="0" anchor="t"/>
          <a:lstStyle/>
          <a:p>
            <a:pPr indent="0" marL="0">
              <a:buNone/>
            </a:pPr>
            <a:r>
              <a:rPr lang="en-US" sz="1700" b="1" dirty="0">
                <a:solidFill>
                  <a:schemeClr val="tx2"/>
                </a:solidFill>
              </a:rPr>
              <a:t>계절별 변동성</a:t>
            </a:r>
            <a:endParaRPr lang="en-US" sz="1700" dirty="0"/>
          </a:p>
        </p:txBody>
      </p:sp>
      <p:sp>
        <p:nvSpPr>
          <p:cNvPr id="12" name="q_body_1"/>
          <p:cNvSpPr txBox="1"/>
          <p:nvPr/>
        </p:nvSpPr>
        <p:spPr>
          <a:xfrm>
            <a:off x="1234440" y="2606040"/>
            <a:ext cx="5029200" cy="457200"/>
          </a:xfrm>
          <a:prstGeom prst="rect">
            <a:avLst/>
          </a:prstGeom>
          <a:noFill/>
          <a:ln/>
        </p:spPr>
        <p:txBody>
          <a:bodyPr wrap="square" lIns="0" tIns="0" rIns="0" bIns="0" rtlCol="0" anchor="t"/>
          <a:lstStyle/>
          <a:p>
            <a:pPr indent="0" marL="0">
              <a:buNone/>
            </a:pPr>
            <a:r>
              <a:rPr lang="en-US" sz="1400" dirty="0">
                <a:solidFill>
                  <a:schemeClr val="tx1"/>
                </a:solidFill>
              </a:rPr>
              <a:t>어느 시기에 기온이 가장 불안정한가?</a:t>
            </a:r>
            <a:endParaRPr lang="en-US" sz="1400" dirty="0"/>
          </a:p>
        </p:txBody>
      </p:sp>
      <p:sp>
        <p:nvSpPr>
          <p:cNvPr id="13" name="q_tag_bg_1"/>
          <p:cNvSpPr/>
          <p:nvPr/>
        </p:nvSpPr>
        <p:spPr>
          <a:xfrm>
            <a:off x="6675120" y="2313432"/>
            <a:ext cx="2011680" cy="411480"/>
          </a:xfrm>
          <a:prstGeom prst="roundRect">
            <a:avLst>
              <a:gd name="adj" fmla="val 44444"/>
            </a:avLst>
          </a:prstGeom>
          <a:solidFill>
            <a:srgbClr val="5B8E7D"/>
          </a:solidFill>
          <a:ln w="12700">
            <a:solidFill>
              <a:srgbClr val="5B8E7D"/>
            </a:solidFill>
            <a:prstDash val="solid"/>
          </a:ln>
        </p:spPr>
      </p:sp>
      <p:sp>
        <p:nvSpPr>
          <p:cNvPr id="14" name="q_tag_1"/>
          <p:cNvSpPr txBox="1"/>
          <p:nvPr/>
        </p:nvSpPr>
        <p:spPr>
          <a:xfrm>
            <a:off x="6675120" y="2313432"/>
            <a:ext cx="2011680" cy="411480"/>
          </a:xfrm>
          <a:prstGeom prst="rect">
            <a:avLst/>
          </a:prstGeom>
          <a:noFill/>
          <a:ln/>
        </p:spPr>
        <p:txBody>
          <a:bodyPr wrap="square" lIns="0" tIns="0" rIns="0" bIns="0" rtlCol="0" anchor="ctr"/>
          <a:lstStyle/>
          <a:p>
            <a:pPr algn="ctr" indent="0" marL="0">
              <a:buNone/>
            </a:pPr>
            <a:r>
              <a:rPr lang="en-US" sz="1200" b="1" dirty="0">
                <a:solidFill>
                  <a:schemeClr val="bg1"/>
                </a:solidFill>
              </a:rPr>
              <a:t>그래프로 확인 가능</a:t>
            </a:r>
            <a:endParaRPr lang="en-US" sz="1200" dirty="0"/>
          </a:p>
        </p:txBody>
      </p:sp>
      <p:sp>
        <p:nvSpPr>
          <p:cNvPr id="15" name="q_bg_2"/>
          <p:cNvSpPr/>
          <p:nvPr/>
        </p:nvSpPr>
        <p:spPr>
          <a:xfrm>
            <a:off x="457200" y="3383280"/>
            <a:ext cx="548640" cy="548640"/>
          </a:xfrm>
          <a:prstGeom prst="ellipse">
            <a:avLst/>
          </a:prstGeom>
          <a:solidFill>
            <a:srgbClr val="14213D"/>
          </a:solidFill>
          <a:ln w="12700">
            <a:solidFill>
              <a:srgbClr val="14213D"/>
            </a:solidFill>
            <a:prstDash val="solid"/>
          </a:ln>
        </p:spPr>
      </p:sp>
      <p:sp>
        <p:nvSpPr>
          <p:cNvPr id="16" name="q_num_2"/>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q_head_2"/>
          <p:cNvSpPr txBox="1"/>
          <p:nvPr/>
        </p:nvSpPr>
        <p:spPr>
          <a:xfrm>
            <a:off x="1234440" y="3364992"/>
            <a:ext cx="5029200" cy="347472"/>
          </a:xfrm>
          <a:prstGeom prst="rect">
            <a:avLst/>
          </a:prstGeom>
          <a:noFill/>
          <a:ln/>
        </p:spPr>
        <p:txBody>
          <a:bodyPr wrap="square" lIns="0" tIns="0" rIns="0" bIns="0" rtlCol="0" anchor="t"/>
          <a:lstStyle/>
          <a:p>
            <a:pPr indent="0" marL="0">
              <a:buNone/>
            </a:pPr>
            <a:r>
              <a:rPr lang="en-US" sz="1700" b="1" dirty="0">
                <a:solidFill>
                  <a:schemeClr val="tx2"/>
                </a:solidFill>
              </a:rPr>
              <a:t>급변일</a:t>
            </a:r>
            <a:endParaRPr lang="en-US" sz="1700" dirty="0"/>
          </a:p>
        </p:txBody>
      </p:sp>
      <p:sp>
        <p:nvSpPr>
          <p:cNvPr id="18" name="q_body_2"/>
          <p:cNvSpPr txBox="1"/>
          <p:nvPr/>
        </p:nvSpPr>
        <p:spPr>
          <a:xfrm>
            <a:off x="1234440" y="3749040"/>
            <a:ext cx="5029200" cy="457200"/>
          </a:xfrm>
          <a:prstGeom prst="rect">
            <a:avLst/>
          </a:prstGeom>
          <a:noFill/>
          <a:ln/>
        </p:spPr>
        <p:txBody>
          <a:bodyPr wrap="square" lIns="0" tIns="0" rIns="0" bIns="0" rtlCol="0" anchor="t"/>
          <a:lstStyle/>
          <a:p>
            <a:pPr indent="0" marL="0">
              <a:buNone/>
            </a:pPr>
            <a:r>
              <a:rPr lang="en-US" sz="1400" dirty="0">
                <a:solidFill>
                  <a:schemeClr val="tx1"/>
                </a:solidFill>
              </a:rPr>
              <a:t>하루 사이 급변한 날은 언제 몰리고, 비와 관련 있는가?</a:t>
            </a:r>
            <a:endParaRPr lang="en-US" sz="1400" dirty="0"/>
          </a:p>
        </p:txBody>
      </p:sp>
      <p:sp>
        <p:nvSpPr>
          <p:cNvPr id="19" name="q_tag_bg_2"/>
          <p:cNvSpPr/>
          <p:nvPr/>
        </p:nvSpPr>
        <p:spPr>
          <a:xfrm>
            <a:off x="6675120" y="3456432"/>
            <a:ext cx="2011680" cy="411480"/>
          </a:xfrm>
          <a:prstGeom prst="roundRect">
            <a:avLst>
              <a:gd name="adj" fmla="val 44444"/>
            </a:avLst>
          </a:prstGeom>
          <a:solidFill>
            <a:srgbClr val="E4572E"/>
          </a:solidFill>
          <a:ln w="12700">
            <a:solidFill>
              <a:srgbClr val="E4572E"/>
            </a:solidFill>
            <a:prstDash val="solid"/>
          </a:ln>
        </p:spPr>
      </p:sp>
      <p:sp>
        <p:nvSpPr>
          <p:cNvPr id="20" name="q_tag_2"/>
          <p:cNvSpPr txBox="1"/>
          <p:nvPr/>
        </p:nvSpPr>
        <p:spPr>
          <a:xfrm>
            <a:off x="6675120" y="3456432"/>
            <a:ext cx="2011680" cy="411480"/>
          </a:xfrm>
          <a:prstGeom prst="rect">
            <a:avLst/>
          </a:prstGeom>
          <a:noFill/>
          <a:ln/>
        </p:spPr>
        <p:txBody>
          <a:bodyPr wrap="square" lIns="0" tIns="0" rIns="0" bIns="0" rtlCol="0" anchor="ctr"/>
          <a:lstStyle/>
          <a:p>
            <a:pPr algn="ctr" indent="0" marL="0">
              <a:buNone/>
            </a:pPr>
            <a:r>
              <a:rPr lang="en-US" sz="1200" b="1" dirty="0">
                <a:solidFill>
                  <a:schemeClr val="bg1"/>
                </a:solidFill>
              </a:rPr>
              <a:t>추가 해석 필요</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데이터는 Open-Meteo API로 수집했다</a:t>
            </a:r>
            <a:endParaRPr lang="en-US" sz="2400" dirty="0"/>
          </a:p>
        </p:txBody>
      </p:sp>
      <p:sp>
        <p:nvSpPr>
          <p:cNvPr id="3" name="src_icon_0_bg"/>
          <p:cNvSpPr/>
          <p:nvPr/>
        </p:nvSpPr>
        <p:spPr>
          <a:xfrm>
            <a:off x="457200" y="1051560"/>
            <a:ext cx="548640" cy="548640"/>
          </a:xfrm>
          <a:prstGeom prst="ellipse">
            <a:avLst/>
          </a:prstGeom>
          <a:solidFill>
            <a:srgbClr val="2E86AB"/>
          </a:solidFill>
          <a:ln w="12700">
            <a:solidFill>
              <a:srgbClr val="2E86AB"/>
            </a:solidFill>
            <a:prstDash val="solid"/>
          </a:ln>
        </p:spPr>
      </p:sp>
      <p:pic>
        <p:nvPicPr>
          <p:cNvPr id="4" name="src_icon_0" descr="preencoded.png">    </p:cNvPr>
          <p:cNvPicPr>
            <a:picLocks noChangeAspect="1"/>
          </p:cNvPicPr>
          <p:nvPr/>
        </p:nvPicPr>
        <p:blipFill>
          <a:blip r:embed="rId1"/>
          <a:stretch>
            <a:fillRect/>
          </a:stretch>
        </p:blipFill>
        <p:spPr>
          <a:xfrm>
            <a:off x="588874" y="1183234"/>
            <a:ext cx="285293" cy="285293"/>
          </a:xfrm>
          <a:prstGeom prst="rect">
            <a:avLst/>
          </a:prstGeom>
        </p:spPr>
      </p:pic>
      <p:sp>
        <p:nvSpPr>
          <p:cNvPr id="5" name="src_head_0"/>
          <p:cNvSpPr txBox="1"/>
          <p:nvPr/>
        </p:nvSpPr>
        <p:spPr>
          <a:xfrm>
            <a:off x="1188720" y="1051560"/>
            <a:ext cx="1188720" cy="548640"/>
          </a:xfrm>
          <a:prstGeom prst="rect">
            <a:avLst/>
          </a:prstGeom>
          <a:noFill/>
          <a:ln/>
        </p:spPr>
        <p:txBody>
          <a:bodyPr wrap="square" lIns="0" tIns="0" rIns="0" bIns="0" rtlCol="0" anchor="ctr"/>
          <a:lstStyle/>
          <a:p>
            <a:pPr indent="0" marL="0">
              <a:buNone/>
            </a:pPr>
            <a:r>
              <a:rPr lang="en-US" sz="1500" b="1" dirty="0">
                <a:solidFill>
                  <a:schemeClr val="tx2"/>
                </a:solidFill>
              </a:rPr>
              <a:t>출처</a:t>
            </a:r>
            <a:endParaRPr lang="en-US" sz="1500" dirty="0"/>
          </a:p>
        </p:txBody>
      </p:sp>
      <p:sp>
        <p:nvSpPr>
          <p:cNvPr id="6" name="src_body_0"/>
          <p:cNvSpPr txBox="1"/>
          <p:nvPr/>
        </p:nvSpPr>
        <p:spPr>
          <a:xfrm>
            <a:off x="2377440" y="1051560"/>
            <a:ext cx="6309360" cy="548640"/>
          </a:xfrm>
          <a:prstGeom prst="rect">
            <a:avLst/>
          </a:prstGeom>
          <a:noFill/>
          <a:ln/>
        </p:spPr>
        <p:txBody>
          <a:bodyPr wrap="square" lIns="0" tIns="0" rIns="0" bIns="0" rtlCol="0" anchor="ctr"/>
          <a:lstStyle/>
          <a:p>
            <a:pPr indent="0" marL="0">
              <a:buNone/>
            </a:pPr>
            <a:r>
              <a:rPr lang="en-US" sz="1400" dirty="0">
                <a:solidFill>
                  <a:schemeClr val="tx1"/>
                </a:solidFill>
              </a:rPr>
              <a:t>Open-Meteo 과거 기상 API (ERA5 재분석 기반, API 키 불필요)</a:t>
            </a:r>
            <a:endParaRPr lang="en-US" sz="1400" dirty="0"/>
          </a:p>
        </p:txBody>
      </p:sp>
      <p:sp>
        <p:nvSpPr>
          <p:cNvPr id="7" name="src_icon_1_bg"/>
          <p:cNvSpPr/>
          <p:nvPr/>
        </p:nvSpPr>
        <p:spPr>
          <a:xfrm>
            <a:off x="457200" y="1828800"/>
            <a:ext cx="548640" cy="548640"/>
          </a:xfrm>
          <a:prstGeom prst="ellipse">
            <a:avLst/>
          </a:prstGeom>
          <a:solidFill>
            <a:srgbClr val="2E86AB"/>
          </a:solidFill>
          <a:ln w="12700">
            <a:solidFill>
              <a:srgbClr val="2E86AB"/>
            </a:solidFill>
            <a:prstDash val="solid"/>
          </a:ln>
        </p:spPr>
      </p:sp>
      <p:pic>
        <p:nvPicPr>
          <p:cNvPr id="8" name="src_icon_1" descr="preencoded.png">    </p:cNvPr>
          <p:cNvPicPr>
            <a:picLocks noChangeAspect="1"/>
          </p:cNvPicPr>
          <p:nvPr/>
        </p:nvPicPr>
        <p:blipFill>
          <a:blip r:embed="rId2"/>
          <a:stretch>
            <a:fillRect/>
          </a:stretch>
        </p:blipFill>
        <p:spPr>
          <a:xfrm>
            <a:off x="588874" y="1960474"/>
            <a:ext cx="285293" cy="285293"/>
          </a:xfrm>
          <a:prstGeom prst="rect">
            <a:avLst/>
          </a:prstGeom>
        </p:spPr>
      </p:pic>
      <p:sp>
        <p:nvSpPr>
          <p:cNvPr id="9" name="src_head_1"/>
          <p:cNvSpPr txBox="1"/>
          <p:nvPr/>
        </p:nvSpPr>
        <p:spPr>
          <a:xfrm>
            <a:off x="1188720" y="1828800"/>
            <a:ext cx="1188720" cy="548640"/>
          </a:xfrm>
          <a:prstGeom prst="rect">
            <a:avLst/>
          </a:prstGeom>
          <a:noFill/>
          <a:ln/>
        </p:spPr>
        <p:txBody>
          <a:bodyPr wrap="square" lIns="0" tIns="0" rIns="0" bIns="0" rtlCol="0" anchor="ctr"/>
          <a:lstStyle/>
          <a:p>
            <a:pPr indent="0" marL="0">
              <a:buNone/>
            </a:pPr>
            <a:r>
              <a:rPr lang="en-US" sz="1500" b="1" dirty="0">
                <a:solidFill>
                  <a:schemeClr val="tx2"/>
                </a:solidFill>
              </a:rPr>
              <a:t>위치</a:t>
            </a:r>
            <a:endParaRPr lang="en-US" sz="1500" dirty="0"/>
          </a:p>
        </p:txBody>
      </p:sp>
      <p:sp>
        <p:nvSpPr>
          <p:cNvPr id="10" name="src_body_1"/>
          <p:cNvSpPr txBox="1"/>
          <p:nvPr/>
        </p:nvSpPr>
        <p:spPr>
          <a:xfrm>
            <a:off x="2377440" y="1828800"/>
            <a:ext cx="6309360" cy="548640"/>
          </a:xfrm>
          <a:prstGeom prst="rect">
            <a:avLst/>
          </a:prstGeom>
          <a:noFill/>
          <a:ln/>
        </p:spPr>
        <p:txBody>
          <a:bodyPr wrap="square" lIns="0" tIns="0" rIns="0" bIns="0" rtlCol="0" anchor="ctr"/>
          <a:lstStyle/>
          <a:p>
            <a:pPr indent="0" marL="0">
              <a:buNone/>
            </a:pPr>
            <a:r>
              <a:rPr lang="en-US" sz="1400" dirty="0">
                <a:solidFill>
                  <a:schemeClr val="tx1"/>
                </a:solidFill>
              </a:rPr>
              <a:t>부산광역시청 부근 (위도 35.18, 경도 129.08)</a:t>
            </a:r>
            <a:endParaRPr lang="en-US" sz="1400" dirty="0"/>
          </a:p>
        </p:txBody>
      </p:sp>
      <p:sp>
        <p:nvSpPr>
          <p:cNvPr id="11" name="src_icon_2_bg"/>
          <p:cNvSpPr/>
          <p:nvPr/>
        </p:nvSpPr>
        <p:spPr>
          <a:xfrm>
            <a:off x="457200" y="2606040"/>
            <a:ext cx="548640" cy="548640"/>
          </a:xfrm>
          <a:prstGeom prst="ellipse">
            <a:avLst/>
          </a:prstGeom>
          <a:solidFill>
            <a:srgbClr val="2E86AB"/>
          </a:solidFill>
          <a:ln w="12700">
            <a:solidFill>
              <a:srgbClr val="2E86AB"/>
            </a:solidFill>
            <a:prstDash val="solid"/>
          </a:ln>
        </p:spPr>
      </p:sp>
      <p:pic>
        <p:nvPicPr>
          <p:cNvPr id="12" name="src_icon_2" descr="preencoded.png">    </p:cNvPr>
          <p:cNvPicPr>
            <a:picLocks noChangeAspect="1"/>
          </p:cNvPicPr>
          <p:nvPr/>
        </p:nvPicPr>
        <p:blipFill>
          <a:blip r:embed="rId3"/>
          <a:stretch>
            <a:fillRect/>
          </a:stretch>
        </p:blipFill>
        <p:spPr>
          <a:xfrm>
            <a:off x="588874" y="2737714"/>
            <a:ext cx="285293" cy="285293"/>
          </a:xfrm>
          <a:prstGeom prst="rect">
            <a:avLst/>
          </a:prstGeom>
        </p:spPr>
      </p:pic>
      <p:sp>
        <p:nvSpPr>
          <p:cNvPr id="13" name="src_head_2"/>
          <p:cNvSpPr txBox="1"/>
          <p:nvPr/>
        </p:nvSpPr>
        <p:spPr>
          <a:xfrm>
            <a:off x="1188720" y="2606040"/>
            <a:ext cx="1188720" cy="548640"/>
          </a:xfrm>
          <a:prstGeom prst="rect">
            <a:avLst/>
          </a:prstGeom>
          <a:noFill/>
          <a:ln/>
        </p:spPr>
        <p:txBody>
          <a:bodyPr wrap="square" lIns="0" tIns="0" rIns="0" bIns="0" rtlCol="0" anchor="ctr"/>
          <a:lstStyle/>
          <a:p>
            <a:pPr indent="0" marL="0">
              <a:buNone/>
            </a:pPr>
            <a:r>
              <a:rPr lang="en-US" sz="1500" b="1" dirty="0">
                <a:solidFill>
                  <a:schemeClr val="tx2"/>
                </a:solidFill>
              </a:rPr>
              <a:t>기간</a:t>
            </a:r>
            <a:endParaRPr lang="en-US" sz="1500" dirty="0"/>
          </a:p>
        </p:txBody>
      </p:sp>
      <p:sp>
        <p:nvSpPr>
          <p:cNvPr id="14" name="src_body_2"/>
          <p:cNvSpPr txBox="1"/>
          <p:nvPr/>
        </p:nvSpPr>
        <p:spPr>
          <a:xfrm>
            <a:off x="2377440" y="2606040"/>
            <a:ext cx="6309360" cy="548640"/>
          </a:xfrm>
          <a:prstGeom prst="rect">
            <a:avLst/>
          </a:prstGeom>
          <a:noFill/>
          <a:ln/>
        </p:spPr>
        <p:txBody>
          <a:bodyPr wrap="square" lIns="0" tIns="0" rIns="0" bIns="0" rtlCol="0" anchor="ctr"/>
          <a:lstStyle/>
          <a:p>
            <a:pPr indent="0" marL="0">
              <a:buNone/>
            </a:pPr>
            <a:r>
              <a:rPr lang="en-US" sz="1400" dirty="0">
                <a:solidFill>
                  <a:schemeClr val="tx1"/>
                </a:solidFill>
              </a:rPr>
              <a:t>2020-01-01 ~ 2025-12-31, 2,192일 (일 1행)</a:t>
            </a:r>
            <a:endParaRPr lang="en-US" sz="1400" dirty="0"/>
          </a:p>
        </p:txBody>
      </p:sp>
      <p:sp>
        <p:nvSpPr>
          <p:cNvPr id="15" name="src_icon_3_bg"/>
          <p:cNvSpPr/>
          <p:nvPr/>
        </p:nvSpPr>
        <p:spPr>
          <a:xfrm>
            <a:off x="457200" y="3383280"/>
            <a:ext cx="548640" cy="548640"/>
          </a:xfrm>
          <a:prstGeom prst="ellipse">
            <a:avLst/>
          </a:prstGeom>
          <a:solidFill>
            <a:srgbClr val="2E86AB"/>
          </a:solidFill>
          <a:ln w="12700">
            <a:solidFill>
              <a:srgbClr val="2E86AB"/>
            </a:solidFill>
            <a:prstDash val="solid"/>
          </a:ln>
        </p:spPr>
      </p:sp>
      <p:pic>
        <p:nvPicPr>
          <p:cNvPr id="16" name="src_icon_3" descr="preencoded.png">    </p:cNvPr>
          <p:cNvPicPr>
            <a:picLocks noChangeAspect="1"/>
          </p:cNvPicPr>
          <p:nvPr/>
        </p:nvPicPr>
        <p:blipFill>
          <a:blip r:embed="rId4"/>
          <a:stretch>
            <a:fillRect/>
          </a:stretch>
        </p:blipFill>
        <p:spPr>
          <a:xfrm>
            <a:off x="588874" y="3514954"/>
            <a:ext cx="285293" cy="285293"/>
          </a:xfrm>
          <a:prstGeom prst="rect">
            <a:avLst/>
          </a:prstGeom>
        </p:spPr>
      </p:pic>
      <p:sp>
        <p:nvSpPr>
          <p:cNvPr id="17" name="src_head_3"/>
          <p:cNvSpPr txBox="1"/>
          <p:nvPr/>
        </p:nvSpPr>
        <p:spPr>
          <a:xfrm>
            <a:off x="1188720" y="3383280"/>
            <a:ext cx="1188720" cy="548640"/>
          </a:xfrm>
          <a:prstGeom prst="rect">
            <a:avLst/>
          </a:prstGeom>
          <a:noFill/>
          <a:ln/>
        </p:spPr>
        <p:txBody>
          <a:bodyPr wrap="square" lIns="0" tIns="0" rIns="0" bIns="0" rtlCol="0" anchor="ctr"/>
          <a:lstStyle/>
          <a:p>
            <a:pPr indent="0" marL="0">
              <a:buNone/>
            </a:pPr>
            <a:r>
              <a:rPr lang="en-US" sz="1500" b="1" dirty="0">
                <a:solidFill>
                  <a:schemeClr val="tx2"/>
                </a:solidFill>
              </a:rPr>
              <a:t>라이선스</a:t>
            </a:r>
            <a:endParaRPr lang="en-US" sz="1500" dirty="0"/>
          </a:p>
        </p:txBody>
      </p:sp>
      <p:sp>
        <p:nvSpPr>
          <p:cNvPr id="18" name="src_body_3"/>
          <p:cNvSpPr txBox="1"/>
          <p:nvPr/>
        </p:nvSpPr>
        <p:spPr>
          <a:xfrm>
            <a:off x="2377440" y="3383280"/>
            <a:ext cx="6309360" cy="548640"/>
          </a:xfrm>
          <a:prstGeom prst="rect">
            <a:avLst/>
          </a:prstGeom>
          <a:noFill/>
          <a:ln/>
        </p:spPr>
        <p:txBody>
          <a:bodyPr wrap="square" lIns="0" tIns="0" rIns="0" bIns="0" rtlCol="0" anchor="ctr"/>
          <a:lstStyle/>
          <a:p>
            <a:pPr indent="0" marL="0">
              <a:buNone/>
            </a:pPr>
            <a:r>
              <a:rPr lang="en-US" sz="1400" dirty="0">
                <a:solidFill>
                  <a:schemeClr val="tx1"/>
                </a:solidFill>
              </a:rPr>
              <a:t>CC BY 4.0 — 'Weather data by Open-Meteo.com' 출처 표기</a:t>
            </a:r>
            <a:endParaRPr lang="en-US" sz="1400" dirty="0"/>
          </a:p>
        </p:txBody>
      </p:sp>
      <p:sp>
        <p:nvSpPr>
          <p:cNvPr id="19" name="src_warn_card"/>
          <p:cNvSpPr/>
          <p:nvPr/>
        </p:nvSpPr>
        <p:spPr>
          <a:xfrm>
            <a:off x="457200" y="4206240"/>
            <a:ext cx="8229600" cy="411480"/>
          </a:xfrm>
          <a:prstGeom prst="roundRect">
            <a:avLst>
              <a:gd name="adj" fmla="val 26667"/>
            </a:avLst>
          </a:prstGeom>
          <a:solidFill>
            <a:srgbClr val="EEF2F7"/>
          </a:solidFill>
          <a:ln w="12700">
            <a:solidFill>
              <a:srgbClr val="EEF2F7"/>
            </a:solidFill>
            <a:prstDash val="solid"/>
          </a:ln>
        </p:spPr>
      </p:sp>
      <p:sp>
        <p:nvSpPr>
          <p:cNvPr id="20" name="src_warn"/>
          <p:cNvSpPr txBox="1"/>
          <p:nvPr/>
        </p:nvSpPr>
        <p:spPr>
          <a:xfrm>
            <a:off x="640080" y="4206240"/>
            <a:ext cx="7863840" cy="411480"/>
          </a:xfrm>
          <a:prstGeom prst="rect">
            <a:avLst/>
          </a:prstGeom>
          <a:noFill/>
          <a:ln/>
        </p:spPr>
        <p:txBody>
          <a:bodyPr wrap="square" lIns="0" tIns="0" rIns="0" bIns="0" rtlCol="0" anchor="ctr"/>
          <a:lstStyle/>
          <a:p>
            <a:pPr indent="0" marL="0">
              <a:buNone/>
            </a:pPr>
            <a:r>
              <a:rPr lang="en-US" sz="1200" i="1" dirty="0">
                <a:solidFill>
                  <a:schemeClr val="accent6"/>
                </a:solidFill>
              </a:rPr>
              <a:t>주의: 관측소 실측값이 아닌 재분석 격자 자료라 기상청 부산관측소 기록과 차이가 있을 수 있다</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데이터 구조: 원본 5개 컬럼 + 파생 3개 컬럼</a:t>
            </a:r>
            <a:endParaRPr lang="en-US" sz="2400" dirty="0"/>
          </a:p>
        </p:txBody>
      </p:sp>
      <p:graphicFrame>
        <p:nvGraphicFramePr>
          <p:cNvPr id="8" name="sample_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1645920"/>
                <a:gridCol w="1645920"/>
                <a:gridCol w="1645920"/>
                <a:gridCol w="1645920"/>
              </a:tblGrid>
              <a:tr h="347472">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date</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temp_mean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temp_max</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temp_min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precipitation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r>
              <a:tr h="347472">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2020-01-01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-1.3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4.8</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-5.8</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47472">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2020-01-02</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1.4</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7.2</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-2.4</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47472">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2020-01-03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2.6</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8.7</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-1.3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47472">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4" name="der_card_0"/>
          <p:cNvSpPr/>
          <p:nvPr/>
        </p:nvSpPr>
        <p:spPr>
          <a:xfrm>
            <a:off x="457200" y="3291840"/>
            <a:ext cx="2560320" cy="1234440"/>
          </a:xfrm>
          <a:prstGeom prst="roundRect">
            <a:avLst>
              <a:gd name="adj" fmla="val 8889"/>
            </a:avLst>
          </a:prstGeom>
          <a:solidFill>
            <a:srgbClr val="EEF2F7"/>
          </a:solidFill>
          <a:ln w="12700">
            <a:solidFill>
              <a:srgbClr val="EEF2F7"/>
            </a:solidFill>
            <a:prstDash val="solid"/>
          </a:ln>
        </p:spPr>
      </p:sp>
      <p:sp>
        <p:nvSpPr>
          <p:cNvPr id="5" name="der_head_0"/>
          <p:cNvSpPr txBox="1"/>
          <p:nvPr/>
        </p:nvSpPr>
        <p:spPr>
          <a:xfrm>
            <a:off x="640080" y="3401568"/>
            <a:ext cx="2194560" cy="365760"/>
          </a:xfrm>
          <a:prstGeom prst="rect">
            <a:avLst/>
          </a:prstGeom>
          <a:noFill/>
          <a:ln/>
        </p:spPr>
        <p:txBody>
          <a:bodyPr wrap="square" lIns="0" tIns="0" rIns="0" bIns="0" rtlCol="0" anchor="t"/>
          <a:lstStyle/>
          <a:p>
            <a:pPr indent="0" marL="0">
              <a:buNone/>
            </a:pPr>
            <a:r>
              <a:rPr lang="en-US" sz="1500" b="1" dirty="0">
                <a:solidFill>
                  <a:schemeClr val="accent1"/>
                </a:solidFill>
              </a:rPr>
              <a:t>is_filled</a:t>
            </a:r>
            <a:endParaRPr lang="en-US" sz="1500" dirty="0"/>
          </a:p>
        </p:txBody>
      </p:sp>
      <p:sp>
        <p:nvSpPr>
          <p:cNvPr id="6" name="der_body_0"/>
          <p:cNvSpPr txBox="1"/>
          <p:nvPr/>
        </p:nvSpPr>
        <p:spPr>
          <a:xfrm>
            <a:off x="640080" y="3794760"/>
            <a:ext cx="2194560" cy="731520"/>
          </a:xfrm>
          <a:prstGeom prst="rect">
            <a:avLst/>
          </a:prstGeom>
          <a:noFill/>
          <a:ln/>
        </p:spPr>
        <p:txBody>
          <a:bodyPr wrap="square" lIns="0" tIns="0" rIns="0" bIns="0" rtlCol="0" anchor="t"/>
          <a:lstStyle/>
          <a:p>
            <a:pPr indent="0" marL="0">
              <a:buNone/>
            </a:pPr>
            <a:r>
              <a:rPr lang="en-US" sz="1300" dirty="0">
                <a:solidFill>
                  <a:schemeClr val="tx1"/>
                </a:solidFill>
              </a:rPr>
              <a:t>보간으로 채운 값인지 (실제 0건)</a:t>
            </a:r>
            <a:endParaRPr lang="en-US" sz="1300" dirty="0"/>
          </a:p>
        </p:txBody>
      </p:sp>
      <p:sp>
        <p:nvSpPr>
          <p:cNvPr id="7" name="der_card_1"/>
          <p:cNvSpPr/>
          <p:nvPr/>
        </p:nvSpPr>
        <p:spPr>
          <a:xfrm>
            <a:off x="3291840" y="3291840"/>
            <a:ext cx="2560320" cy="1234440"/>
          </a:xfrm>
          <a:prstGeom prst="roundRect">
            <a:avLst>
              <a:gd name="adj" fmla="val 8889"/>
            </a:avLst>
          </a:prstGeom>
          <a:solidFill>
            <a:srgbClr val="EEF2F7"/>
          </a:solidFill>
          <a:ln w="12700">
            <a:solidFill>
              <a:srgbClr val="EEF2F7"/>
            </a:solidFill>
            <a:prstDash val="solid"/>
          </a:ln>
        </p:spPr>
      </p:sp>
      <p:sp>
        <p:nvSpPr>
          <p:cNvPr id="8" name="der_head_1"/>
          <p:cNvSpPr txBox="1"/>
          <p:nvPr/>
        </p:nvSpPr>
        <p:spPr>
          <a:xfrm>
            <a:off x="3474720" y="3401568"/>
            <a:ext cx="2194560" cy="365760"/>
          </a:xfrm>
          <a:prstGeom prst="rect">
            <a:avLst/>
          </a:prstGeom>
          <a:noFill/>
          <a:ln/>
        </p:spPr>
        <p:txBody>
          <a:bodyPr wrap="square" lIns="0" tIns="0" rIns="0" bIns="0" rtlCol="0" anchor="t"/>
          <a:lstStyle/>
          <a:p>
            <a:pPr indent="0" marL="0">
              <a:buNone/>
            </a:pPr>
            <a:r>
              <a:rPr lang="en-US" sz="1500" b="1" dirty="0">
                <a:solidFill>
                  <a:schemeClr val="accent1"/>
                </a:solidFill>
              </a:rPr>
              <a:t>temp_change</a:t>
            </a:r>
            <a:endParaRPr lang="en-US" sz="1500" dirty="0"/>
          </a:p>
        </p:txBody>
      </p:sp>
      <p:sp>
        <p:nvSpPr>
          <p:cNvPr id="9" name="der_body_1"/>
          <p:cNvSpPr txBox="1"/>
          <p:nvPr/>
        </p:nvSpPr>
        <p:spPr>
          <a:xfrm>
            <a:off x="3474720" y="3794760"/>
            <a:ext cx="2194560" cy="731520"/>
          </a:xfrm>
          <a:prstGeom prst="rect">
            <a:avLst/>
          </a:prstGeom>
          <a:noFill/>
          <a:ln/>
        </p:spPr>
        <p:txBody>
          <a:bodyPr wrap="square" lIns="0" tIns="0" rIns="0" bIns="0" rtlCol="0" anchor="t"/>
          <a:lstStyle/>
          <a:p>
            <a:pPr indent="0" marL="0">
              <a:buNone/>
            </a:pPr>
            <a:r>
              <a:rPr lang="en-US" sz="1300" dirty="0">
                <a:solidFill>
                  <a:schemeClr val="tx1"/>
                </a:solidFill>
              </a:rPr>
              <a:t>전날 대비 평균기온 변화(℃)</a:t>
            </a:r>
            <a:endParaRPr lang="en-US" sz="1300" dirty="0"/>
          </a:p>
        </p:txBody>
      </p:sp>
      <p:sp>
        <p:nvSpPr>
          <p:cNvPr id="10" name="der_card_2"/>
          <p:cNvSpPr/>
          <p:nvPr/>
        </p:nvSpPr>
        <p:spPr>
          <a:xfrm>
            <a:off x="6126480" y="3291840"/>
            <a:ext cx="2560320" cy="1234440"/>
          </a:xfrm>
          <a:prstGeom prst="roundRect">
            <a:avLst>
              <a:gd name="adj" fmla="val 8889"/>
            </a:avLst>
          </a:prstGeom>
          <a:solidFill>
            <a:srgbClr val="EEF2F7"/>
          </a:solidFill>
          <a:ln w="12700">
            <a:solidFill>
              <a:srgbClr val="EEF2F7"/>
            </a:solidFill>
            <a:prstDash val="solid"/>
          </a:ln>
        </p:spPr>
      </p:sp>
      <p:sp>
        <p:nvSpPr>
          <p:cNvPr id="11" name="der_head_2"/>
          <p:cNvSpPr txBox="1"/>
          <p:nvPr/>
        </p:nvSpPr>
        <p:spPr>
          <a:xfrm>
            <a:off x="6309360" y="3401568"/>
            <a:ext cx="2194560" cy="365760"/>
          </a:xfrm>
          <a:prstGeom prst="rect">
            <a:avLst/>
          </a:prstGeom>
          <a:noFill/>
          <a:ln/>
        </p:spPr>
        <p:txBody>
          <a:bodyPr wrap="square" lIns="0" tIns="0" rIns="0" bIns="0" rtlCol="0" anchor="t"/>
          <a:lstStyle/>
          <a:p>
            <a:pPr indent="0" marL="0">
              <a:buNone/>
            </a:pPr>
            <a:r>
              <a:rPr lang="en-US" sz="1500" b="1" dirty="0">
                <a:solidFill>
                  <a:schemeClr val="accent1"/>
                </a:solidFill>
              </a:rPr>
              <a:t>is_outlier</a:t>
            </a:r>
            <a:endParaRPr lang="en-US" sz="1500" dirty="0"/>
          </a:p>
        </p:txBody>
      </p:sp>
      <p:sp>
        <p:nvSpPr>
          <p:cNvPr id="12" name="der_body_2"/>
          <p:cNvSpPr txBox="1"/>
          <p:nvPr/>
        </p:nvSpPr>
        <p:spPr>
          <a:xfrm>
            <a:off x="6309360" y="3794760"/>
            <a:ext cx="2194560" cy="731520"/>
          </a:xfrm>
          <a:prstGeom prst="rect">
            <a:avLst/>
          </a:prstGeom>
          <a:noFill/>
          <a:ln/>
        </p:spPr>
        <p:txBody>
          <a:bodyPr wrap="square" lIns="0" tIns="0" rIns="0" bIns="0" rtlCol="0" anchor="t"/>
          <a:lstStyle/>
          <a:p>
            <a:pPr indent="0" marL="0">
              <a:buNone/>
            </a:pPr>
            <a:r>
              <a:rPr lang="en-US" sz="1300" dirty="0">
                <a:solidFill>
                  <a:schemeClr val="tx1"/>
                </a:solidFill>
              </a:rPr>
              <a:t>급변일 표시 (|z| &gt; 3)</a:t>
            </a:r>
            <a:endParaRPr lang="en-US" sz="1300" dirty="0"/>
          </a:p>
        </p:txBody>
      </p:sp>
      <p:sp>
        <p:nvSpPr>
          <p:cNvPr id="13" name="der_label"/>
          <p:cNvSpPr txBox="1"/>
          <p:nvPr/>
        </p:nvSpPr>
        <p:spPr>
          <a:xfrm>
            <a:off x="457200" y="2971800"/>
            <a:ext cx="5486400" cy="274320"/>
          </a:xfrm>
          <a:prstGeom prst="rect">
            <a:avLst/>
          </a:prstGeom>
          <a:noFill/>
          <a:ln/>
        </p:spPr>
        <p:txBody>
          <a:bodyPr wrap="square" lIns="0" tIns="0" rIns="0" bIns="0" rtlCol="0" anchor="t"/>
          <a:lstStyle/>
          <a:p>
            <a:pPr indent="0" marL="0">
              <a:buNone/>
            </a:pPr>
            <a:r>
              <a:rPr lang="en-US" sz="1200" b="1" dirty="0">
                <a:solidFill>
                  <a:schemeClr val="tx2"/>
                </a:solidFill>
              </a:rPr>
              <a:t>파생 컬럼 (prepare.py에서 추가)</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데이터 한눈에 보기: 6년간의 극값과 강수</a:t>
            </a:r>
            <a:endParaRPr lang="en-US" sz="2400" dirty="0"/>
          </a:p>
        </p:txBody>
      </p:sp>
      <p:sp>
        <p:nvSpPr>
          <p:cNvPr id="3" name="gl_card_0"/>
          <p:cNvSpPr/>
          <p:nvPr/>
        </p:nvSpPr>
        <p:spPr>
          <a:xfrm>
            <a:off x="457200" y="1005840"/>
            <a:ext cx="3291840" cy="1051560"/>
          </a:xfrm>
          <a:prstGeom prst="roundRect">
            <a:avLst>
              <a:gd name="adj" fmla="val 10435"/>
            </a:avLst>
          </a:prstGeom>
          <a:solidFill>
            <a:srgbClr val="EEF2F7"/>
          </a:solidFill>
          <a:ln w="12700">
            <a:solidFill>
              <a:srgbClr val="EEF2F7"/>
            </a:solidFill>
            <a:prstDash val="solid"/>
          </a:ln>
        </p:spPr>
      </p:sp>
      <p:sp>
        <p:nvSpPr>
          <p:cNvPr id="4" name="gl_icon_0_bg"/>
          <p:cNvSpPr/>
          <p:nvPr/>
        </p:nvSpPr>
        <p:spPr>
          <a:xfrm>
            <a:off x="640080" y="1261872"/>
            <a:ext cx="548640" cy="548640"/>
          </a:xfrm>
          <a:prstGeom prst="ellipse">
            <a:avLst/>
          </a:prstGeom>
          <a:solidFill>
            <a:srgbClr val="E4572E"/>
          </a:solidFill>
          <a:ln w="12700">
            <a:solidFill>
              <a:srgbClr val="E4572E"/>
            </a:solidFill>
            <a:prstDash val="solid"/>
          </a:ln>
        </p:spPr>
      </p:sp>
      <p:pic>
        <p:nvPicPr>
          <p:cNvPr id="5" name="gl_icon_0" descr="preencoded.png">    </p:cNvPr>
          <p:cNvPicPr>
            <a:picLocks noChangeAspect="1"/>
          </p:cNvPicPr>
          <p:nvPr/>
        </p:nvPicPr>
        <p:blipFill>
          <a:blip r:embed="rId1"/>
          <a:stretch>
            <a:fillRect/>
          </a:stretch>
        </p:blipFill>
        <p:spPr>
          <a:xfrm>
            <a:off x="771754" y="1393546"/>
            <a:ext cx="285293" cy="285293"/>
          </a:xfrm>
          <a:prstGeom prst="rect">
            <a:avLst/>
          </a:prstGeom>
        </p:spPr>
      </p:pic>
      <p:sp>
        <p:nvSpPr>
          <p:cNvPr id="6" name="gl_big_0"/>
          <p:cNvSpPr txBox="1"/>
          <p:nvPr/>
        </p:nvSpPr>
        <p:spPr>
          <a:xfrm>
            <a:off x="1371600" y="1115568"/>
            <a:ext cx="2286000" cy="502920"/>
          </a:xfrm>
          <a:prstGeom prst="rect">
            <a:avLst/>
          </a:prstGeom>
          <a:noFill/>
          <a:ln/>
        </p:spPr>
        <p:txBody>
          <a:bodyPr wrap="square" lIns="0" tIns="0" rIns="0" bIns="0" rtlCol="0" anchor="ctr"/>
          <a:lstStyle/>
          <a:p>
            <a:pPr indent="0" marL="0">
              <a:buNone/>
            </a:pPr>
            <a:r>
              <a:rPr lang="en-US" sz="2400" b="1" dirty="0">
                <a:solidFill>
                  <a:srgbClr val="E4572E"/>
                </a:solidFill>
              </a:rPr>
              <a:t>37.1℃</a:t>
            </a:r>
            <a:endParaRPr lang="en-US" sz="2400" dirty="0"/>
          </a:p>
        </p:txBody>
      </p:sp>
      <p:sp>
        <p:nvSpPr>
          <p:cNvPr id="7" name="gl_lab_0"/>
          <p:cNvSpPr txBox="1"/>
          <p:nvPr/>
        </p:nvSpPr>
        <p:spPr>
          <a:xfrm>
            <a:off x="1371600" y="1618488"/>
            <a:ext cx="2286000" cy="320040"/>
          </a:xfrm>
          <a:prstGeom prst="rect">
            <a:avLst/>
          </a:prstGeom>
          <a:noFill/>
          <a:ln/>
        </p:spPr>
        <p:txBody>
          <a:bodyPr wrap="square" lIns="0" tIns="0" rIns="0" bIns="0" rtlCol="0" anchor="t"/>
          <a:lstStyle/>
          <a:p>
            <a:pPr indent="0" marL="0">
              <a:buNone/>
            </a:pPr>
            <a:r>
              <a:rPr lang="en-US" sz="1200" dirty="0">
                <a:solidFill>
                  <a:schemeClr val="tx1"/>
                </a:solidFill>
              </a:rPr>
              <a:t>최고기온 (2025-07-06)</a:t>
            </a:r>
            <a:endParaRPr lang="en-US" sz="1200" dirty="0"/>
          </a:p>
        </p:txBody>
      </p:sp>
      <p:sp>
        <p:nvSpPr>
          <p:cNvPr id="8" name="gl_card_1"/>
          <p:cNvSpPr/>
          <p:nvPr/>
        </p:nvSpPr>
        <p:spPr>
          <a:xfrm>
            <a:off x="457200" y="2194560"/>
            <a:ext cx="3291840" cy="1051560"/>
          </a:xfrm>
          <a:prstGeom prst="roundRect">
            <a:avLst>
              <a:gd name="adj" fmla="val 10435"/>
            </a:avLst>
          </a:prstGeom>
          <a:solidFill>
            <a:srgbClr val="EEF2F7"/>
          </a:solidFill>
          <a:ln w="12700">
            <a:solidFill>
              <a:srgbClr val="EEF2F7"/>
            </a:solidFill>
            <a:prstDash val="solid"/>
          </a:ln>
        </p:spPr>
      </p:sp>
      <p:sp>
        <p:nvSpPr>
          <p:cNvPr id="9" name="gl_icon_1_bg"/>
          <p:cNvSpPr/>
          <p:nvPr/>
        </p:nvSpPr>
        <p:spPr>
          <a:xfrm>
            <a:off x="640080" y="2450592"/>
            <a:ext cx="548640" cy="548640"/>
          </a:xfrm>
          <a:prstGeom prst="ellipse">
            <a:avLst/>
          </a:prstGeom>
          <a:solidFill>
            <a:srgbClr val="2E86AB"/>
          </a:solidFill>
          <a:ln w="12700">
            <a:solidFill>
              <a:srgbClr val="2E86AB"/>
            </a:solidFill>
            <a:prstDash val="solid"/>
          </a:ln>
        </p:spPr>
      </p:sp>
      <p:pic>
        <p:nvPicPr>
          <p:cNvPr id="10" name="gl_icon_1" descr="preencoded.png">    </p:cNvPr>
          <p:cNvPicPr>
            <a:picLocks noChangeAspect="1"/>
          </p:cNvPicPr>
          <p:nvPr/>
        </p:nvPicPr>
        <p:blipFill>
          <a:blip r:embed="rId2"/>
          <a:stretch>
            <a:fillRect/>
          </a:stretch>
        </p:blipFill>
        <p:spPr>
          <a:xfrm>
            <a:off x="771754" y="2582266"/>
            <a:ext cx="285293" cy="285293"/>
          </a:xfrm>
          <a:prstGeom prst="rect">
            <a:avLst/>
          </a:prstGeom>
        </p:spPr>
      </p:pic>
      <p:sp>
        <p:nvSpPr>
          <p:cNvPr id="11" name="gl_big_1"/>
          <p:cNvSpPr txBox="1"/>
          <p:nvPr/>
        </p:nvSpPr>
        <p:spPr>
          <a:xfrm>
            <a:off x="1371600" y="2304288"/>
            <a:ext cx="2286000" cy="502920"/>
          </a:xfrm>
          <a:prstGeom prst="rect">
            <a:avLst/>
          </a:prstGeom>
          <a:noFill/>
          <a:ln/>
        </p:spPr>
        <p:txBody>
          <a:bodyPr wrap="square" lIns="0" tIns="0" rIns="0" bIns="0" rtlCol="0" anchor="ctr"/>
          <a:lstStyle/>
          <a:p>
            <a:pPr indent="0" marL="0">
              <a:buNone/>
            </a:pPr>
            <a:r>
              <a:rPr lang="en-US" sz="2400" b="1" dirty="0">
                <a:solidFill>
                  <a:srgbClr val="2E86AB"/>
                </a:solidFill>
              </a:rPr>
              <a:t>−13.6℃</a:t>
            </a:r>
            <a:endParaRPr lang="en-US" sz="2400" dirty="0"/>
          </a:p>
        </p:txBody>
      </p:sp>
      <p:sp>
        <p:nvSpPr>
          <p:cNvPr id="12" name="gl_lab_1"/>
          <p:cNvSpPr txBox="1"/>
          <p:nvPr/>
        </p:nvSpPr>
        <p:spPr>
          <a:xfrm>
            <a:off x="1371600" y="2807208"/>
            <a:ext cx="2286000" cy="320040"/>
          </a:xfrm>
          <a:prstGeom prst="rect">
            <a:avLst/>
          </a:prstGeom>
          <a:noFill/>
          <a:ln/>
        </p:spPr>
        <p:txBody>
          <a:bodyPr wrap="square" lIns="0" tIns="0" rIns="0" bIns="0" rtlCol="0" anchor="t"/>
          <a:lstStyle/>
          <a:p>
            <a:pPr indent="0" marL="0">
              <a:buNone/>
            </a:pPr>
            <a:r>
              <a:rPr lang="en-US" sz="1200" dirty="0">
                <a:solidFill>
                  <a:schemeClr val="tx1"/>
                </a:solidFill>
              </a:rPr>
              <a:t>최저기온 (2023-01-25)</a:t>
            </a:r>
            <a:endParaRPr lang="en-US" sz="1200" dirty="0"/>
          </a:p>
        </p:txBody>
      </p:sp>
      <p:sp>
        <p:nvSpPr>
          <p:cNvPr id="13" name="gl_card_2"/>
          <p:cNvSpPr/>
          <p:nvPr/>
        </p:nvSpPr>
        <p:spPr>
          <a:xfrm>
            <a:off x="457200" y="3383280"/>
            <a:ext cx="3291840" cy="1051560"/>
          </a:xfrm>
          <a:prstGeom prst="roundRect">
            <a:avLst>
              <a:gd name="adj" fmla="val 10435"/>
            </a:avLst>
          </a:prstGeom>
          <a:solidFill>
            <a:srgbClr val="EEF2F7"/>
          </a:solidFill>
          <a:ln w="12700">
            <a:solidFill>
              <a:srgbClr val="EEF2F7"/>
            </a:solidFill>
            <a:prstDash val="solid"/>
          </a:ln>
        </p:spPr>
      </p:sp>
      <p:sp>
        <p:nvSpPr>
          <p:cNvPr id="14" name="gl_icon_2_bg"/>
          <p:cNvSpPr/>
          <p:nvPr/>
        </p:nvSpPr>
        <p:spPr>
          <a:xfrm>
            <a:off x="640080" y="3639312"/>
            <a:ext cx="548640" cy="548640"/>
          </a:xfrm>
          <a:prstGeom prst="ellipse">
            <a:avLst/>
          </a:prstGeom>
          <a:solidFill>
            <a:srgbClr val="5B8E7D"/>
          </a:solidFill>
          <a:ln w="12700">
            <a:solidFill>
              <a:srgbClr val="5B8E7D"/>
            </a:solidFill>
            <a:prstDash val="solid"/>
          </a:ln>
        </p:spPr>
      </p:sp>
      <p:pic>
        <p:nvPicPr>
          <p:cNvPr id="15" name="gl_icon_2" descr="preencoded.png">    </p:cNvPr>
          <p:cNvPicPr>
            <a:picLocks noChangeAspect="1"/>
          </p:cNvPicPr>
          <p:nvPr/>
        </p:nvPicPr>
        <p:blipFill>
          <a:blip r:embed="rId3"/>
          <a:stretch>
            <a:fillRect/>
          </a:stretch>
        </p:blipFill>
        <p:spPr>
          <a:xfrm>
            <a:off x="771754" y="3770986"/>
            <a:ext cx="285293" cy="285293"/>
          </a:xfrm>
          <a:prstGeom prst="rect">
            <a:avLst/>
          </a:prstGeom>
        </p:spPr>
      </p:pic>
      <p:sp>
        <p:nvSpPr>
          <p:cNvPr id="16" name="gl_big_2"/>
          <p:cNvSpPr txBox="1"/>
          <p:nvPr/>
        </p:nvSpPr>
        <p:spPr>
          <a:xfrm>
            <a:off x="1371600" y="3493008"/>
            <a:ext cx="2286000" cy="502920"/>
          </a:xfrm>
          <a:prstGeom prst="rect">
            <a:avLst/>
          </a:prstGeom>
          <a:noFill/>
          <a:ln/>
        </p:spPr>
        <p:txBody>
          <a:bodyPr wrap="square" lIns="0" tIns="0" rIns="0" bIns="0" rtlCol="0" anchor="ctr"/>
          <a:lstStyle/>
          <a:p>
            <a:pPr indent="0" marL="0">
              <a:buNone/>
            </a:pPr>
            <a:r>
              <a:rPr lang="en-US" sz="2400" b="1" dirty="0">
                <a:solidFill>
                  <a:srgbClr val="5B8E7D"/>
                </a:solidFill>
              </a:rPr>
              <a:t>656일</a:t>
            </a:r>
            <a:endParaRPr lang="en-US" sz="2400" dirty="0"/>
          </a:p>
        </p:txBody>
      </p:sp>
      <p:sp>
        <p:nvSpPr>
          <p:cNvPr id="17" name="gl_lab_2"/>
          <p:cNvSpPr txBox="1"/>
          <p:nvPr/>
        </p:nvSpPr>
        <p:spPr>
          <a:xfrm>
            <a:off x="1371600" y="3995928"/>
            <a:ext cx="2286000" cy="320040"/>
          </a:xfrm>
          <a:prstGeom prst="rect">
            <a:avLst/>
          </a:prstGeom>
          <a:noFill/>
          <a:ln/>
        </p:spPr>
        <p:txBody>
          <a:bodyPr wrap="square" lIns="0" tIns="0" rIns="0" bIns="0" rtlCol="0" anchor="t"/>
          <a:lstStyle/>
          <a:p>
            <a:pPr indent="0" marL="0">
              <a:buNone/>
            </a:pPr>
            <a:r>
              <a:rPr lang="en-US" sz="1200" dirty="0">
                <a:solidFill>
                  <a:schemeClr val="tx1"/>
                </a:solidFill>
              </a:rPr>
              <a:t>강수일 1mm 이상 (전체의 30%)</a:t>
            </a:r>
            <a:endParaRPr lang="en-US" sz="1200" dirty="0"/>
          </a:p>
        </p:txBody>
      </p:sp>
      <p:graphicFrame>
        <p:nvGraphicFramePr>
          <p:cNvPr id="18" name="chart_precip" descr=""/>
          <p:cNvGraphicFramePr/>
          <p:nvPr/>
        </p:nvGraphicFramePr>
        <p:xfrm>
          <a:off x="4023360" y="1005840"/>
          <a:ext cx="4663440" cy="352044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분석 흐름: 스크립트 5개를 순서대로 실행</a:t>
            </a:r>
            <a:endParaRPr lang="en-US" sz="2400" dirty="0"/>
          </a:p>
        </p:txBody>
      </p:sp>
      <p:sp>
        <p:nvSpPr>
          <p:cNvPr id="3" name="pipe_card_0"/>
          <p:cNvSpPr/>
          <p:nvPr/>
        </p:nvSpPr>
        <p:spPr>
          <a:xfrm>
            <a:off x="457200" y="1417320"/>
            <a:ext cx="1463040" cy="1920240"/>
          </a:xfrm>
          <a:prstGeom prst="roundRect">
            <a:avLst>
              <a:gd name="adj" fmla="val 7500"/>
            </a:avLst>
          </a:prstGeom>
          <a:solidFill>
            <a:srgbClr val="EEF2F7"/>
          </a:solidFill>
          <a:ln w="12700">
            <a:solidFill>
              <a:srgbClr val="EEF2F7"/>
            </a:solidFill>
            <a:prstDash val="solid"/>
          </a:ln>
        </p:spPr>
      </p:sp>
      <p:sp>
        <p:nvSpPr>
          <p:cNvPr id="4" name="pipe_num_0"/>
          <p:cNvSpPr txBox="1"/>
          <p:nvPr/>
        </p:nvSpPr>
        <p:spPr>
          <a:xfrm>
            <a:off x="594360" y="1554480"/>
            <a:ext cx="1188720" cy="411480"/>
          </a:xfrm>
          <a:prstGeom prst="rect">
            <a:avLst/>
          </a:prstGeom>
          <a:noFill/>
          <a:ln/>
        </p:spPr>
        <p:txBody>
          <a:bodyPr wrap="square" lIns="0" tIns="0" rIns="0" bIns="0" rtlCol="0" anchor="t"/>
          <a:lstStyle/>
          <a:p>
            <a:pPr indent="0" marL="0">
              <a:buNone/>
            </a:pPr>
            <a:r>
              <a:rPr lang="en-US" sz="2200" b="1" dirty="0">
                <a:solidFill>
                  <a:schemeClr val="accent2"/>
                </a:solidFill>
              </a:rPr>
              <a:t>1</a:t>
            </a:r>
            <a:endParaRPr lang="en-US" sz="2200" dirty="0"/>
          </a:p>
        </p:txBody>
      </p:sp>
      <p:sp>
        <p:nvSpPr>
          <p:cNvPr id="5" name="pipe_head_0"/>
          <p:cNvSpPr txBox="1"/>
          <p:nvPr/>
        </p:nvSpPr>
        <p:spPr>
          <a:xfrm>
            <a:off x="594360" y="2011680"/>
            <a:ext cx="1188720" cy="320040"/>
          </a:xfrm>
          <a:prstGeom prst="rect">
            <a:avLst/>
          </a:prstGeom>
          <a:noFill/>
          <a:ln/>
        </p:spPr>
        <p:txBody>
          <a:bodyPr wrap="square" lIns="0" tIns="0" rIns="0" bIns="0" rtlCol="0" anchor="t"/>
          <a:lstStyle/>
          <a:p>
            <a:pPr indent="0" marL="0">
              <a:buNone/>
            </a:pPr>
            <a:r>
              <a:rPr lang="en-US" sz="1500" b="1" dirty="0">
                <a:solidFill>
                  <a:schemeClr val="tx2"/>
                </a:solidFill>
              </a:rPr>
              <a:t>수집</a:t>
            </a:r>
            <a:endParaRPr lang="en-US" sz="1500" dirty="0"/>
          </a:p>
        </p:txBody>
      </p:sp>
      <p:sp>
        <p:nvSpPr>
          <p:cNvPr id="6" name="pipe_file_0"/>
          <p:cNvSpPr txBox="1"/>
          <p:nvPr/>
        </p:nvSpPr>
        <p:spPr>
          <a:xfrm>
            <a:off x="594360" y="2377440"/>
            <a:ext cx="1280160" cy="274320"/>
          </a:xfrm>
          <a:prstGeom prst="rect">
            <a:avLst/>
          </a:prstGeom>
          <a:noFill/>
          <a:ln/>
        </p:spPr>
        <p:txBody>
          <a:bodyPr wrap="square" lIns="0" tIns="0" rIns="0" bIns="0" rtlCol="0" anchor="t"/>
          <a:lstStyle/>
          <a:p>
            <a:pPr indent="0" marL="0">
              <a:buNone/>
            </a:pPr>
            <a:r>
              <a:rPr lang="en-US" sz="1100" dirty="0">
                <a:solidFill>
                  <a:schemeClr val="accent5"/>
                </a:solidFill>
              </a:rPr>
              <a:t>collect.py</a:t>
            </a:r>
            <a:endParaRPr lang="en-US" sz="1100" dirty="0"/>
          </a:p>
        </p:txBody>
      </p:sp>
      <p:sp>
        <p:nvSpPr>
          <p:cNvPr id="7" name="pipe_out_0"/>
          <p:cNvSpPr txBox="1"/>
          <p:nvPr/>
        </p:nvSpPr>
        <p:spPr>
          <a:xfrm>
            <a:off x="594360" y="2697480"/>
            <a:ext cx="1188720" cy="548640"/>
          </a:xfrm>
          <a:prstGeom prst="rect">
            <a:avLst/>
          </a:prstGeom>
          <a:noFill/>
          <a:ln/>
        </p:spPr>
        <p:txBody>
          <a:bodyPr wrap="square" lIns="0" tIns="0" rIns="0" bIns="0" rtlCol="0" anchor="t"/>
          <a:lstStyle/>
          <a:p>
            <a:pPr indent="0" marL="0">
              <a:buNone/>
            </a:pPr>
            <a:r>
              <a:rPr lang="en-US" sz="1200" dirty="0">
                <a:solidFill>
                  <a:schemeClr val="tx1"/>
                </a:solidFill>
              </a:rPr>
              <a:t>원본 CSV</a:t>
            </a:r>
            <a:endParaRPr lang="en-US" sz="1200" dirty="0"/>
          </a:p>
        </p:txBody>
      </p:sp>
      <p:sp>
        <p:nvSpPr>
          <p:cNvPr id="8" name="pipe_arrow_0"/>
          <p:cNvSpPr/>
          <p:nvPr/>
        </p:nvSpPr>
        <p:spPr>
          <a:xfrm>
            <a:off x="1956816" y="2267712"/>
            <a:ext cx="182880" cy="237744"/>
          </a:xfrm>
          <a:prstGeom prst="rightArrow">
            <a:avLst/>
          </a:prstGeom>
          <a:solidFill>
            <a:srgbClr val="8D99AE"/>
          </a:solidFill>
          <a:ln w="12700">
            <a:solidFill>
              <a:srgbClr val="8D99AE"/>
            </a:solidFill>
            <a:prstDash val="solid"/>
          </a:ln>
        </p:spPr>
      </p:sp>
      <p:sp>
        <p:nvSpPr>
          <p:cNvPr id="9" name="pipe_card_1"/>
          <p:cNvSpPr/>
          <p:nvPr/>
        </p:nvSpPr>
        <p:spPr>
          <a:xfrm>
            <a:off x="2157984" y="1417320"/>
            <a:ext cx="1463040" cy="1920240"/>
          </a:xfrm>
          <a:prstGeom prst="roundRect">
            <a:avLst>
              <a:gd name="adj" fmla="val 7500"/>
            </a:avLst>
          </a:prstGeom>
          <a:solidFill>
            <a:srgbClr val="EEF2F7"/>
          </a:solidFill>
          <a:ln w="12700">
            <a:solidFill>
              <a:srgbClr val="EEF2F7"/>
            </a:solidFill>
            <a:prstDash val="solid"/>
          </a:ln>
        </p:spPr>
      </p:sp>
      <p:sp>
        <p:nvSpPr>
          <p:cNvPr id="10" name="pipe_num_1"/>
          <p:cNvSpPr txBox="1"/>
          <p:nvPr/>
        </p:nvSpPr>
        <p:spPr>
          <a:xfrm>
            <a:off x="2295144" y="1554480"/>
            <a:ext cx="1188720" cy="411480"/>
          </a:xfrm>
          <a:prstGeom prst="rect">
            <a:avLst/>
          </a:prstGeom>
          <a:noFill/>
          <a:ln/>
        </p:spPr>
        <p:txBody>
          <a:bodyPr wrap="square" lIns="0" tIns="0" rIns="0" bIns="0" rtlCol="0" anchor="t"/>
          <a:lstStyle/>
          <a:p>
            <a:pPr indent="0" marL="0">
              <a:buNone/>
            </a:pPr>
            <a:r>
              <a:rPr lang="en-US" sz="2200" b="1" dirty="0">
                <a:solidFill>
                  <a:schemeClr val="accent2"/>
                </a:solidFill>
              </a:rPr>
              <a:t>2</a:t>
            </a:r>
            <a:endParaRPr lang="en-US" sz="2200" dirty="0"/>
          </a:p>
        </p:txBody>
      </p:sp>
      <p:sp>
        <p:nvSpPr>
          <p:cNvPr id="11" name="pipe_head_1"/>
          <p:cNvSpPr txBox="1"/>
          <p:nvPr/>
        </p:nvSpPr>
        <p:spPr>
          <a:xfrm>
            <a:off x="2295144" y="2011680"/>
            <a:ext cx="1188720" cy="320040"/>
          </a:xfrm>
          <a:prstGeom prst="rect">
            <a:avLst/>
          </a:prstGeom>
          <a:noFill/>
          <a:ln/>
        </p:spPr>
        <p:txBody>
          <a:bodyPr wrap="square" lIns="0" tIns="0" rIns="0" bIns="0" rtlCol="0" anchor="t"/>
          <a:lstStyle/>
          <a:p>
            <a:pPr indent="0" marL="0">
              <a:buNone/>
            </a:pPr>
            <a:r>
              <a:rPr lang="en-US" sz="1500" b="1" dirty="0">
                <a:solidFill>
                  <a:schemeClr val="tx2"/>
                </a:solidFill>
              </a:rPr>
              <a:t>정제</a:t>
            </a:r>
            <a:endParaRPr lang="en-US" sz="1500" dirty="0"/>
          </a:p>
        </p:txBody>
      </p:sp>
      <p:sp>
        <p:nvSpPr>
          <p:cNvPr id="12" name="pipe_file_1"/>
          <p:cNvSpPr txBox="1"/>
          <p:nvPr/>
        </p:nvSpPr>
        <p:spPr>
          <a:xfrm>
            <a:off x="2295144" y="2377440"/>
            <a:ext cx="1280160" cy="274320"/>
          </a:xfrm>
          <a:prstGeom prst="rect">
            <a:avLst/>
          </a:prstGeom>
          <a:noFill/>
          <a:ln/>
        </p:spPr>
        <p:txBody>
          <a:bodyPr wrap="square" lIns="0" tIns="0" rIns="0" bIns="0" rtlCol="0" anchor="t"/>
          <a:lstStyle/>
          <a:p>
            <a:pPr indent="0" marL="0">
              <a:buNone/>
            </a:pPr>
            <a:r>
              <a:rPr lang="en-US" sz="1100" dirty="0">
                <a:solidFill>
                  <a:schemeClr val="accent5"/>
                </a:solidFill>
              </a:rPr>
              <a:t>prepare.py</a:t>
            </a:r>
            <a:endParaRPr lang="en-US" sz="1100" dirty="0"/>
          </a:p>
        </p:txBody>
      </p:sp>
      <p:sp>
        <p:nvSpPr>
          <p:cNvPr id="13" name="pipe_out_1"/>
          <p:cNvSpPr txBox="1"/>
          <p:nvPr/>
        </p:nvSpPr>
        <p:spPr>
          <a:xfrm>
            <a:off x="2295144" y="2697480"/>
            <a:ext cx="1188720" cy="548640"/>
          </a:xfrm>
          <a:prstGeom prst="rect">
            <a:avLst/>
          </a:prstGeom>
          <a:noFill/>
          <a:ln/>
        </p:spPr>
        <p:txBody>
          <a:bodyPr wrap="square" lIns="0" tIns="0" rIns="0" bIns="0" rtlCol="0" anchor="t"/>
          <a:lstStyle/>
          <a:p>
            <a:pPr indent="0" marL="0">
              <a:buNone/>
            </a:pPr>
            <a:r>
              <a:rPr lang="en-US" sz="1200" dirty="0">
                <a:solidFill>
                  <a:schemeClr val="tx1"/>
                </a:solidFill>
              </a:rPr>
              <a:t>정제 CSV·점검 로그</a:t>
            </a:r>
            <a:endParaRPr lang="en-US" sz="1200" dirty="0"/>
          </a:p>
        </p:txBody>
      </p:sp>
      <p:sp>
        <p:nvSpPr>
          <p:cNvPr id="14" name="pipe_arrow_1"/>
          <p:cNvSpPr/>
          <p:nvPr/>
        </p:nvSpPr>
        <p:spPr>
          <a:xfrm>
            <a:off x="3657600" y="2267712"/>
            <a:ext cx="182880" cy="237744"/>
          </a:xfrm>
          <a:prstGeom prst="rightArrow">
            <a:avLst/>
          </a:prstGeom>
          <a:solidFill>
            <a:srgbClr val="8D99AE"/>
          </a:solidFill>
          <a:ln w="12700">
            <a:solidFill>
              <a:srgbClr val="8D99AE"/>
            </a:solidFill>
            <a:prstDash val="solid"/>
          </a:ln>
        </p:spPr>
      </p:sp>
      <p:sp>
        <p:nvSpPr>
          <p:cNvPr id="15" name="pipe_card_2"/>
          <p:cNvSpPr/>
          <p:nvPr/>
        </p:nvSpPr>
        <p:spPr>
          <a:xfrm>
            <a:off x="3858768" y="1417320"/>
            <a:ext cx="1463040" cy="1920240"/>
          </a:xfrm>
          <a:prstGeom prst="roundRect">
            <a:avLst>
              <a:gd name="adj" fmla="val 7500"/>
            </a:avLst>
          </a:prstGeom>
          <a:solidFill>
            <a:srgbClr val="EEF2F7"/>
          </a:solidFill>
          <a:ln w="12700">
            <a:solidFill>
              <a:srgbClr val="EEF2F7"/>
            </a:solidFill>
            <a:prstDash val="solid"/>
          </a:ln>
        </p:spPr>
      </p:sp>
      <p:sp>
        <p:nvSpPr>
          <p:cNvPr id="16" name="pipe_num_2"/>
          <p:cNvSpPr txBox="1"/>
          <p:nvPr/>
        </p:nvSpPr>
        <p:spPr>
          <a:xfrm>
            <a:off x="3995928" y="1554480"/>
            <a:ext cx="1188720" cy="411480"/>
          </a:xfrm>
          <a:prstGeom prst="rect">
            <a:avLst/>
          </a:prstGeom>
          <a:noFill/>
          <a:ln/>
        </p:spPr>
        <p:txBody>
          <a:bodyPr wrap="square" lIns="0" tIns="0" rIns="0" bIns="0" rtlCol="0" anchor="t"/>
          <a:lstStyle/>
          <a:p>
            <a:pPr indent="0" marL="0">
              <a:buNone/>
            </a:pPr>
            <a:r>
              <a:rPr lang="en-US" sz="2200" b="1" dirty="0">
                <a:solidFill>
                  <a:schemeClr val="accent2"/>
                </a:solidFill>
              </a:rPr>
              <a:t>3</a:t>
            </a:r>
            <a:endParaRPr lang="en-US" sz="2200" dirty="0"/>
          </a:p>
        </p:txBody>
      </p:sp>
      <p:sp>
        <p:nvSpPr>
          <p:cNvPr id="17" name="pipe_head_2"/>
          <p:cNvSpPr txBox="1"/>
          <p:nvPr/>
        </p:nvSpPr>
        <p:spPr>
          <a:xfrm>
            <a:off x="3995928" y="2011680"/>
            <a:ext cx="1188720" cy="320040"/>
          </a:xfrm>
          <a:prstGeom prst="rect">
            <a:avLst/>
          </a:prstGeom>
          <a:noFill/>
          <a:ln/>
        </p:spPr>
        <p:txBody>
          <a:bodyPr wrap="square" lIns="0" tIns="0" rIns="0" bIns="0" rtlCol="0" anchor="t"/>
          <a:lstStyle/>
          <a:p>
            <a:pPr indent="0" marL="0">
              <a:buNone/>
            </a:pPr>
            <a:r>
              <a:rPr lang="en-US" sz="1500" b="1" dirty="0">
                <a:solidFill>
                  <a:schemeClr val="tx2"/>
                </a:solidFill>
              </a:rPr>
              <a:t>분석</a:t>
            </a:r>
            <a:endParaRPr lang="en-US" sz="1500" dirty="0"/>
          </a:p>
        </p:txBody>
      </p:sp>
      <p:sp>
        <p:nvSpPr>
          <p:cNvPr id="18" name="pipe_file_2"/>
          <p:cNvSpPr txBox="1"/>
          <p:nvPr/>
        </p:nvSpPr>
        <p:spPr>
          <a:xfrm>
            <a:off x="3995928" y="2377440"/>
            <a:ext cx="1280160" cy="274320"/>
          </a:xfrm>
          <a:prstGeom prst="rect">
            <a:avLst/>
          </a:prstGeom>
          <a:noFill/>
          <a:ln/>
        </p:spPr>
        <p:txBody>
          <a:bodyPr wrap="square" lIns="0" tIns="0" rIns="0" bIns="0" rtlCol="0" anchor="t"/>
          <a:lstStyle/>
          <a:p>
            <a:pPr indent="0" marL="0">
              <a:buNone/>
            </a:pPr>
            <a:r>
              <a:rPr lang="en-US" sz="1100" dirty="0">
                <a:solidFill>
                  <a:schemeClr val="accent5"/>
                </a:solidFill>
              </a:rPr>
              <a:t>analysis.py</a:t>
            </a:r>
            <a:endParaRPr lang="en-US" sz="1100" dirty="0"/>
          </a:p>
        </p:txBody>
      </p:sp>
      <p:sp>
        <p:nvSpPr>
          <p:cNvPr id="19" name="pipe_out_2"/>
          <p:cNvSpPr txBox="1"/>
          <p:nvPr/>
        </p:nvSpPr>
        <p:spPr>
          <a:xfrm>
            <a:off x="3995928" y="2697480"/>
            <a:ext cx="1188720" cy="548640"/>
          </a:xfrm>
          <a:prstGeom prst="rect">
            <a:avLst/>
          </a:prstGeom>
          <a:noFill/>
          <a:ln/>
        </p:spPr>
        <p:txBody>
          <a:bodyPr wrap="square" lIns="0" tIns="0" rIns="0" bIns="0" rtlCol="0" anchor="t"/>
          <a:lstStyle/>
          <a:p>
            <a:pPr indent="0" marL="0">
              <a:buNone/>
            </a:pPr>
            <a:r>
              <a:rPr lang="en-US" sz="1200" dirty="0">
                <a:solidFill>
                  <a:schemeClr val="tx1"/>
                </a:solidFill>
              </a:rPr>
              <a:t>그래프 3개·수치 로그</a:t>
            </a:r>
            <a:endParaRPr lang="en-US" sz="1200" dirty="0"/>
          </a:p>
        </p:txBody>
      </p:sp>
      <p:sp>
        <p:nvSpPr>
          <p:cNvPr id="20" name="pipe_arrow_2"/>
          <p:cNvSpPr/>
          <p:nvPr/>
        </p:nvSpPr>
        <p:spPr>
          <a:xfrm>
            <a:off x="5358384" y="2267712"/>
            <a:ext cx="182880" cy="237744"/>
          </a:xfrm>
          <a:prstGeom prst="rightArrow">
            <a:avLst/>
          </a:prstGeom>
          <a:solidFill>
            <a:srgbClr val="8D99AE"/>
          </a:solidFill>
          <a:ln w="12700">
            <a:solidFill>
              <a:srgbClr val="8D99AE"/>
            </a:solidFill>
            <a:prstDash val="solid"/>
          </a:ln>
        </p:spPr>
      </p:sp>
      <p:sp>
        <p:nvSpPr>
          <p:cNvPr id="21" name="pipe_card_3"/>
          <p:cNvSpPr/>
          <p:nvPr/>
        </p:nvSpPr>
        <p:spPr>
          <a:xfrm>
            <a:off x="5559552" y="1417320"/>
            <a:ext cx="1463040" cy="1920240"/>
          </a:xfrm>
          <a:prstGeom prst="roundRect">
            <a:avLst>
              <a:gd name="adj" fmla="val 7500"/>
            </a:avLst>
          </a:prstGeom>
          <a:solidFill>
            <a:srgbClr val="FCE9E3"/>
          </a:solidFill>
          <a:ln w="12700">
            <a:solidFill>
              <a:srgbClr val="FCE9E3"/>
            </a:solidFill>
            <a:prstDash val="solid"/>
          </a:ln>
        </p:spPr>
      </p:sp>
      <p:sp>
        <p:nvSpPr>
          <p:cNvPr id="22" name="pipe_num_3"/>
          <p:cNvSpPr txBox="1"/>
          <p:nvPr/>
        </p:nvSpPr>
        <p:spPr>
          <a:xfrm>
            <a:off x="5696712" y="1554480"/>
            <a:ext cx="1188720" cy="41148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23" name="pipe_head_3"/>
          <p:cNvSpPr txBox="1"/>
          <p:nvPr/>
        </p:nvSpPr>
        <p:spPr>
          <a:xfrm>
            <a:off x="5696712" y="2011680"/>
            <a:ext cx="1188720" cy="320040"/>
          </a:xfrm>
          <a:prstGeom prst="rect">
            <a:avLst/>
          </a:prstGeom>
          <a:noFill/>
          <a:ln/>
        </p:spPr>
        <p:txBody>
          <a:bodyPr wrap="square" lIns="0" tIns="0" rIns="0" bIns="0" rtlCol="0" anchor="t"/>
          <a:lstStyle/>
          <a:p>
            <a:pPr indent="0" marL="0">
              <a:buNone/>
            </a:pPr>
            <a:r>
              <a:rPr lang="en-US" sz="1500" b="1" dirty="0">
                <a:solidFill>
                  <a:schemeClr val="tx2"/>
                </a:solidFill>
              </a:rPr>
              <a:t>심화</a:t>
            </a:r>
            <a:endParaRPr lang="en-US" sz="1500" dirty="0"/>
          </a:p>
        </p:txBody>
      </p:sp>
      <p:sp>
        <p:nvSpPr>
          <p:cNvPr id="24" name="pipe_file_3"/>
          <p:cNvSpPr txBox="1"/>
          <p:nvPr/>
        </p:nvSpPr>
        <p:spPr>
          <a:xfrm>
            <a:off x="5696712" y="2377440"/>
            <a:ext cx="1280160" cy="274320"/>
          </a:xfrm>
          <a:prstGeom prst="rect">
            <a:avLst/>
          </a:prstGeom>
          <a:noFill/>
          <a:ln/>
        </p:spPr>
        <p:txBody>
          <a:bodyPr wrap="square" lIns="0" tIns="0" rIns="0" bIns="0" rtlCol="0" anchor="t"/>
          <a:lstStyle/>
          <a:p>
            <a:pPr indent="0" marL="0">
              <a:buNone/>
            </a:pPr>
            <a:r>
              <a:rPr lang="en-US" sz="1100" dirty="0">
                <a:solidFill>
                  <a:schemeClr val="accent5"/>
                </a:solidFill>
              </a:rPr>
              <a:t>bonus.py</a:t>
            </a:r>
            <a:endParaRPr lang="en-US" sz="1100" dirty="0"/>
          </a:p>
        </p:txBody>
      </p:sp>
      <p:sp>
        <p:nvSpPr>
          <p:cNvPr id="25" name="pipe_out_3"/>
          <p:cNvSpPr txBox="1"/>
          <p:nvPr/>
        </p:nvSpPr>
        <p:spPr>
          <a:xfrm>
            <a:off x="5696712" y="2697480"/>
            <a:ext cx="1188720" cy="548640"/>
          </a:xfrm>
          <a:prstGeom prst="rect">
            <a:avLst/>
          </a:prstGeom>
          <a:noFill/>
          <a:ln/>
        </p:spPr>
        <p:txBody>
          <a:bodyPr wrap="square" lIns="0" tIns="0" rIns="0" bIns="0" rtlCol="0" anchor="t"/>
          <a:lstStyle/>
          <a:p>
            <a:pPr indent="0" marL="0">
              <a:buNone/>
            </a:pPr>
            <a:r>
              <a:rPr lang="en-US" sz="1200" dirty="0">
                <a:solidFill>
                  <a:schemeClr val="tx1"/>
                </a:solidFill>
              </a:rPr>
              <a:t>분해·예측 그래프</a:t>
            </a:r>
            <a:endParaRPr lang="en-US" sz="1200" dirty="0"/>
          </a:p>
        </p:txBody>
      </p:sp>
      <p:sp>
        <p:nvSpPr>
          <p:cNvPr id="26" name="pipe_arrow_3"/>
          <p:cNvSpPr/>
          <p:nvPr/>
        </p:nvSpPr>
        <p:spPr>
          <a:xfrm>
            <a:off x="7059168" y="2267712"/>
            <a:ext cx="182880" cy="237744"/>
          </a:xfrm>
          <a:prstGeom prst="rightArrow">
            <a:avLst/>
          </a:prstGeom>
          <a:solidFill>
            <a:srgbClr val="8D99AE"/>
          </a:solidFill>
          <a:ln w="12700">
            <a:solidFill>
              <a:srgbClr val="8D99AE"/>
            </a:solidFill>
            <a:prstDash val="solid"/>
          </a:ln>
        </p:spPr>
      </p:sp>
      <p:sp>
        <p:nvSpPr>
          <p:cNvPr id="27" name="pipe_card_4"/>
          <p:cNvSpPr/>
          <p:nvPr/>
        </p:nvSpPr>
        <p:spPr>
          <a:xfrm>
            <a:off x="7260336" y="1417320"/>
            <a:ext cx="1463040" cy="1920240"/>
          </a:xfrm>
          <a:prstGeom prst="roundRect">
            <a:avLst>
              <a:gd name="adj" fmla="val 7500"/>
            </a:avLst>
          </a:prstGeom>
          <a:solidFill>
            <a:srgbClr val="FCE9E3"/>
          </a:solidFill>
          <a:ln w="12700">
            <a:solidFill>
              <a:srgbClr val="FCE9E3"/>
            </a:solidFill>
            <a:prstDash val="solid"/>
          </a:ln>
        </p:spPr>
      </p:sp>
      <p:sp>
        <p:nvSpPr>
          <p:cNvPr id="28" name="pipe_num_4"/>
          <p:cNvSpPr txBox="1"/>
          <p:nvPr/>
        </p:nvSpPr>
        <p:spPr>
          <a:xfrm>
            <a:off x="7397496" y="1554480"/>
            <a:ext cx="1188720" cy="411480"/>
          </a:xfrm>
          <a:prstGeom prst="rect">
            <a:avLst/>
          </a:prstGeom>
          <a:noFill/>
          <a:ln/>
        </p:spPr>
        <p:txBody>
          <a:bodyPr wrap="square" lIns="0" tIns="0" rIns="0" bIns="0" rtlCol="0" anchor="t"/>
          <a:lstStyle/>
          <a:p>
            <a:pPr indent="0" marL="0">
              <a:buNone/>
            </a:pPr>
            <a:r>
              <a:rPr lang="en-US" sz="2200" b="1" dirty="0">
                <a:solidFill>
                  <a:schemeClr val="accent1"/>
                </a:solidFill>
              </a:rPr>
              <a:t>5</a:t>
            </a:r>
            <a:endParaRPr lang="en-US" sz="2200" dirty="0"/>
          </a:p>
        </p:txBody>
      </p:sp>
      <p:sp>
        <p:nvSpPr>
          <p:cNvPr id="29" name="pipe_head_4"/>
          <p:cNvSpPr txBox="1"/>
          <p:nvPr/>
        </p:nvSpPr>
        <p:spPr>
          <a:xfrm>
            <a:off x="7397496" y="2011680"/>
            <a:ext cx="1188720" cy="320040"/>
          </a:xfrm>
          <a:prstGeom prst="rect">
            <a:avLst/>
          </a:prstGeom>
          <a:noFill/>
          <a:ln/>
        </p:spPr>
        <p:txBody>
          <a:bodyPr wrap="square" lIns="0" tIns="0" rIns="0" bIns="0" rtlCol="0" anchor="t"/>
          <a:lstStyle/>
          <a:p>
            <a:pPr indent="0" marL="0">
              <a:buNone/>
            </a:pPr>
            <a:r>
              <a:rPr lang="en-US" sz="1500" b="1" dirty="0">
                <a:solidFill>
                  <a:schemeClr val="tx2"/>
                </a:solidFill>
              </a:rPr>
              <a:t>대시보드</a:t>
            </a:r>
            <a:endParaRPr lang="en-US" sz="1500" dirty="0"/>
          </a:p>
        </p:txBody>
      </p:sp>
      <p:sp>
        <p:nvSpPr>
          <p:cNvPr id="30" name="pipe_file_4"/>
          <p:cNvSpPr txBox="1"/>
          <p:nvPr/>
        </p:nvSpPr>
        <p:spPr>
          <a:xfrm>
            <a:off x="7397496" y="2377440"/>
            <a:ext cx="1280160" cy="274320"/>
          </a:xfrm>
          <a:prstGeom prst="rect">
            <a:avLst/>
          </a:prstGeom>
          <a:noFill/>
          <a:ln/>
        </p:spPr>
        <p:txBody>
          <a:bodyPr wrap="square" lIns="0" tIns="0" rIns="0" bIns="0" rtlCol="0" anchor="t"/>
          <a:lstStyle/>
          <a:p>
            <a:pPr indent="0" marL="0">
              <a:buNone/>
            </a:pPr>
            <a:r>
              <a:rPr lang="en-US" sz="1100" dirty="0">
                <a:solidFill>
                  <a:schemeClr val="accent5"/>
                </a:solidFill>
              </a:rPr>
              <a:t>app.py</a:t>
            </a:r>
            <a:endParaRPr lang="en-US" sz="1100" dirty="0"/>
          </a:p>
        </p:txBody>
      </p:sp>
      <p:sp>
        <p:nvSpPr>
          <p:cNvPr id="31" name="pipe_out_4"/>
          <p:cNvSpPr txBox="1"/>
          <p:nvPr/>
        </p:nvSpPr>
        <p:spPr>
          <a:xfrm>
            <a:off x="7397496" y="2697480"/>
            <a:ext cx="1188720" cy="548640"/>
          </a:xfrm>
          <a:prstGeom prst="rect">
            <a:avLst/>
          </a:prstGeom>
          <a:noFill/>
          <a:ln/>
        </p:spPr>
        <p:txBody>
          <a:bodyPr wrap="square" lIns="0" tIns="0" rIns="0" bIns="0" rtlCol="0" anchor="t"/>
          <a:lstStyle/>
          <a:p>
            <a:pPr indent="0" marL="0">
              <a:buNone/>
            </a:pPr>
            <a:r>
              <a:rPr lang="en-US" sz="1200" dirty="0">
                <a:solidFill>
                  <a:schemeClr val="tx1"/>
                </a:solidFill>
              </a:rPr>
              <a:t>조건별 탐색</a:t>
            </a:r>
            <a:endParaRPr lang="en-US" sz="1200" dirty="0"/>
          </a:p>
        </p:txBody>
      </p:sp>
      <p:sp>
        <p:nvSpPr>
          <p:cNvPr id="32" name="pipe_note_card"/>
          <p:cNvSpPr/>
          <p:nvPr/>
        </p:nvSpPr>
        <p:spPr>
          <a:xfrm>
            <a:off x="457200" y="3657600"/>
            <a:ext cx="8229600" cy="868680"/>
          </a:xfrm>
          <a:prstGeom prst="roundRect">
            <a:avLst>
              <a:gd name="adj" fmla="val 12632"/>
            </a:avLst>
          </a:prstGeom>
          <a:solidFill>
            <a:srgbClr val="EEF2F7"/>
          </a:solidFill>
          <a:ln w="12700">
            <a:solidFill>
              <a:srgbClr val="EEF2F7"/>
            </a:solidFill>
            <a:prstDash val="solid"/>
          </a:ln>
        </p:spPr>
      </p:sp>
      <p:sp>
        <p:nvSpPr>
          <p:cNvPr id="33" name="pipe_note_icon_bg"/>
          <p:cNvSpPr/>
          <p:nvPr/>
        </p:nvSpPr>
        <p:spPr>
          <a:xfrm>
            <a:off x="640080" y="3794760"/>
            <a:ext cx="594360" cy="594360"/>
          </a:xfrm>
          <a:prstGeom prst="ellipse">
            <a:avLst/>
          </a:prstGeom>
          <a:solidFill>
            <a:srgbClr val="5B8E7D"/>
          </a:solidFill>
          <a:ln w="12700">
            <a:solidFill>
              <a:srgbClr val="5B8E7D"/>
            </a:solidFill>
            <a:prstDash val="solid"/>
          </a:ln>
        </p:spPr>
      </p:sp>
      <p:pic>
        <p:nvPicPr>
          <p:cNvPr id="34" name="pipe_note_icon" descr="preencoded.png">    </p:cNvPr>
          <p:cNvPicPr>
            <a:picLocks noChangeAspect="1"/>
          </p:cNvPicPr>
          <p:nvPr/>
        </p:nvPicPr>
        <p:blipFill>
          <a:blip r:embed="rId1"/>
          <a:stretch>
            <a:fillRect/>
          </a:stretch>
        </p:blipFill>
        <p:spPr>
          <a:xfrm>
            <a:off x="782726" y="3937406"/>
            <a:ext cx="309067" cy="309067"/>
          </a:xfrm>
          <a:prstGeom prst="rect">
            <a:avLst/>
          </a:prstGeom>
        </p:spPr>
      </p:pic>
      <p:sp>
        <p:nvSpPr>
          <p:cNvPr id="35" name="pipe_note"/>
          <p:cNvSpPr txBox="1"/>
          <p:nvPr/>
        </p:nvSpPr>
        <p:spPr>
          <a:xfrm>
            <a:off x="1417320" y="3703320"/>
            <a:ext cx="7132320" cy="777240"/>
          </a:xfrm>
          <a:prstGeom prst="rect">
            <a:avLst/>
          </a:prstGeom>
          <a:noFill/>
          <a:ln/>
        </p:spPr>
        <p:txBody>
          <a:bodyPr wrap="square" lIns="0" tIns="0" rIns="0" bIns="0" rtlCol="0" anchor="ctr"/>
          <a:lstStyle/>
          <a:p>
            <a:pPr indent="0" marL="0">
              <a:buNone/>
            </a:pPr>
            <a:r>
              <a:rPr lang="en-US" sz="1300" dirty="0">
                <a:solidFill>
                  <a:schemeClr val="tx1"/>
                </a:solidFill>
              </a:rPr>
              <a:t>pip install -r requirements.txt 후 순서대로 실행하면 누구나 같은 결과를 재현할 수 있다. 모든 단계는 GitHub에 커밋으로 남겼다.</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결측치 0건이어도, 5가지를 따로 점검했다</a:t>
            </a:r>
            <a:endParaRPr lang="en-US" sz="2400" dirty="0"/>
          </a:p>
        </p:txBody>
      </p:sp>
      <p:graphicFrame>
        <p:nvGraphicFramePr>
          <p:cNvPr id="11" name="clean_table"/>
          <p:cNvGraphicFramePr>
            <a:graphicFrameLocks noGrp="1"/>
          </p:cNvGraphicFramePr>
          <p:nvPr>
            <p:extLst>
              <p:ext uri="{D42A27DB-BD31-4B8C-83A1-F6EECF244321}">
                <p14:modId xmlns:p14="http://schemas.microsoft.com/office/powerpoint/2010/main" val="1579011935"/>
              </p:ext>
            </p:extLst>
          </p:nvPr>
        </p:nvGraphicFramePr>
        <p:xfrm>
          <a:off x="457200" y="1097280"/>
          <a:ext cx="4937760" cy="914400"/>
        </p:xfrm>
        <a:graphic>
          <a:graphicData uri="http://schemas.openxmlformats.org/drawingml/2006/table">
            <a:tbl>
              <a:tblPr/>
              <a:tblGrid>
                <a:gridCol w="1371600"/>
                <a:gridCol w="2377440"/>
                <a:gridCol w="1188720"/>
              </a:tblGrid>
              <a:tr h="457200">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점검 항목</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기준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결과</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r>
              <a:tr h="457200">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숨은 결측치</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빠진 날짜·중복 날짜</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0건</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57200">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컬럼 결측치</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기온·강수의 빈 값</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0개</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57200">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물리적 범위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-20~45℃ 밖의 값</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0개</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57200">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논리 오류</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최저 ≤ 평균 ≤ 최고 위반</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dirty="0">
                          <a:solidFill>
                            <a:srgbClr val="1F2933"/>
                          </a:solidFill>
                          <a:latin typeface="Malgun Gothic" pitchFamily="34" charset="0"/>
                          <a:ea typeface="Malgun Gothic" pitchFamily="34" charset="-122"/>
                          <a:cs typeface="Malgun Gothic" pitchFamily="34" charset="-120"/>
                        </a:rPr>
                        <a:t>0건</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57200">
                <a:tc>
                  <a:txBody>
                    <a:bodyPr/>
                    <a:lstStyle/>
                    <a:p>
                      <a:pPr indent="0" marL="0">
                        <a:buNone/>
                      </a:pPr>
                      <a:r>
                        <a:rPr lang="en-US" sz="1300" b="1" dirty="0">
                          <a:solidFill>
                            <a:srgbClr val="E4572E"/>
                          </a:solidFill>
                          <a:latin typeface="Malgun Gothic" pitchFamily="34" charset="0"/>
                          <a:ea typeface="Malgun Gothic" pitchFamily="34" charset="-122"/>
                          <a:cs typeface="Malgun Gothic" pitchFamily="34" charset="-120"/>
                        </a:rPr>
                        <a:t>급변일</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b="1" dirty="0">
                          <a:solidFill>
                            <a:srgbClr val="E4572E"/>
                          </a:solidFill>
                          <a:latin typeface="Malgun Gothic" pitchFamily="34" charset="0"/>
                          <a:ea typeface="Malgun Gothic" pitchFamily="34" charset="-122"/>
                          <a:cs typeface="Malgun Gothic" pitchFamily="34" charset="-120"/>
                        </a:rPr>
                        <a:t>전일 대비 변화 |z| &gt; 3</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300" b="1" dirty="0">
                          <a:solidFill>
                            <a:srgbClr val="E4572E"/>
                          </a:solidFill>
                          <a:latin typeface="Malgun Gothic" pitchFamily="34" charset="0"/>
                          <a:ea typeface="Malgun Gothic" pitchFamily="34" charset="-122"/>
                          <a:cs typeface="Malgun Gothic" pitchFamily="34" charset="-120"/>
                        </a:rPr>
                        <a:t>37일</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4" name="why_check_card"/>
          <p:cNvSpPr/>
          <p:nvPr/>
        </p:nvSpPr>
        <p:spPr>
          <a:xfrm>
            <a:off x="5669280" y="1097280"/>
            <a:ext cx="3017520" cy="3429000"/>
          </a:xfrm>
          <a:prstGeom prst="roundRect">
            <a:avLst>
              <a:gd name="adj" fmla="val 3636"/>
            </a:avLst>
          </a:prstGeom>
          <a:solidFill>
            <a:srgbClr val="EEF2F7"/>
          </a:solidFill>
          <a:ln w="12700">
            <a:solidFill>
              <a:srgbClr val="EEF2F7"/>
            </a:solidFill>
            <a:prstDash val="solid"/>
          </a:ln>
        </p:spPr>
      </p:sp>
      <p:sp>
        <p:nvSpPr>
          <p:cNvPr id="5" name="why_check_icon_bg"/>
          <p:cNvSpPr/>
          <p:nvPr/>
        </p:nvSpPr>
        <p:spPr>
          <a:xfrm>
            <a:off x="5897880" y="1280160"/>
            <a:ext cx="457200" cy="457200"/>
          </a:xfrm>
          <a:prstGeom prst="ellipse">
            <a:avLst/>
          </a:prstGeom>
          <a:solidFill>
            <a:srgbClr val="2E86AB"/>
          </a:solidFill>
          <a:ln w="12700">
            <a:solidFill>
              <a:srgbClr val="2E86AB"/>
            </a:solidFill>
            <a:prstDash val="solid"/>
          </a:ln>
        </p:spPr>
      </p:sp>
      <p:pic>
        <p:nvPicPr>
          <p:cNvPr id="6" name="why_check_icon" descr="preencoded.png">    </p:cNvPr>
          <p:cNvPicPr>
            <a:picLocks noChangeAspect="1"/>
          </p:cNvPicPr>
          <p:nvPr/>
        </p:nvPicPr>
        <p:blipFill>
          <a:blip r:embed="rId1"/>
          <a:stretch>
            <a:fillRect/>
          </a:stretch>
        </p:blipFill>
        <p:spPr>
          <a:xfrm>
            <a:off x="6007608" y="1389888"/>
            <a:ext cx="237744" cy="237744"/>
          </a:xfrm>
          <a:prstGeom prst="rect">
            <a:avLst/>
          </a:prstGeom>
        </p:spPr>
      </p:pic>
      <p:sp>
        <p:nvSpPr>
          <p:cNvPr id="7" name="why_check_head"/>
          <p:cNvSpPr txBox="1"/>
          <p:nvPr/>
        </p:nvSpPr>
        <p:spPr>
          <a:xfrm>
            <a:off x="6492240" y="1280160"/>
            <a:ext cx="2103120" cy="457200"/>
          </a:xfrm>
          <a:prstGeom prst="rect">
            <a:avLst/>
          </a:prstGeom>
          <a:noFill/>
          <a:ln/>
        </p:spPr>
        <p:txBody>
          <a:bodyPr wrap="square" lIns="0" tIns="0" rIns="0" bIns="0" rtlCol="0" anchor="ctr"/>
          <a:lstStyle/>
          <a:p>
            <a:pPr indent="0" marL="0">
              <a:buNone/>
            </a:pPr>
            <a:r>
              <a:rPr lang="en-US" sz="1500" b="1" dirty="0">
                <a:solidFill>
                  <a:schemeClr val="tx2"/>
                </a:solidFill>
              </a:rPr>
              <a:t>왜 더 점검했나</a:t>
            </a:r>
            <a:endParaRPr lang="en-US" sz="1500" dirty="0"/>
          </a:p>
        </p:txBody>
      </p:sp>
      <p:sp>
        <p:nvSpPr>
          <p:cNvPr id="8" name="why_check_body"/>
          <p:cNvSpPr txBox="1"/>
          <p:nvPr/>
        </p:nvSpPr>
        <p:spPr>
          <a:xfrm>
            <a:off x="5897880" y="1965960"/>
            <a:ext cx="260604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날짜 행 자체가 빠지면 isna()로 잡히지 않는다</a:t>
            </a:r>
            <a:endParaRPr lang="en-US" sz="1300" dirty="0"/>
          </a:p>
          <a:p>
            <a:pPr marL="342900" indent="-342900">
              <a:spcAft>
                <a:spcPts val="800"/>
              </a:spcAft>
              <a:buSzPct val="100000"/>
              <a:buChar char="•"/>
            </a:pPr>
            <a:r>
              <a:rPr lang="en-US" sz="1300" dirty="0">
                <a:solidFill>
                  <a:schemeClr val="tx1"/>
                </a:solidFill>
              </a:rPr>
              <a:t>값이 있어도 최저가 최고보다 크면 틀린 데이터</a:t>
            </a:r>
            <a:endParaRPr lang="en-US" sz="1300" dirty="0"/>
          </a:p>
          <a:p>
            <a:pPr marL="342900" indent="-342900">
              <a:spcAft>
                <a:spcPts val="800"/>
              </a:spcAft>
              <a:buSzPct val="100000"/>
              <a:buChar char="•"/>
            </a:pPr>
            <a:r>
              <a:rPr lang="en-US" sz="1300" dirty="0">
                <a:solidFill>
                  <a:schemeClr val="tx1"/>
                </a:solidFill>
              </a:rPr>
              <a:t>'결측 0'은 출발점이지 결론이 아니다</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이상치 기준: 전날 대비 변화의 z-score &gt; 3</a:t>
            </a:r>
            <a:endParaRPr lang="en-US" sz="2400" dirty="0"/>
          </a:p>
        </p:txBody>
      </p:sp>
      <p:graphicFrame>
        <p:nvGraphicFramePr>
          <p:cNvPr id="3" name="chart_hist" descr=""/>
          <p:cNvGraphicFramePr/>
          <p:nvPr/>
        </p:nvGraphicFramePr>
        <p:xfrm>
          <a:off x="457200" y="1005840"/>
          <a:ext cx="5120640" cy="3520440"/>
        </p:xfrm>
        <a:graphic xmlns:a="http://schemas.openxmlformats.org/drawingml/2006/main">
          <a:graphicData uri="http://schemas.openxmlformats.org/drawingml/2006/chart">
            <c:chart xmlns:c="http://schemas.openxmlformats.org/drawingml/2006/chart" r:id="rId1"/>
          </a:graphicData>
        </a:graphic>
      </p:graphicFrame>
      <p:sp>
        <p:nvSpPr>
          <p:cNvPr id="4" name="tail_l_card"/>
          <p:cNvSpPr/>
          <p:nvPr/>
        </p:nvSpPr>
        <p:spPr>
          <a:xfrm>
            <a:off x="1051560" y="1691640"/>
            <a:ext cx="1508760" cy="685800"/>
          </a:xfrm>
          <a:prstGeom prst="roundRect">
            <a:avLst>
              <a:gd name="adj" fmla="val 16000"/>
            </a:avLst>
          </a:prstGeom>
          <a:solidFill>
            <a:srgbClr val="FCE9E3"/>
          </a:solidFill>
          <a:ln w="12700">
            <a:solidFill>
              <a:srgbClr val="FCE9E3"/>
            </a:solidFill>
            <a:prstDash val="solid"/>
          </a:ln>
        </p:spPr>
      </p:sp>
      <p:sp>
        <p:nvSpPr>
          <p:cNvPr id="5" name="tail_l"/>
          <p:cNvSpPr txBox="1"/>
          <p:nvPr/>
        </p:nvSpPr>
        <p:spPr>
          <a:xfrm>
            <a:off x="1143000" y="1737360"/>
            <a:ext cx="1371600" cy="594360"/>
          </a:xfrm>
          <a:prstGeom prst="rect">
            <a:avLst/>
          </a:prstGeom>
          <a:noFill/>
          <a:ln/>
        </p:spPr>
        <p:txBody>
          <a:bodyPr wrap="square" lIns="0" tIns="0" rIns="0" bIns="0" rtlCol="0" anchor="ctr"/>
          <a:lstStyle/>
          <a:p>
            <a:pPr indent="0" marL="0">
              <a:buNone/>
            </a:pPr>
            <a:r>
              <a:rPr lang="en-US" sz="1200" b="1" dirty="0">
                <a:solidFill>
                  <a:schemeClr val="accent1"/>
                </a:solidFill>
              </a:rPr>
              <a:t>−7℃ 이하</a:t>
            </a:r>
            <a:endParaRPr lang="en-US" sz="1200" dirty="0"/>
          </a:p>
          <a:p>
            <a:pPr indent="0" marL="0">
              <a:buNone/>
            </a:pPr>
            <a:r>
              <a:rPr lang="en-US" sz="1200" dirty="0">
                <a:solidFill>
                  <a:schemeClr val="accent1"/>
                </a:solidFill>
              </a:rPr>
              <a:t>31일 (긴 꼬리)</a:t>
            </a:r>
            <a:endParaRPr lang="en-US" sz="1200" dirty="0"/>
          </a:p>
        </p:txBody>
      </p:sp>
      <p:sp>
        <p:nvSpPr>
          <p:cNvPr id="6" name="tail_r_card"/>
          <p:cNvSpPr/>
          <p:nvPr/>
        </p:nvSpPr>
        <p:spPr>
          <a:xfrm>
            <a:off x="4023360" y="1691640"/>
            <a:ext cx="1371600" cy="685800"/>
          </a:xfrm>
          <a:prstGeom prst="roundRect">
            <a:avLst>
              <a:gd name="adj" fmla="val 16000"/>
            </a:avLst>
          </a:prstGeom>
          <a:solidFill>
            <a:srgbClr val="FCE9E3"/>
          </a:solidFill>
          <a:ln w="12700">
            <a:solidFill>
              <a:srgbClr val="FCE9E3"/>
            </a:solidFill>
            <a:prstDash val="solid"/>
          </a:ln>
        </p:spPr>
      </p:sp>
      <p:sp>
        <p:nvSpPr>
          <p:cNvPr id="7" name="tail_r"/>
          <p:cNvSpPr txBox="1"/>
          <p:nvPr/>
        </p:nvSpPr>
        <p:spPr>
          <a:xfrm>
            <a:off x="4114800" y="1737360"/>
            <a:ext cx="1234440" cy="594360"/>
          </a:xfrm>
          <a:prstGeom prst="rect">
            <a:avLst/>
          </a:prstGeom>
          <a:noFill/>
          <a:ln/>
        </p:spPr>
        <p:txBody>
          <a:bodyPr wrap="square" lIns="0" tIns="0" rIns="0" bIns="0" rtlCol="0" anchor="ctr"/>
          <a:lstStyle/>
          <a:p>
            <a:pPr indent="0" marL="0">
              <a:buNone/>
            </a:pPr>
            <a:r>
              <a:rPr lang="en-US" sz="1200" b="1" dirty="0">
                <a:solidFill>
                  <a:schemeClr val="accent1"/>
                </a:solidFill>
              </a:rPr>
              <a:t>+6℃ 이상</a:t>
            </a:r>
            <a:endParaRPr lang="en-US" sz="1200" dirty="0"/>
          </a:p>
          <a:p>
            <a:pPr indent="0" marL="0">
              <a:buNone/>
            </a:pPr>
            <a:r>
              <a:rPr lang="en-US" sz="1200" dirty="0">
                <a:solidFill>
                  <a:schemeClr val="accent1"/>
                </a:solidFill>
              </a:rPr>
              <a:t>9일</a:t>
            </a:r>
            <a:endParaRPr lang="en-US" sz="1200" dirty="0"/>
          </a:p>
        </p:txBody>
      </p:sp>
      <p:sp>
        <p:nvSpPr>
          <p:cNvPr id="8" name="z_rule_head"/>
          <p:cNvSpPr txBox="1"/>
          <p:nvPr/>
        </p:nvSpPr>
        <p:spPr>
          <a:xfrm>
            <a:off x="5852160" y="1005840"/>
            <a:ext cx="2834640" cy="274320"/>
          </a:xfrm>
          <a:prstGeom prst="rect">
            <a:avLst/>
          </a:prstGeom>
          <a:noFill/>
          <a:ln/>
        </p:spPr>
        <p:txBody>
          <a:bodyPr wrap="square" lIns="0" tIns="0" rIns="0" bIns="0" rtlCol="0" anchor="t"/>
          <a:lstStyle/>
          <a:p>
            <a:pPr indent="0" marL="0">
              <a:buNone/>
            </a:pPr>
            <a:r>
              <a:rPr lang="en-US" sz="1200" b="1" dirty="0">
                <a:solidFill>
                  <a:srgbClr val="14213D"/>
                </a:solidFill>
              </a:rPr>
              <a:t>기준</a:t>
            </a:r>
            <a:endParaRPr lang="en-US" sz="1200" dirty="0"/>
          </a:p>
        </p:txBody>
      </p:sp>
      <p:sp>
        <p:nvSpPr>
          <p:cNvPr id="9" name="z_rule_body"/>
          <p:cNvSpPr txBox="1"/>
          <p:nvPr/>
        </p:nvSpPr>
        <p:spPr>
          <a:xfrm>
            <a:off x="5852160" y="1280160"/>
            <a:ext cx="2834640" cy="1005840"/>
          </a:xfrm>
          <a:prstGeom prst="rect">
            <a:avLst/>
          </a:prstGeom>
          <a:noFill/>
          <a:ln/>
        </p:spPr>
        <p:txBody>
          <a:bodyPr wrap="square" lIns="0" tIns="0" rIns="0" bIns="0" rtlCol="0" anchor="t"/>
          <a:lstStyle/>
          <a:p>
            <a:pPr indent="0" marL="0">
              <a:buNone/>
            </a:pPr>
            <a:r>
              <a:rPr lang="en-US" sz="1200" dirty="0">
                <a:solidFill>
                  <a:schemeClr val="tx1"/>
                </a:solidFill>
              </a:rPr>
              <a:t>변화량 평균 0.00℃, 표준편차 2.06℃ → |z| &gt; 3은 하루 약 ±6.2℃ 넘는 변화. 전체의 98.3%가 그 안에 든다.</a:t>
            </a:r>
            <a:endParaRPr lang="en-US" sz="1200" dirty="0"/>
          </a:p>
        </p:txBody>
      </p:sp>
      <p:sp>
        <p:nvSpPr>
          <p:cNvPr id="10" name="z_proc_head"/>
          <p:cNvSpPr txBox="1"/>
          <p:nvPr/>
        </p:nvSpPr>
        <p:spPr>
          <a:xfrm>
            <a:off x="5852160" y="2377440"/>
            <a:ext cx="2834640" cy="274320"/>
          </a:xfrm>
          <a:prstGeom prst="rect">
            <a:avLst/>
          </a:prstGeom>
          <a:noFill/>
          <a:ln/>
        </p:spPr>
        <p:txBody>
          <a:bodyPr wrap="square" lIns="0" tIns="0" rIns="0" bIns="0" rtlCol="0" anchor="t"/>
          <a:lstStyle/>
          <a:p>
            <a:pPr indent="0" marL="0">
              <a:buNone/>
            </a:pPr>
            <a:r>
              <a:rPr lang="en-US" sz="1200" b="1" dirty="0">
                <a:solidFill>
                  <a:srgbClr val="E4572E"/>
                </a:solidFill>
              </a:rPr>
              <a:t>처리</a:t>
            </a:r>
            <a:endParaRPr lang="en-US" sz="1200" dirty="0"/>
          </a:p>
        </p:txBody>
      </p:sp>
      <p:sp>
        <p:nvSpPr>
          <p:cNvPr id="11" name="z_proc_body"/>
          <p:cNvSpPr txBox="1"/>
          <p:nvPr/>
        </p:nvSpPr>
        <p:spPr>
          <a:xfrm>
            <a:off x="5852160" y="2651760"/>
            <a:ext cx="2834640" cy="1005840"/>
          </a:xfrm>
          <a:prstGeom prst="rect">
            <a:avLst/>
          </a:prstGeom>
          <a:noFill/>
          <a:ln/>
        </p:spPr>
        <p:txBody>
          <a:bodyPr wrap="square" lIns="0" tIns="0" rIns="0" bIns="0" rtlCol="0" anchor="t"/>
          <a:lstStyle/>
          <a:p>
            <a:pPr indent="0" marL="0">
              <a:buNone/>
            </a:pPr>
            <a:r>
              <a:rPr lang="en-US" sz="1200" dirty="0">
                <a:solidFill>
                  <a:schemeClr val="tx1"/>
                </a:solidFill>
              </a:rPr>
              <a:t>삭제하지 않고 is_outlier로 표시만 했다. 한파 같은 실제 기상일 가능성이 크고, 지우면 변동성을 과소평가한다.</a:t>
            </a:r>
            <a:endParaRPr lang="en-US" sz="1200" dirty="0"/>
          </a:p>
        </p:txBody>
      </p:sp>
      <p:sp>
        <p:nvSpPr>
          <p:cNvPr id="12" name="z_shape_head"/>
          <p:cNvSpPr txBox="1"/>
          <p:nvPr/>
        </p:nvSpPr>
        <p:spPr>
          <a:xfrm>
            <a:off x="5852160" y="3703320"/>
            <a:ext cx="2834640" cy="274320"/>
          </a:xfrm>
          <a:prstGeom prst="rect">
            <a:avLst/>
          </a:prstGeom>
          <a:noFill/>
          <a:ln/>
        </p:spPr>
        <p:txBody>
          <a:bodyPr wrap="square" lIns="0" tIns="0" rIns="0" bIns="0" rtlCol="0" anchor="t"/>
          <a:lstStyle/>
          <a:p>
            <a:pPr indent="0" marL="0">
              <a:buNone/>
            </a:pPr>
            <a:r>
              <a:rPr lang="en-US" sz="1200" b="1" dirty="0">
                <a:solidFill>
                  <a:srgbClr val="2E86AB"/>
                </a:solidFill>
              </a:rPr>
              <a:t>분포에서 보이는 것</a:t>
            </a:r>
            <a:endParaRPr lang="en-US" sz="1200" dirty="0"/>
          </a:p>
        </p:txBody>
      </p:sp>
      <p:sp>
        <p:nvSpPr>
          <p:cNvPr id="13" name="z_shape_body"/>
          <p:cNvSpPr txBox="1"/>
          <p:nvPr/>
        </p:nvSpPr>
        <p:spPr>
          <a:xfrm>
            <a:off x="5852160" y="3977640"/>
            <a:ext cx="2834640" cy="457200"/>
          </a:xfrm>
          <a:prstGeom prst="rect">
            <a:avLst/>
          </a:prstGeom>
          <a:noFill/>
          <a:ln/>
        </p:spPr>
        <p:txBody>
          <a:bodyPr wrap="square" lIns="0" tIns="0" rIns="0" bIns="0" rtlCol="0" anchor="t"/>
          <a:lstStyle/>
          <a:p>
            <a:pPr indent="0" marL="0">
              <a:buNone/>
            </a:pPr>
            <a:r>
              <a:rPr lang="en-US" sz="1200" dirty="0">
                <a:solidFill>
                  <a:schemeClr val="tx1"/>
                </a:solidFill>
              </a:rPr>
              <a:t>왼쪽(하강) 꼬리가 더 길다 → 인사이트 ③</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이동평균으로 추세·계절성·노이즈를 나눠 봤다</a:t>
            </a:r>
            <a:endParaRPr lang="en-US" sz="2400" dirty="0"/>
          </a:p>
        </p:txBody>
      </p:sp>
      <p:pic>
        <p:nvPicPr>
          <p:cNvPr id="3" name="graph01" descr="01_temp_trend_moving_average.png">    </p:cNvPr>
          <p:cNvPicPr>
            <a:picLocks noChangeAspect="1"/>
          </p:cNvPicPr>
          <p:nvPr/>
        </p:nvPicPr>
        <p:blipFill>
          <a:blip r:embed="rId1"/>
          <a:stretch>
            <a:fillRect/>
          </a:stretch>
        </p:blipFill>
        <p:spPr>
          <a:xfrm>
            <a:off x="457200" y="1051560"/>
            <a:ext cx="5486400" cy="2286000"/>
          </a:xfrm>
          <a:prstGeom prst="rect">
            <a:avLst/>
          </a:prstGeom>
        </p:spPr>
      </p:pic>
      <p:sp>
        <p:nvSpPr>
          <p:cNvPr id="4" name="leg_dot_0"/>
          <p:cNvSpPr/>
          <p:nvPr/>
        </p:nvSpPr>
        <p:spPr>
          <a:xfrm>
            <a:off x="6263640" y="1161288"/>
            <a:ext cx="201168" cy="201168"/>
          </a:xfrm>
          <a:prstGeom prst="ellipse">
            <a:avLst/>
          </a:prstGeom>
          <a:solidFill>
            <a:srgbClr val="8D99AE"/>
          </a:solidFill>
          <a:ln w="12700">
            <a:solidFill>
              <a:srgbClr val="8D99AE"/>
            </a:solidFill>
            <a:prstDash val="solid"/>
          </a:ln>
        </p:spPr>
      </p:sp>
      <p:sp>
        <p:nvSpPr>
          <p:cNvPr id="5" name="leg_head_0"/>
          <p:cNvSpPr txBox="1"/>
          <p:nvPr/>
        </p:nvSpPr>
        <p:spPr>
          <a:xfrm>
            <a:off x="6583680" y="1097280"/>
            <a:ext cx="2103120" cy="320040"/>
          </a:xfrm>
          <a:prstGeom prst="rect">
            <a:avLst/>
          </a:prstGeom>
          <a:noFill/>
          <a:ln/>
        </p:spPr>
        <p:txBody>
          <a:bodyPr wrap="square" lIns="0" tIns="0" rIns="0" bIns="0" rtlCol="0" anchor="t"/>
          <a:lstStyle/>
          <a:p>
            <a:pPr indent="0" marL="0">
              <a:buNone/>
            </a:pPr>
            <a:r>
              <a:rPr lang="en-US" sz="1300" b="1" dirty="0">
                <a:solidFill>
                  <a:schemeClr val="tx2"/>
                </a:solidFill>
              </a:rPr>
              <a:t>회색 · 일별 값</a:t>
            </a:r>
            <a:endParaRPr lang="en-US" sz="1300" dirty="0"/>
          </a:p>
        </p:txBody>
      </p:sp>
      <p:sp>
        <p:nvSpPr>
          <p:cNvPr id="6" name="leg_body_0"/>
          <p:cNvSpPr txBox="1"/>
          <p:nvPr/>
        </p:nvSpPr>
        <p:spPr>
          <a:xfrm>
            <a:off x="6583680" y="1417320"/>
            <a:ext cx="2103120" cy="365760"/>
          </a:xfrm>
          <a:prstGeom prst="rect">
            <a:avLst/>
          </a:prstGeom>
          <a:noFill/>
          <a:ln/>
        </p:spPr>
        <p:txBody>
          <a:bodyPr wrap="square" lIns="0" tIns="0" rIns="0" bIns="0" rtlCol="0" anchor="t"/>
          <a:lstStyle/>
          <a:p>
            <a:pPr indent="0" marL="0">
              <a:buNone/>
            </a:pPr>
            <a:r>
              <a:rPr lang="en-US" sz="1100" dirty="0">
                <a:solidFill>
                  <a:schemeClr val="tx1"/>
                </a:solidFill>
              </a:rPr>
              <a:t>노이즈: 날마다의 우연한 변동</a:t>
            </a:r>
            <a:endParaRPr lang="en-US" sz="1100" dirty="0"/>
          </a:p>
        </p:txBody>
      </p:sp>
      <p:sp>
        <p:nvSpPr>
          <p:cNvPr id="7" name="leg_dot_1"/>
          <p:cNvSpPr/>
          <p:nvPr/>
        </p:nvSpPr>
        <p:spPr>
          <a:xfrm>
            <a:off x="6263640" y="1938528"/>
            <a:ext cx="201168" cy="201168"/>
          </a:xfrm>
          <a:prstGeom prst="ellipse">
            <a:avLst/>
          </a:prstGeom>
          <a:solidFill>
            <a:srgbClr val="2E86AB"/>
          </a:solidFill>
          <a:ln w="12700">
            <a:solidFill>
              <a:srgbClr val="2E86AB"/>
            </a:solidFill>
            <a:prstDash val="solid"/>
          </a:ln>
        </p:spPr>
      </p:sp>
      <p:sp>
        <p:nvSpPr>
          <p:cNvPr id="8" name="leg_head_1"/>
          <p:cNvSpPr txBox="1"/>
          <p:nvPr/>
        </p:nvSpPr>
        <p:spPr>
          <a:xfrm>
            <a:off x="6583680" y="1874520"/>
            <a:ext cx="2103120" cy="320040"/>
          </a:xfrm>
          <a:prstGeom prst="rect">
            <a:avLst/>
          </a:prstGeom>
          <a:noFill/>
          <a:ln/>
        </p:spPr>
        <p:txBody>
          <a:bodyPr wrap="square" lIns="0" tIns="0" rIns="0" bIns="0" rtlCol="0" anchor="t"/>
          <a:lstStyle/>
          <a:p>
            <a:pPr indent="0" marL="0">
              <a:buNone/>
            </a:pPr>
            <a:r>
              <a:rPr lang="en-US" sz="1300" b="1" dirty="0">
                <a:solidFill>
                  <a:schemeClr val="tx2"/>
                </a:solidFill>
              </a:rPr>
              <a:t>파랑 · 30일 이동평균</a:t>
            </a:r>
            <a:endParaRPr lang="en-US" sz="1300" dirty="0"/>
          </a:p>
        </p:txBody>
      </p:sp>
      <p:sp>
        <p:nvSpPr>
          <p:cNvPr id="9" name="leg_body_1"/>
          <p:cNvSpPr txBox="1"/>
          <p:nvPr/>
        </p:nvSpPr>
        <p:spPr>
          <a:xfrm>
            <a:off x="6583680" y="2194560"/>
            <a:ext cx="2103120" cy="365760"/>
          </a:xfrm>
          <a:prstGeom prst="rect">
            <a:avLst/>
          </a:prstGeom>
          <a:noFill/>
          <a:ln/>
        </p:spPr>
        <p:txBody>
          <a:bodyPr wrap="square" lIns="0" tIns="0" rIns="0" bIns="0" rtlCol="0" anchor="t"/>
          <a:lstStyle/>
          <a:p>
            <a:pPr indent="0" marL="0">
              <a:buNone/>
            </a:pPr>
            <a:r>
              <a:rPr lang="en-US" sz="1100" dirty="0">
                <a:solidFill>
                  <a:schemeClr val="tx1"/>
                </a:solidFill>
              </a:rPr>
              <a:t>계절성: 1년 주기의 오르내림</a:t>
            </a:r>
            <a:endParaRPr lang="en-US" sz="1100" dirty="0"/>
          </a:p>
        </p:txBody>
      </p:sp>
      <p:sp>
        <p:nvSpPr>
          <p:cNvPr id="10" name="leg_dot_2"/>
          <p:cNvSpPr/>
          <p:nvPr/>
        </p:nvSpPr>
        <p:spPr>
          <a:xfrm>
            <a:off x="6263640" y="2715768"/>
            <a:ext cx="201168" cy="201168"/>
          </a:xfrm>
          <a:prstGeom prst="ellipse">
            <a:avLst/>
          </a:prstGeom>
          <a:solidFill>
            <a:srgbClr val="E4572E"/>
          </a:solidFill>
          <a:ln w="12700">
            <a:solidFill>
              <a:srgbClr val="E4572E"/>
            </a:solidFill>
            <a:prstDash val="solid"/>
          </a:ln>
        </p:spPr>
      </p:sp>
      <p:sp>
        <p:nvSpPr>
          <p:cNvPr id="11" name="leg_head_2"/>
          <p:cNvSpPr txBox="1"/>
          <p:nvPr/>
        </p:nvSpPr>
        <p:spPr>
          <a:xfrm>
            <a:off x="6583680" y="2651760"/>
            <a:ext cx="2103120" cy="320040"/>
          </a:xfrm>
          <a:prstGeom prst="rect">
            <a:avLst/>
          </a:prstGeom>
          <a:noFill/>
          <a:ln/>
        </p:spPr>
        <p:txBody>
          <a:bodyPr wrap="square" lIns="0" tIns="0" rIns="0" bIns="0" rtlCol="0" anchor="t"/>
          <a:lstStyle/>
          <a:p>
            <a:pPr indent="0" marL="0">
              <a:buNone/>
            </a:pPr>
            <a:r>
              <a:rPr lang="en-US" sz="1300" b="1" dirty="0">
                <a:solidFill>
                  <a:schemeClr val="tx2"/>
                </a:solidFill>
              </a:rPr>
              <a:t>빨강 · 365일 이동평균</a:t>
            </a:r>
            <a:endParaRPr lang="en-US" sz="1300" dirty="0"/>
          </a:p>
        </p:txBody>
      </p:sp>
      <p:sp>
        <p:nvSpPr>
          <p:cNvPr id="12" name="leg_body_2"/>
          <p:cNvSpPr txBox="1"/>
          <p:nvPr/>
        </p:nvSpPr>
        <p:spPr>
          <a:xfrm>
            <a:off x="6583680" y="2971800"/>
            <a:ext cx="2103120" cy="365760"/>
          </a:xfrm>
          <a:prstGeom prst="rect">
            <a:avLst/>
          </a:prstGeom>
          <a:noFill/>
          <a:ln/>
        </p:spPr>
        <p:txBody>
          <a:bodyPr wrap="square" lIns="0" tIns="0" rIns="0" bIns="0" rtlCol="0" anchor="t"/>
          <a:lstStyle/>
          <a:p>
            <a:pPr indent="0" marL="0">
              <a:buNone/>
            </a:pPr>
            <a:r>
              <a:rPr lang="en-US" sz="1100" dirty="0">
                <a:solidFill>
                  <a:schemeClr val="tx1"/>
                </a:solidFill>
              </a:rPr>
              <a:t>추세: 계절을 걷어낸 장기 흐름</a:t>
            </a:r>
            <a:endParaRPr lang="en-US" sz="1100" dirty="0"/>
          </a:p>
        </p:txBody>
      </p:sp>
      <p:sp>
        <p:nvSpPr>
          <p:cNvPr id="13" name="scale_card"/>
          <p:cNvSpPr/>
          <p:nvPr/>
        </p:nvSpPr>
        <p:spPr>
          <a:xfrm>
            <a:off x="457200" y="3520440"/>
            <a:ext cx="8229600" cy="960120"/>
          </a:xfrm>
          <a:prstGeom prst="roundRect">
            <a:avLst>
              <a:gd name="adj" fmla="val 11429"/>
            </a:avLst>
          </a:prstGeom>
          <a:solidFill>
            <a:srgbClr val="EEF2F7"/>
          </a:solidFill>
          <a:ln w="12700">
            <a:solidFill>
              <a:srgbClr val="EEF2F7"/>
            </a:solidFill>
            <a:prstDash val="solid"/>
          </a:ln>
        </p:spPr>
      </p:sp>
      <p:sp>
        <p:nvSpPr>
          <p:cNvPr id="14" name="scale_icon_bg"/>
          <p:cNvSpPr/>
          <p:nvPr/>
        </p:nvSpPr>
        <p:spPr>
          <a:xfrm>
            <a:off x="640080" y="3703320"/>
            <a:ext cx="548640" cy="548640"/>
          </a:xfrm>
          <a:prstGeom prst="ellipse">
            <a:avLst/>
          </a:prstGeom>
          <a:solidFill>
            <a:srgbClr val="F4A259"/>
          </a:solidFill>
          <a:ln w="12700">
            <a:solidFill>
              <a:srgbClr val="F4A259"/>
            </a:solidFill>
            <a:prstDash val="solid"/>
          </a:ln>
        </p:spPr>
      </p:sp>
      <p:pic>
        <p:nvPicPr>
          <p:cNvPr id="15" name="scale_icon" descr="preencoded.png">    </p:cNvPr>
          <p:cNvPicPr>
            <a:picLocks noChangeAspect="1"/>
          </p:cNvPicPr>
          <p:nvPr/>
        </p:nvPicPr>
        <p:blipFill>
          <a:blip r:embed="rId2"/>
          <a:stretch>
            <a:fillRect/>
          </a:stretch>
        </p:blipFill>
        <p:spPr>
          <a:xfrm>
            <a:off x="771754" y="3834994"/>
            <a:ext cx="285293" cy="285293"/>
          </a:xfrm>
          <a:prstGeom prst="rect">
            <a:avLst/>
          </a:prstGeom>
        </p:spPr>
      </p:pic>
      <p:sp>
        <p:nvSpPr>
          <p:cNvPr id="16" name="scale_text"/>
          <p:cNvSpPr txBox="1"/>
          <p:nvPr/>
        </p:nvSpPr>
        <p:spPr>
          <a:xfrm>
            <a:off x="1371600" y="3639312"/>
            <a:ext cx="7132320" cy="731520"/>
          </a:xfrm>
          <a:prstGeom prst="rect">
            <a:avLst/>
          </a:prstGeom>
          <a:noFill/>
          <a:ln/>
        </p:spPr>
        <p:txBody>
          <a:bodyPr wrap="square" lIns="0" tIns="0" rIns="0" bIns="0" rtlCol="0" anchor="ctr"/>
          <a:lstStyle/>
          <a:p>
            <a:pPr indent="0" marL="0">
              <a:buNone/>
            </a:pPr>
            <a:r>
              <a:rPr lang="en-US" sz="1400" b="1" dirty="0">
                <a:solidFill>
                  <a:srgbClr val="14213D"/>
                </a:solidFill>
              </a:rPr>
              <a:t>빨간 선이 평평해 보이는 건 착시: </a:t>
            </a:r>
            <a:pPr indent="0" marL="0">
              <a:buNone/>
            </a:pPr>
            <a:r>
              <a:rPr lang="en-US" sz="1400" dirty="0">
                <a:solidFill>
                  <a:schemeClr val="tx1"/>
                </a:solidFill>
              </a:rPr>
              <a:t>y축 범위가 약 40℃라 1℃ 차이는 눈에 안 띈다. 그래서 연도별 숫자로 다시 확인했다.</a:t>
            </a:r>
            <a:endParaRPr lang="en-US" sz="14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계절성: 1월 1.5℃ ↔ 8월 26.7℃, 25℃ 차이</a:t>
            </a:r>
            <a:endParaRPr lang="en-US" sz="2400" dirty="0"/>
          </a:p>
        </p:txBody>
      </p:sp>
      <p:pic>
        <p:nvPicPr>
          <p:cNvPr id="3" name="graph02" descr="02_monthly_boxplot.png">    </p:cNvPr>
          <p:cNvPicPr>
            <a:picLocks noChangeAspect="1"/>
          </p:cNvPicPr>
          <p:nvPr/>
        </p:nvPicPr>
        <p:blipFill>
          <a:blip r:embed="rId1"/>
          <a:stretch>
            <a:fillRect/>
          </a:stretch>
        </p:blipFill>
        <p:spPr>
          <a:xfrm>
            <a:off x="457200" y="1051560"/>
            <a:ext cx="5303520" cy="2651760"/>
          </a:xfrm>
          <a:prstGeom prst="rect">
            <a:avLst/>
          </a:prstGeom>
        </p:spPr>
      </p:pic>
      <p:sp>
        <p:nvSpPr>
          <p:cNvPr id="4" name="box_obs_head"/>
          <p:cNvSpPr txBox="1"/>
          <p:nvPr/>
        </p:nvSpPr>
        <p:spPr>
          <a:xfrm>
            <a:off x="6035040" y="1051560"/>
            <a:ext cx="2651760" cy="274320"/>
          </a:xfrm>
          <a:prstGeom prst="rect">
            <a:avLst/>
          </a:prstGeom>
          <a:noFill/>
          <a:ln/>
        </p:spPr>
        <p:txBody>
          <a:bodyPr wrap="square" lIns="0" tIns="0" rIns="0" bIns="0" rtlCol="0" anchor="t"/>
          <a:lstStyle/>
          <a:p>
            <a:pPr indent="0" marL="0">
              <a:buNone/>
            </a:pPr>
            <a:r>
              <a:rPr lang="en-US" sz="1200" b="1" dirty="0">
                <a:solidFill>
                  <a:srgbClr val="14213D"/>
                </a:solidFill>
              </a:rPr>
              <a:t>관찰</a:t>
            </a:r>
            <a:endParaRPr lang="en-US" sz="1200" dirty="0"/>
          </a:p>
        </p:txBody>
      </p:sp>
      <p:sp>
        <p:nvSpPr>
          <p:cNvPr id="5" name="box_obs_body"/>
          <p:cNvSpPr txBox="1"/>
          <p:nvPr/>
        </p:nvSpPr>
        <p:spPr>
          <a:xfrm>
            <a:off x="6035040" y="1325880"/>
            <a:ext cx="2651760" cy="822960"/>
          </a:xfrm>
          <a:prstGeom prst="rect">
            <a:avLst/>
          </a:prstGeom>
          <a:noFill/>
          <a:ln/>
        </p:spPr>
        <p:txBody>
          <a:bodyPr wrap="square" lIns="0" tIns="0" rIns="0" bIns="0" rtlCol="0" anchor="t"/>
          <a:lstStyle/>
          <a:p>
            <a:pPr indent="0" marL="0">
              <a:buNone/>
            </a:pPr>
            <a:r>
              <a:rPr lang="en-US" sz="1200" dirty="0">
                <a:solidFill>
                  <a:schemeClr val="tx1"/>
                </a:solidFill>
              </a:rPr>
              <a:t>월평균 최저 1월 1.50℃, 최고 8월 26.66℃. 6년 내내 같은 모양이 반복된다.</a:t>
            </a:r>
            <a:endParaRPr lang="en-US" sz="1200" dirty="0"/>
          </a:p>
        </p:txBody>
      </p:sp>
      <p:sp>
        <p:nvSpPr>
          <p:cNvPr id="6" name="box_var_head"/>
          <p:cNvSpPr txBox="1"/>
          <p:nvPr/>
        </p:nvSpPr>
        <p:spPr>
          <a:xfrm>
            <a:off x="6035040" y="2240280"/>
            <a:ext cx="2651760" cy="274320"/>
          </a:xfrm>
          <a:prstGeom prst="rect">
            <a:avLst/>
          </a:prstGeom>
          <a:noFill/>
          <a:ln/>
        </p:spPr>
        <p:txBody>
          <a:bodyPr wrap="square" lIns="0" tIns="0" rIns="0" bIns="0" rtlCol="0" anchor="t"/>
          <a:lstStyle/>
          <a:p>
            <a:pPr indent="0" marL="0">
              <a:buNone/>
            </a:pPr>
            <a:r>
              <a:rPr lang="en-US" sz="1200" b="1" dirty="0">
                <a:solidFill>
                  <a:srgbClr val="2E86AB"/>
                </a:solidFill>
              </a:rPr>
              <a:t>상자 높이 = 변동 폭</a:t>
            </a:r>
            <a:endParaRPr lang="en-US" sz="1200" dirty="0"/>
          </a:p>
        </p:txBody>
      </p:sp>
      <p:sp>
        <p:nvSpPr>
          <p:cNvPr id="7" name="box_var_body"/>
          <p:cNvSpPr txBox="1"/>
          <p:nvPr/>
        </p:nvSpPr>
        <p:spPr>
          <a:xfrm>
            <a:off x="6035040" y="2514600"/>
            <a:ext cx="2651760" cy="822960"/>
          </a:xfrm>
          <a:prstGeom prst="rect">
            <a:avLst/>
          </a:prstGeom>
          <a:noFill/>
          <a:ln/>
        </p:spPr>
        <p:txBody>
          <a:bodyPr wrap="square" lIns="0" tIns="0" rIns="0" bIns="0" rtlCol="0" anchor="t"/>
          <a:lstStyle/>
          <a:p>
            <a:pPr indent="0" marL="0">
              <a:buNone/>
            </a:pPr>
            <a:r>
              <a:rPr lang="en-US" sz="1200" dirty="0">
                <a:solidFill>
                  <a:schemeClr val="tx1"/>
                </a:solidFill>
              </a:rPr>
              <a:t>겨울 달의 상자와 수염이 여름보다 길다 → 인사이트 ②로 연결</a:t>
            </a:r>
            <a:endParaRPr lang="en-US" sz="1200" dirty="0"/>
          </a:p>
        </p:txBody>
      </p:sp>
      <p:sp>
        <p:nvSpPr>
          <p:cNvPr id="8" name="box_unit_head"/>
          <p:cNvSpPr txBox="1"/>
          <p:nvPr/>
        </p:nvSpPr>
        <p:spPr>
          <a:xfrm>
            <a:off x="6035040" y="3429000"/>
            <a:ext cx="2651760" cy="274320"/>
          </a:xfrm>
          <a:prstGeom prst="rect">
            <a:avLst/>
          </a:prstGeom>
          <a:noFill/>
          <a:ln/>
        </p:spPr>
        <p:txBody>
          <a:bodyPr wrap="square" lIns="0" tIns="0" rIns="0" bIns="0" rtlCol="0" anchor="t"/>
          <a:lstStyle/>
          <a:p>
            <a:pPr indent="0" marL="0">
              <a:buNone/>
            </a:pPr>
            <a:r>
              <a:rPr lang="en-US" sz="1200" b="1" dirty="0">
                <a:solidFill>
                  <a:srgbClr val="5B8E7D"/>
                </a:solidFill>
              </a:rPr>
              <a:t>왜 월 단위로 집계했나</a:t>
            </a:r>
            <a:endParaRPr lang="en-US" sz="1200" dirty="0"/>
          </a:p>
        </p:txBody>
      </p:sp>
      <p:sp>
        <p:nvSpPr>
          <p:cNvPr id="9" name="box_unit_body"/>
          <p:cNvSpPr txBox="1"/>
          <p:nvPr/>
        </p:nvSpPr>
        <p:spPr>
          <a:xfrm>
            <a:off x="6035040" y="3703320"/>
            <a:ext cx="2651760" cy="731520"/>
          </a:xfrm>
          <a:prstGeom prst="rect">
            <a:avLst/>
          </a:prstGeom>
          <a:noFill/>
          <a:ln/>
        </p:spPr>
        <p:txBody>
          <a:bodyPr wrap="square" lIns="0" tIns="0" rIns="0" bIns="0" rtlCol="0" anchor="t"/>
          <a:lstStyle/>
          <a:p>
            <a:pPr indent="0" marL="0">
              <a:buNone/>
            </a:pPr>
            <a:r>
              <a:rPr lang="en-US" sz="1200" dirty="0">
                <a:solidFill>
                  <a:schemeClr val="tx1"/>
                </a:solidFill>
              </a:rPr>
              <a:t>일 단위는 노이즈가 커서 계절 차이가 가려진다.</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① 연평균은 2024년 최고, 하지만 매년 오르진 않았다</a:t>
            </a:r>
            <a:endParaRPr lang="en-US" sz="2400" dirty="0"/>
          </a:p>
        </p:txBody>
      </p:sp>
      <p:graphicFrame>
        <p:nvGraphicFramePr>
          <p:cNvPr id="3" name="chart_yearly" descr=""/>
          <p:cNvGraphicFramePr/>
          <p:nvPr/>
        </p:nvGraphicFramePr>
        <p:xfrm>
          <a:off x="457200" y="1005840"/>
          <a:ext cx="5120640" cy="3520440"/>
        </p:xfrm>
        <a:graphic xmlns:a="http://schemas.openxmlformats.org/drawingml/2006/main">
          <a:graphicData uri="http://schemas.openxmlformats.org/drawingml/2006/chart">
            <c:chart xmlns:c="http://schemas.openxmlformats.org/drawingml/2006/chart" r:id="rId1"/>
          </a:graphicData>
        </a:graphic>
      </p:graphicFrame>
      <p:sp>
        <p:nvSpPr>
          <p:cNvPr id="4" name="y_obs_head"/>
          <p:cNvSpPr txBox="1"/>
          <p:nvPr/>
        </p:nvSpPr>
        <p:spPr>
          <a:xfrm>
            <a:off x="5852160" y="1005840"/>
            <a:ext cx="2834640" cy="274320"/>
          </a:xfrm>
          <a:prstGeom prst="rect">
            <a:avLst/>
          </a:prstGeom>
          <a:noFill/>
          <a:ln/>
        </p:spPr>
        <p:txBody>
          <a:bodyPr wrap="square" lIns="0" tIns="0" rIns="0" bIns="0" rtlCol="0" anchor="t"/>
          <a:lstStyle/>
          <a:p>
            <a:pPr indent="0" marL="0">
              <a:buNone/>
            </a:pPr>
            <a:r>
              <a:rPr lang="en-US" sz="1200" b="1" dirty="0">
                <a:solidFill>
                  <a:srgbClr val="14213D"/>
                </a:solidFill>
              </a:rPr>
              <a:t>관찰</a:t>
            </a:r>
            <a:endParaRPr lang="en-US" sz="1200" dirty="0"/>
          </a:p>
        </p:txBody>
      </p:sp>
      <p:sp>
        <p:nvSpPr>
          <p:cNvPr id="5" name="y_obs_body"/>
          <p:cNvSpPr txBox="1"/>
          <p:nvPr/>
        </p:nvSpPr>
        <p:spPr>
          <a:xfrm>
            <a:off x="5852160" y="1280160"/>
            <a:ext cx="2834640" cy="1188720"/>
          </a:xfrm>
          <a:prstGeom prst="rect">
            <a:avLst/>
          </a:prstGeom>
          <a:noFill/>
          <a:ln/>
        </p:spPr>
        <p:txBody>
          <a:bodyPr wrap="square" lIns="0" tIns="0" rIns="0" bIns="0" rtlCol="0" anchor="t"/>
          <a:lstStyle/>
          <a:p>
            <a:pPr indent="0" marL="0">
              <a:buNone/>
            </a:pPr>
            <a:r>
              <a:rPr lang="en-US" sz="1200" dirty="0">
                <a:solidFill>
                  <a:schemeClr val="tx1"/>
                </a:solidFill>
              </a:rPr>
              <a:t>최저 2020년 13.56℃ → 최고 2024년 14.81℃ (차이 1.25℃). 하지만 2022년(-0.13℃), 2025년(-0.42℃)엔 전년보다 하락.</a:t>
            </a:r>
            <a:endParaRPr lang="en-US" sz="1200" dirty="0"/>
          </a:p>
        </p:txBody>
      </p:sp>
      <p:sp>
        <p:nvSpPr>
          <p:cNvPr id="6" name="y_warn_head"/>
          <p:cNvSpPr txBox="1"/>
          <p:nvPr/>
        </p:nvSpPr>
        <p:spPr>
          <a:xfrm>
            <a:off x="5852160" y="2606040"/>
            <a:ext cx="2834640" cy="274320"/>
          </a:xfrm>
          <a:prstGeom prst="rect">
            <a:avLst/>
          </a:prstGeom>
          <a:noFill/>
          <a:ln/>
        </p:spPr>
        <p:txBody>
          <a:bodyPr wrap="square" lIns="0" tIns="0" rIns="0" bIns="0" rtlCol="0" anchor="t"/>
          <a:lstStyle/>
          <a:p>
            <a:pPr indent="0" marL="0">
              <a:buNone/>
            </a:pPr>
            <a:r>
              <a:rPr lang="en-US" sz="1200" b="1" dirty="0">
                <a:solidFill>
                  <a:srgbClr val="A23B2A"/>
                </a:solidFill>
              </a:rPr>
              <a:t>주의할 점</a:t>
            </a:r>
            <a:endParaRPr lang="en-US" sz="1200" dirty="0"/>
          </a:p>
        </p:txBody>
      </p:sp>
      <p:sp>
        <p:nvSpPr>
          <p:cNvPr id="7" name="y_warn_body"/>
          <p:cNvSpPr txBox="1"/>
          <p:nvPr/>
        </p:nvSpPr>
        <p:spPr>
          <a:xfrm>
            <a:off x="5852160" y="2880360"/>
            <a:ext cx="2834640" cy="822960"/>
          </a:xfrm>
          <a:prstGeom prst="rect">
            <a:avLst/>
          </a:prstGeom>
          <a:noFill/>
          <a:ln/>
        </p:spPr>
        <p:txBody>
          <a:bodyPr wrap="square" lIns="0" tIns="0" rIns="0" bIns="0" rtlCol="0" anchor="t"/>
          <a:lstStyle/>
          <a:p>
            <a:pPr indent="0" marL="0">
              <a:buNone/>
            </a:pPr>
            <a:r>
              <a:rPr lang="en-US" sz="1200" dirty="0">
                <a:solidFill>
                  <a:schemeClr val="tx1"/>
                </a:solidFill>
              </a:rPr>
              <a:t>y축을 13℃부터 시작해 차이를 키워 보여준다. 0℃부터 그리면 거의 평평하다.</a:t>
            </a:r>
            <a:endParaRPr lang="en-US" sz="1200" dirty="0"/>
          </a:p>
        </p:txBody>
      </p:sp>
      <p:sp>
        <p:nvSpPr>
          <p:cNvPr id="8" name="y_next_head"/>
          <p:cNvSpPr txBox="1"/>
          <p:nvPr/>
        </p:nvSpPr>
        <p:spPr>
          <a:xfrm>
            <a:off x="5852160" y="3749040"/>
            <a:ext cx="2834640" cy="274320"/>
          </a:xfrm>
          <a:prstGeom prst="rect">
            <a:avLst/>
          </a:prstGeom>
          <a:noFill/>
          <a:ln/>
        </p:spPr>
        <p:txBody>
          <a:bodyPr wrap="square" lIns="0" tIns="0" rIns="0" bIns="0" rtlCol="0" anchor="t"/>
          <a:lstStyle/>
          <a:p>
            <a:pPr indent="0" marL="0">
              <a:buNone/>
            </a:pPr>
            <a:r>
              <a:rPr lang="en-US" sz="1200" b="1" dirty="0">
                <a:solidFill>
                  <a:srgbClr val="2E86AB"/>
                </a:solidFill>
              </a:rPr>
              <a:t>다음 질문</a:t>
            </a:r>
            <a:endParaRPr lang="en-US" sz="1200" dirty="0"/>
          </a:p>
        </p:txBody>
      </p:sp>
      <p:sp>
        <p:nvSpPr>
          <p:cNvPr id="9" name="y_next_body"/>
          <p:cNvSpPr txBox="1"/>
          <p:nvPr/>
        </p:nvSpPr>
        <p:spPr>
          <a:xfrm>
            <a:off x="5852160" y="4023360"/>
            <a:ext cx="2834640" cy="457200"/>
          </a:xfrm>
          <a:prstGeom prst="rect">
            <a:avLst/>
          </a:prstGeom>
          <a:noFill/>
          <a:ln/>
        </p:spPr>
        <p:txBody>
          <a:bodyPr wrap="square" lIns="0" tIns="0" rIns="0" bIns="0" rtlCol="0" anchor="t"/>
          <a:lstStyle/>
          <a:p>
            <a:pPr indent="0" marL="0">
              <a:buNone/>
            </a:pPr>
            <a:r>
              <a:rPr lang="en-US" sz="1200" dirty="0">
                <a:solidFill>
                  <a:schemeClr val="tx1"/>
                </a:solidFill>
              </a:rPr>
              <a:t>왜 어떤 해엔 떨어졌을까?</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① 계절을 나누니: 여름은 매년 오르고, 겨울이 흔든다</a:t>
            </a:r>
            <a:endParaRPr lang="en-US" sz="2400" dirty="0"/>
          </a:p>
        </p:txBody>
      </p:sp>
      <p:graphicFrame>
        <p:nvGraphicFramePr>
          <p:cNvPr id="3" name="chart_anom" descr=""/>
          <p:cNvGraphicFramePr/>
          <p:nvPr/>
        </p:nvGraphicFramePr>
        <p:xfrm>
          <a:off x="457200" y="1005840"/>
          <a:ext cx="4846320" cy="3520440"/>
        </p:xfrm>
        <a:graphic xmlns:a="http://schemas.openxmlformats.org/drawingml/2006/main">
          <a:graphicData uri="http://schemas.openxmlformats.org/drawingml/2006/chart">
            <c:chart xmlns:c="http://schemas.openxmlformats.org/drawingml/2006/chart" r:id="rId1"/>
          </a:graphicData>
        </a:graphic>
      </p:graphicFrame>
      <p:sp>
        <p:nvSpPr>
          <p:cNvPr id="4" name="a_obs_head"/>
          <p:cNvSpPr txBox="1"/>
          <p:nvPr/>
        </p:nvSpPr>
        <p:spPr>
          <a:xfrm>
            <a:off x="5577840" y="1005840"/>
            <a:ext cx="3108960" cy="274320"/>
          </a:xfrm>
          <a:prstGeom prst="rect">
            <a:avLst/>
          </a:prstGeom>
          <a:noFill/>
          <a:ln/>
        </p:spPr>
        <p:txBody>
          <a:bodyPr wrap="square" lIns="0" tIns="0" rIns="0" bIns="0" rtlCol="0" anchor="t"/>
          <a:lstStyle/>
          <a:p>
            <a:pPr indent="0" marL="0">
              <a:buNone/>
            </a:pPr>
            <a:r>
              <a:rPr lang="en-US" sz="1200" b="1" dirty="0">
                <a:solidFill>
                  <a:srgbClr val="14213D"/>
                </a:solidFill>
              </a:rPr>
              <a:t>관찰</a:t>
            </a:r>
            <a:endParaRPr lang="en-US" sz="1200" dirty="0"/>
          </a:p>
        </p:txBody>
      </p:sp>
      <p:sp>
        <p:nvSpPr>
          <p:cNvPr id="5" name="a_obs_body"/>
          <p:cNvSpPr txBox="1"/>
          <p:nvPr/>
        </p:nvSpPr>
        <p:spPr>
          <a:xfrm>
            <a:off x="5577840" y="1280160"/>
            <a:ext cx="3108960" cy="1143000"/>
          </a:xfrm>
          <a:prstGeom prst="rect">
            <a:avLst/>
          </a:prstGeom>
          <a:noFill/>
          <a:ln/>
        </p:spPr>
        <p:txBody>
          <a:bodyPr wrap="square" lIns="0" tIns="0" rIns="0" bIns="0" rtlCol="0" anchor="t"/>
          <a:lstStyle/>
          <a:p>
            <a:pPr indent="0" marL="0">
              <a:buNone/>
            </a:pPr>
            <a:r>
              <a:rPr lang="en-US" sz="1200" dirty="0">
                <a:solidFill>
                  <a:schemeClr val="tx1"/>
                </a:solidFill>
              </a:rPr>
              <a:t>여름 평균은 23.68 → 25.89℃로 6년 연속 상승(+2.21℃). 연평균이 떨어진 2022·2025년은 겨울이 가장 추웠던 두 해(0.96℃, 1.62℃).</a:t>
            </a:r>
            <a:endParaRPr lang="en-US" sz="1200" dirty="0"/>
          </a:p>
        </p:txBody>
      </p:sp>
      <p:sp>
        <p:nvSpPr>
          <p:cNvPr id="6" name="a_hyp_head"/>
          <p:cNvSpPr txBox="1"/>
          <p:nvPr/>
        </p:nvSpPr>
        <p:spPr>
          <a:xfrm>
            <a:off x="5577840" y="2514600"/>
            <a:ext cx="3108960" cy="274320"/>
          </a:xfrm>
          <a:prstGeom prst="rect">
            <a:avLst/>
          </a:prstGeom>
          <a:noFill/>
          <a:ln/>
        </p:spPr>
        <p:txBody>
          <a:bodyPr wrap="square" lIns="0" tIns="0" rIns="0" bIns="0" rtlCol="0" anchor="t"/>
          <a:lstStyle/>
          <a:p>
            <a:pPr indent="0" marL="0">
              <a:buNone/>
            </a:pPr>
            <a:r>
              <a:rPr lang="en-US" sz="1200" b="1" dirty="0">
                <a:solidFill>
                  <a:srgbClr val="E4572E"/>
                </a:solidFill>
              </a:rPr>
              <a:t>해석 (가설)</a:t>
            </a:r>
            <a:endParaRPr lang="en-US" sz="1200" dirty="0"/>
          </a:p>
        </p:txBody>
      </p:sp>
      <p:sp>
        <p:nvSpPr>
          <p:cNvPr id="7" name="a_hyp_body"/>
          <p:cNvSpPr txBox="1"/>
          <p:nvPr/>
        </p:nvSpPr>
        <p:spPr>
          <a:xfrm>
            <a:off x="5577840" y="2788920"/>
            <a:ext cx="3108960" cy="731520"/>
          </a:xfrm>
          <a:prstGeom prst="rect">
            <a:avLst/>
          </a:prstGeom>
          <a:noFill/>
          <a:ln/>
        </p:spPr>
        <p:txBody>
          <a:bodyPr wrap="square" lIns="0" tIns="0" rIns="0" bIns="0" rtlCol="0" anchor="t"/>
          <a:lstStyle/>
          <a:p>
            <a:pPr indent="0" marL="0">
              <a:buNone/>
            </a:pPr>
            <a:r>
              <a:rPr lang="en-US" sz="1200" dirty="0">
                <a:solidFill>
                  <a:schemeClr val="tx1"/>
                </a:solidFill>
              </a:rPr>
              <a:t>변동이 큰 겨울 기온이 연평균을 흔들어 상승 경향을 가린 것일 수 있다.</a:t>
            </a:r>
            <a:endParaRPr lang="en-US" sz="1200" dirty="0"/>
          </a:p>
        </p:txBody>
      </p:sp>
      <p:sp>
        <p:nvSpPr>
          <p:cNvPr id="8" name="a_warn_head"/>
          <p:cNvSpPr txBox="1"/>
          <p:nvPr/>
        </p:nvSpPr>
        <p:spPr>
          <a:xfrm>
            <a:off x="5577840" y="3566160"/>
            <a:ext cx="3108960" cy="274320"/>
          </a:xfrm>
          <a:prstGeom prst="rect">
            <a:avLst/>
          </a:prstGeom>
          <a:noFill/>
          <a:ln/>
        </p:spPr>
        <p:txBody>
          <a:bodyPr wrap="square" lIns="0" tIns="0" rIns="0" bIns="0" rtlCol="0" anchor="t"/>
          <a:lstStyle/>
          <a:p>
            <a:pPr indent="0" marL="0">
              <a:buNone/>
            </a:pPr>
            <a:r>
              <a:rPr lang="en-US" sz="1200" b="1" dirty="0">
                <a:solidFill>
                  <a:srgbClr val="A23B2A"/>
                </a:solidFill>
              </a:rPr>
              <a:t>주의</a:t>
            </a:r>
            <a:endParaRPr lang="en-US" sz="1200" dirty="0"/>
          </a:p>
        </p:txBody>
      </p:sp>
      <p:sp>
        <p:nvSpPr>
          <p:cNvPr id="9" name="a_warn_body"/>
          <p:cNvSpPr txBox="1"/>
          <p:nvPr/>
        </p:nvSpPr>
        <p:spPr>
          <a:xfrm>
            <a:off x="5577840" y="3840480"/>
            <a:ext cx="3108960" cy="731520"/>
          </a:xfrm>
          <a:prstGeom prst="rect">
            <a:avLst/>
          </a:prstGeom>
          <a:noFill/>
          <a:ln/>
        </p:spPr>
        <p:txBody>
          <a:bodyPr wrap="square" lIns="0" tIns="0" rIns="0" bIns="0" rtlCol="0" anchor="t"/>
          <a:lstStyle/>
          <a:p>
            <a:pPr indent="0" marL="0">
              <a:buNone/>
            </a:pPr>
            <a:r>
              <a:rPr lang="en-US" sz="1200" dirty="0">
                <a:solidFill>
                  <a:schemeClr val="tx1"/>
                </a:solidFill>
              </a:rPr>
              <a:t>6년은 짧다. 온난화로 단정하지 않고 30년 이상 자료로 재확인이 필요.</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② 11~12월 기온은 여름보다 약 2배 불안정하다</a:t>
            </a:r>
            <a:endParaRPr lang="en-US" sz="2400" dirty="0"/>
          </a:p>
        </p:txBody>
      </p:sp>
      <p:graphicFrame>
        <p:nvGraphicFramePr>
          <p:cNvPr id="3" name="chart_std" descr=""/>
          <p:cNvGraphicFramePr/>
          <p:nvPr/>
        </p:nvGraphicFramePr>
        <p:xfrm>
          <a:off x="457200" y="1005840"/>
          <a:ext cx="5120640" cy="3520440"/>
        </p:xfrm>
        <a:graphic xmlns:a="http://schemas.openxmlformats.org/drawingml/2006/main">
          <a:graphicData uri="http://schemas.openxmlformats.org/drawingml/2006/chart">
            <c:chart xmlns:c="http://schemas.openxmlformats.org/drawingml/2006/chart" r:id="rId1"/>
          </a:graphicData>
        </a:graphic>
      </p:graphicFrame>
      <p:sp>
        <p:nvSpPr>
          <p:cNvPr id="4" name="ratio_card"/>
          <p:cNvSpPr/>
          <p:nvPr/>
        </p:nvSpPr>
        <p:spPr>
          <a:xfrm>
            <a:off x="5852160" y="1005840"/>
            <a:ext cx="2834640" cy="1143000"/>
          </a:xfrm>
          <a:prstGeom prst="roundRect">
            <a:avLst>
              <a:gd name="adj" fmla="val 9600"/>
            </a:avLst>
          </a:prstGeom>
          <a:solidFill>
            <a:srgbClr val="EEF2F7"/>
          </a:solidFill>
          <a:ln w="12700">
            <a:solidFill>
              <a:srgbClr val="EEF2F7"/>
            </a:solidFill>
            <a:prstDash val="solid"/>
          </a:ln>
        </p:spPr>
      </p:sp>
      <p:sp>
        <p:nvSpPr>
          <p:cNvPr id="5" name="ratio_big"/>
          <p:cNvSpPr txBox="1"/>
          <p:nvPr/>
        </p:nvSpPr>
        <p:spPr>
          <a:xfrm>
            <a:off x="6035040" y="1097280"/>
            <a:ext cx="2560320" cy="548640"/>
          </a:xfrm>
          <a:prstGeom prst="rect">
            <a:avLst/>
          </a:prstGeom>
          <a:noFill/>
          <a:ln/>
        </p:spPr>
        <p:txBody>
          <a:bodyPr wrap="square" lIns="0" tIns="0" rIns="0" bIns="0" rtlCol="0" anchor="ctr"/>
          <a:lstStyle/>
          <a:p>
            <a:pPr indent="0" marL="0">
              <a:buNone/>
            </a:pPr>
            <a:r>
              <a:rPr lang="en-US" sz="2000" b="1" dirty="0">
                <a:solidFill>
                  <a:srgbClr val="E4572E"/>
                </a:solidFill>
              </a:rPr>
              <a:t>3.97℃</a:t>
            </a:r>
            <a:pPr indent="0" marL="0">
              <a:buNone/>
            </a:pPr>
            <a:r>
              <a:rPr lang="en-US" sz="2000" dirty="0">
                <a:solidFill>
                  <a:srgbClr val="1F2933"/>
                </a:solidFill>
              </a:rPr>
              <a:t> vs </a:t>
            </a:r>
            <a:pPr indent="0" marL="0">
              <a:buNone/>
            </a:pPr>
            <a:r>
              <a:rPr lang="en-US" sz="2000" b="1" dirty="0">
                <a:solidFill>
                  <a:srgbClr val="2E86AB"/>
                </a:solidFill>
              </a:rPr>
              <a:t>2.00℃</a:t>
            </a:r>
            <a:endParaRPr lang="en-US" sz="2000" dirty="0"/>
          </a:p>
        </p:txBody>
      </p:sp>
      <p:sp>
        <p:nvSpPr>
          <p:cNvPr id="6" name="ratio_label"/>
          <p:cNvSpPr txBox="1"/>
          <p:nvPr/>
        </p:nvSpPr>
        <p:spPr>
          <a:xfrm>
            <a:off x="6035040" y="1645920"/>
            <a:ext cx="2560320" cy="365760"/>
          </a:xfrm>
          <a:prstGeom prst="rect">
            <a:avLst/>
          </a:prstGeom>
          <a:noFill/>
          <a:ln/>
        </p:spPr>
        <p:txBody>
          <a:bodyPr wrap="square" lIns="0" tIns="0" rIns="0" bIns="0" rtlCol="0" anchor="t"/>
          <a:lstStyle/>
          <a:p>
            <a:pPr indent="0" marL="0">
              <a:buNone/>
            </a:pPr>
            <a:r>
              <a:rPr lang="en-US" sz="1100" dirty="0">
                <a:solidFill>
                  <a:schemeClr val="tx1"/>
                </a:solidFill>
              </a:rPr>
              <a:t>11~12월 평균 vs 여름 평균 표준편차</a:t>
            </a:r>
            <a:endParaRPr lang="en-US" sz="1100" dirty="0"/>
          </a:p>
        </p:txBody>
      </p:sp>
      <p:sp>
        <p:nvSpPr>
          <p:cNvPr id="7" name="sd_hyp_head"/>
          <p:cNvSpPr txBox="1"/>
          <p:nvPr/>
        </p:nvSpPr>
        <p:spPr>
          <a:xfrm>
            <a:off x="5852160" y="2377440"/>
            <a:ext cx="2834640" cy="274320"/>
          </a:xfrm>
          <a:prstGeom prst="rect">
            <a:avLst/>
          </a:prstGeom>
          <a:noFill/>
          <a:ln/>
        </p:spPr>
        <p:txBody>
          <a:bodyPr wrap="square" lIns="0" tIns="0" rIns="0" bIns="0" rtlCol="0" anchor="t"/>
          <a:lstStyle/>
          <a:p>
            <a:pPr indent="0" marL="0">
              <a:buNone/>
            </a:pPr>
            <a:r>
              <a:rPr lang="en-US" sz="1200" b="1" dirty="0">
                <a:solidFill>
                  <a:srgbClr val="E4572E"/>
                </a:solidFill>
              </a:rPr>
              <a:t>해석 (가설)</a:t>
            </a:r>
            <a:endParaRPr lang="en-US" sz="1200" dirty="0"/>
          </a:p>
        </p:txBody>
      </p:sp>
      <p:sp>
        <p:nvSpPr>
          <p:cNvPr id="8" name="sd_hyp_body"/>
          <p:cNvSpPr txBox="1"/>
          <p:nvPr/>
        </p:nvSpPr>
        <p:spPr>
          <a:xfrm>
            <a:off x="5852160" y="2651760"/>
            <a:ext cx="2834640" cy="1005840"/>
          </a:xfrm>
          <a:prstGeom prst="rect">
            <a:avLst/>
          </a:prstGeom>
          <a:noFill/>
          <a:ln/>
        </p:spPr>
        <p:txBody>
          <a:bodyPr wrap="square" lIns="0" tIns="0" rIns="0" bIns="0" rtlCol="0" anchor="t"/>
          <a:lstStyle/>
          <a:p>
            <a:pPr indent="0" marL="0">
              <a:buNone/>
            </a:pPr>
            <a:r>
              <a:rPr lang="en-US" sz="1200" dirty="0">
                <a:solidFill>
                  <a:schemeClr val="tx1"/>
                </a:solidFill>
              </a:rPr>
              <a:t>겨울엔 찬 대륙고기압이 강약을 반복(삼한사온)하고, 여름엔 북태평양 고기압이 오래 머물러 안정적일 수 있다.</a:t>
            </a:r>
            <a:endParaRPr lang="en-US" sz="1200" dirty="0"/>
          </a:p>
        </p:txBody>
      </p:sp>
      <p:sp>
        <p:nvSpPr>
          <p:cNvPr id="9" name="sd_lim_head"/>
          <p:cNvSpPr txBox="1"/>
          <p:nvPr/>
        </p:nvSpPr>
        <p:spPr>
          <a:xfrm>
            <a:off x="5852160" y="3657600"/>
            <a:ext cx="2834640" cy="274320"/>
          </a:xfrm>
          <a:prstGeom prst="rect">
            <a:avLst/>
          </a:prstGeom>
          <a:noFill/>
          <a:ln/>
        </p:spPr>
        <p:txBody>
          <a:bodyPr wrap="square" lIns="0" tIns="0" rIns="0" bIns="0" rtlCol="0" anchor="t"/>
          <a:lstStyle/>
          <a:p>
            <a:pPr indent="0" marL="0">
              <a:buNone/>
            </a:pPr>
            <a:r>
              <a:rPr lang="en-US" sz="1200" b="1" dirty="0">
                <a:solidFill>
                  <a:srgbClr val="A23B2A"/>
                </a:solidFill>
              </a:rPr>
              <a:t>한계</a:t>
            </a:r>
            <a:endParaRPr lang="en-US" sz="1200" dirty="0"/>
          </a:p>
        </p:txBody>
      </p:sp>
      <p:sp>
        <p:nvSpPr>
          <p:cNvPr id="10" name="sd_lim_body"/>
          <p:cNvSpPr txBox="1"/>
          <p:nvPr/>
        </p:nvSpPr>
        <p:spPr>
          <a:xfrm>
            <a:off x="5852160" y="3931920"/>
            <a:ext cx="2834640" cy="457200"/>
          </a:xfrm>
          <a:prstGeom prst="rect">
            <a:avLst/>
          </a:prstGeom>
          <a:noFill/>
          <a:ln/>
        </p:spPr>
        <p:txBody>
          <a:bodyPr wrap="square" lIns="0" tIns="0" rIns="0" bIns="0" rtlCol="0" anchor="t"/>
          <a:lstStyle/>
          <a:p>
            <a:pPr indent="0" marL="0">
              <a:buNone/>
            </a:pPr>
            <a:r>
              <a:rPr lang="en-US" sz="1200" dirty="0">
                <a:solidFill>
                  <a:schemeClr val="tx1"/>
                </a:solidFill>
              </a:rPr>
              <a:t>기압 데이터가 없어 원인은 가설 단계</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② 교차 확인: 계절성을 걷어내도 겨울 노이즈가 크다</a:t>
            </a:r>
            <a:endParaRPr lang="en-US" sz="2400" dirty="0"/>
          </a:p>
        </p:txBody>
      </p:sp>
      <p:graphicFrame>
        <p:nvGraphicFramePr>
          <p:cNvPr id="3" name="chart_resid" descr=""/>
          <p:cNvGraphicFramePr/>
          <p:nvPr/>
        </p:nvGraphicFramePr>
        <p:xfrm>
          <a:off x="457200" y="1005840"/>
          <a:ext cx="5120640" cy="3520440"/>
        </p:xfrm>
        <a:graphic xmlns:a="http://schemas.openxmlformats.org/drawingml/2006/main">
          <a:graphicData uri="http://schemas.openxmlformats.org/drawingml/2006/chart">
            <c:chart xmlns:c="http://schemas.openxmlformats.org/drawingml/2006/chart" r:id="rId1"/>
          </a:graphicData>
        </a:graphic>
      </p:graphicFrame>
      <p:sp>
        <p:nvSpPr>
          <p:cNvPr id="4" name="r_why_head"/>
          <p:cNvSpPr txBox="1"/>
          <p:nvPr/>
        </p:nvSpPr>
        <p:spPr>
          <a:xfrm>
            <a:off x="5852160" y="1005840"/>
            <a:ext cx="2834640" cy="274320"/>
          </a:xfrm>
          <a:prstGeom prst="rect">
            <a:avLst/>
          </a:prstGeom>
          <a:noFill/>
          <a:ln/>
        </p:spPr>
        <p:txBody>
          <a:bodyPr wrap="square" lIns="0" tIns="0" rIns="0" bIns="0" rtlCol="0" anchor="t"/>
          <a:lstStyle/>
          <a:p>
            <a:pPr indent="0" marL="0">
              <a:buNone/>
            </a:pPr>
            <a:r>
              <a:rPr lang="en-US" sz="1200" b="1" dirty="0">
                <a:solidFill>
                  <a:srgbClr val="14213D"/>
                </a:solidFill>
              </a:rPr>
              <a:t>왜 다시 확인했나</a:t>
            </a:r>
            <a:endParaRPr lang="en-US" sz="1200" dirty="0"/>
          </a:p>
        </p:txBody>
      </p:sp>
      <p:sp>
        <p:nvSpPr>
          <p:cNvPr id="5" name="r_why_body"/>
          <p:cNvSpPr txBox="1"/>
          <p:nvPr/>
        </p:nvSpPr>
        <p:spPr>
          <a:xfrm>
            <a:off x="5852160" y="1280160"/>
            <a:ext cx="2834640" cy="1005840"/>
          </a:xfrm>
          <a:prstGeom prst="rect">
            <a:avLst/>
          </a:prstGeom>
          <a:noFill/>
          <a:ln/>
        </p:spPr>
        <p:txBody>
          <a:bodyPr wrap="square" lIns="0" tIns="0" rIns="0" bIns="0" rtlCol="0" anchor="t"/>
          <a:lstStyle/>
          <a:p>
            <a:pPr indent="0" marL="0">
              <a:buNone/>
            </a:pPr>
            <a:r>
              <a:rPr lang="en-US" sz="1200" dirty="0">
                <a:solidFill>
                  <a:schemeClr val="tx1"/>
                </a:solidFill>
              </a:rPr>
              <a:t>겨울이 단순히 '기온이 빠르게 내려가는 시기'라서 표준편차가 커 보인 것일 수 있었다.</a:t>
            </a:r>
            <a:endParaRPr lang="en-US" sz="1200" dirty="0"/>
          </a:p>
        </p:txBody>
      </p:sp>
      <p:sp>
        <p:nvSpPr>
          <p:cNvPr id="6" name="r_obs_head"/>
          <p:cNvSpPr txBox="1"/>
          <p:nvPr/>
        </p:nvSpPr>
        <p:spPr>
          <a:xfrm>
            <a:off x="5852160" y="2331720"/>
            <a:ext cx="2834640" cy="274320"/>
          </a:xfrm>
          <a:prstGeom prst="rect">
            <a:avLst/>
          </a:prstGeom>
          <a:noFill/>
          <a:ln/>
        </p:spPr>
        <p:txBody>
          <a:bodyPr wrap="square" lIns="0" tIns="0" rIns="0" bIns="0" rtlCol="0" anchor="t"/>
          <a:lstStyle/>
          <a:p>
            <a:pPr indent="0" marL="0">
              <a:buNone/>
            </a:pPr>
            <a:r>
              <a:rPr lang="en-US" sz="1200" b="1" dirty="0">
                <a:solidFill>
                  <a:srgbClr val="5B8E7D"/>
                </a:solidFill>
              </a:rPr>
              <a:t>관찰</a:t>
            </a:r>
            <a:endParaRPr lang="en-US" sz="1200" dirty="0"/>
          </a:p>
        </p:txBody>
      </p:sp>
      <p:sp>
        <p:nvSpPr>
          <p:cNvPr id="7" name="r_obs_body"/>
          <p:cNvSpPr txBox="1"/>
          <p:nvPr/>
        </p:nvSpPr>
        <p:spPr>
          <a:xfrm>
            <a:off x="5852160" y="2606040"/>
            <a:ext cx="2834640" cy="822960"/>
          </a:xfrm>
          <a:prstGeom prst="rect">
            <a:avLst/>
          </a:prstGeom>
          <a:noFill/>
          <a:ln/>
        </p:spPr>
        <p:txBody>
          <a:bodyPr wrap="square" lIns="0" tIns="0" rIns="0" bIns="0" rtlCol="0" anchor="t"/>
          <a:lstStyle/>
          <a:p>
            <a:pPr indent="0" marL="0">
              <a:buNone/>
            </a:pPr>
            <a:r>
              <a:rPr lang="en-US" sz="1200" dirty="0">
                <a:solidFill>
                  <a:schemeClr val="tx1"/>
                </a:solidFill>
              </a:rPr>
              <a:t>계절 흐름을 뺀 잔차도 2월 3.49℃ vs 6월 1.44℃. 겨울이 2배 넘게 크다.</a:t>
            </a:r>
            <a:endParaRPr lang="en-US" sz="1200" dirty="0"/>
          </a:p>
        </p:txBody>
      </p:sp>
      <p:sp>
        <p:nvSpPr>
          <p:cNvPr id="8" name="r_conc_head"/>
          <p:cNvSpPr txBox="1"/>
          <p:nvPr/>
        </p:nvSpPr>
        <p:spPr>
          <a:xfrm>
            <a:off x="5852160" y="3429000"/>
            <a:ext cx="2834640" cy="274320"/>
          </a:xfrm>
          <a:prstGeom prst="rect">
            <a:avLst/>
          </a:prstGeom>
          <a:noFill/>
          <a:ln/>
        </p:spPr>
        <p:txBody>
          <a:bodyPr wrap="square" lIns="0" tIns="0" rIns="0" bIns="0" rtlCol="0" anchor="t"/>
          <a:lstStyle/>
          <a:p>
            <a:pPr indent="0" marL="0">
              <a:buNone/>
            </a:pPr>
            <a:r>
              <a:rPr lang="en-US" sz="1200" b="1" dirty="0">
                <a:solidFill>
                  <a:srgbClr val="E4572E"/>
                </a:solidFill>
              </a:rPr>
              <a:t>결론</a:t>
            </a:r>
            <a:endParaRPr lang="en-US" sz="1200" dirty="0"/>
          </a:p>
        </p:txBody>
      </p:sp>
      <p:sp>
        <p:nvSpPr>
          <p:cNvPr id="9" name="r_conc_body"/>
          <p:cNvSpPr txBox="1"/>
          <p:nvPr/>
        </p:nvSpPr>
        <p:spPr>
          <a:xfrm>
            <a:off x="5852160" y="3703320"/>
            <a:ext cx="2834640" cy="731520"/>
          </a:xfrm>
          <a:prstGeom prst="rect">
            <a:avLst/>
          </a:prstGeom>
          <a:noFill/>
          <a:ln/>
        </p:spPr>
        <p:txBody>
          <a:bodyPr wrap="square" lIns="0" tIns="0" rIns="0" bIns="0" rtlCol="0" anchor="t"/>
          <a:lstStyle/>
          <a:p>
            <a:pPr indent="0" marL="0">
              <a:buNone/>
            </a:pPr>
            <a:r>
              <a:rPr lang="en-US" sz="1200" dirty="0">
                <a:solidFill>
                  <a:schemeClr val="tx1"/>
                </a:solidFill>
              </a:rPr>
              <a:t>서로 다른 두 지표가 같은 방향 → 인사이트 ②가 더 튼튼해짐</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③ 급변일 37일은 모두 10~3월에 있다</a:t>
            </a:r>
            <a:endParaRPr lang="en-US" sz="2400" dirty="0"/>
          </a:p>
        </p:txBody>
      </p:sp>
      <p:pic>
        <p:nvPicPr>
          <p:cNvPr id="3" name="graph03" descr="03_outlier_by_month.png">    </p:cNvPr>
          <p:cNvPicPr>
            <a:picLocks noChangeAspect="1"/>
          </p:cNvPicPr>
          <p:nvPr/>
        </p:nvPicPr>
        <p:blipFill>
          <a:blip r:embed="rId1"/>
          <a:stretch>
            <a:fillRect/>
          </a:stretch>
        </p:blipFill>
        <p:spPr>
          <a:xfrm>
            <a:off x="457200" y="1005840"/>
            <a:ext cx="5120640" cy="2560320"/>
          </a:xfrm>
          <a:prstGeom prst="rect">
            <a:avLst/>
          </a:prstGeom>
        </p:spPr>
      </p:pic>
      <p:sp>
        <p:nvSpPr>
          <p:cNvPr id="4" name="m3_card_0"/>
          <p:cNvSpPr/>
          <p:nvPr/>
        </p:nvSpPr>
        <p:spPr>
          <a:xfrm>
            <a:off x="5852160" y="1005840"/>
            <a:ext cx="2834640" cy="1051560"/>
          </a:xfrm>
          <a:prstGeom prst="roundRect">
            <a:avLst>
              <a:gd name="adj" fmla="val 10435"/>
            </a:avLst>
          </a:prstGeom>
          <a:solidFill>
            <a:srgbClr val="EEF2F7"/>
          </a:solidFill>
          <a:ln w="12700">
            <a:solidFill>
              <a:srgbClr val="EEF2F7"/>
            </a:solidFill>
            <a:prstDash val="solid"/>
          </a:ln>
        </p:spPr>
      </p:sp>
      <p:sp>
        <p:nvSpPr>
          <p:cNvPr id="5" name="m3_big_0"/>
          <p:cNvSpPr txBox="1"/>
          <p:nvPr/>
        </p:nvSpPr>
        <p:spPr>
          <a:xfrm>
            <a:off x="6035040" y="1097280"/>
            <a:ext cx="2560320" cy="457200"/>
          </a:xfrm>
          <a:prstGeom prst="rect">
            <a:avLst/>
          </a:prstGeom>
          <a:noFill/>
          <a:ln/>
        </p:spPr>
        <p:txBody>
          <a:bodyPr wrap="square" lIns="0" tIns="0" rIns="0" bIns="0" rtlCol="0" anchor="ctr"/>
          <a:lstStyle/>
          <a:p>
            <a:pPr indent="0" marL="0">
              <a:buNone/>
            </a:pPr>
            <a:r>
              <a:rPr lang="en-US" sz="2000" b="1" dirty="0">
                <a:solidFill>
                  <a:srgbClr val="14213D"/>
                </a:solidFill>
              </a:rPr>
              <a:t>37일 → 0일</a:t>
            </a:r>
            <a:endParaRPr lang="en-US" sz="2000" dirty="0"/>
          </a:p>
        </p:txBody>
      </p:sp>
      <p:sp>
        <p:nvSpPr>
          <p:cNvPr id="6" name="m3_lab_0"/>
          <p:cNvSpPr txBox="1"/>
          <p:nvPr/>
        </p:nvSpPr>
        <p:spPr>
          <a:xfrm>
            <a:off x="6035040" y="1572768"/>
            <a:ext cx="2560320" cy="365760"/>
          </a:xfrm>
          <a:prstGeom prst="rect">
            <a:avLst/>
          </a:prstGeom>
          <a:noFill/>
          <a:ln/>
        </p:spPr>
        <p:txBody>
          <a:bodyPr wrap="square" lIns="0" tIns="0" rIns="0" bIns="0" rtlCol="0" anchor="t"/>
          <a:lstStyle/>
          <a:p>
            <a:pPr indent="0" marL="0">
              <a:buNone/>
            </a:pPr>
            <a:r>
              <a:rPr lang="en-US" sz="1200" dirty="0">
                <a:solidFill>
                  <a:schemeClr val="tx1"/>
                </a:solidFill>
              </a:rPr>
              <a:t>10~3월 → 4~9월</a:t>
            </a:r>
            <a:endParaRPr lang="en-US" sz="1200" dirty="0"/>
          </a:p>
        </p:txBody>
      </p:sp>
      <p:sp>
        <p:nvSpPr>
          <p:cNvPr id="7" name="m3_card_1"/>
          <p:cNvSpPr/>
          <p:nvPr/>
        </p:nvSpPr>
        <p:spPr>
          <a:xfrm>
            <a:off x="5852160" y="2194560"/>
            <a:ext cx="2834640" cy="1051560"/>
          </a:xfrm>
          <a:prstGeom prst="roundRect">
            <a:avLst>
              <a:gd name="adj" fmla="val 10435"/>
            </a:avLst>
          </a:prstGeom>
          <a:solidFill>
            <a:srgbClr val="EEF2F7"/>
          </a:solidFill>
          <a:ln w="12700">
            <a:solidFill>
              <a:srgbClr val="EEF2F7"/>
            </a:solidFill>
            <a:prstDash val="solid"/>
          </a:ln>
        </p:spPr>
      </p:sp>
      <p:sp>
        <p:nvSpPr>
          <p:cNvPr id="8" name="m3_big_1"/>
          <p:cNvSpPr txBox="1"/>
          <p:nvPr/>
        </p:nvSpPr>
        <p:spPr>
          <a:xfrm>
            <a:off x="6035040" y="2286000"/>
            <a:ext cx="2560320" cy="457200"/>
          </a:xfrm>
          <a:prstGeom prst="rect">
            <a:avLst/>
          </a:prstGeom>
          <a:noFill/>
          <a:ln/>
        </p:spPr>
        <p:txBody>
          <a:bodyPr wrap="square" lIns="0" tIns="0" rIns="0" bIns="0" rtlCol="0" anchor="ctr"/>
          <a:lstStyle/>
          <a:p>
            <a:pPr indent="0" marL="0">
              <a:buNone/>
            </a:pPr>
            <a:r>
              <a:rPr lang="en-US" sz="2000" b="1" dirty="0">
                <a:solidFill>
                  <a:srgbClr val="2E86AB"/>
                </a:solidFill>
              </a:rPr>
              <a:t>29 : 8</a:t>
            </a:r>
            <a:endParaRPr lang="en-US" sz="2000" dirty="0"/>
          </a:p>
        </p:txBody>
      </p:sp>
      <p:sp>
        <p:nvSpPr>
          <p:cNvPr id="9" name="m3_lab_1"/>
          <p:cNvSpPr txBox="1"/>
          <p:nvPr/>
        </p:nvSpPr>
        <p:spPr>
          <a:xfrm>
            <a:off x="6035040" y="2761488"/>
            <a:ext cx="2560320" cy="365760"/>
          </a:xfrm>
          <a:prstGeom prst="rect">
            <a:avLst/>
          </a:prstGeom>
          <a:noFill/>
          <a:ln/>
        </p:spPr>
        <p:txBody>
          <a:bodyPr wrap="square" lIns="0" tIns="0" rIns="0" bIns="0" rtlCol="0" anchor="t"/>
          <a:lstStyle/>
          <a:p>
            <a:pPr indent="0" marL="0">
              <a:buNone/>
            </a:pPr>
            <a:r>
              <a:rPr lang="en-US" sz="1200" dirty="0">
                <a:solidFill>
                  <a:schemeClr val="tx1"/>
                </a:solidFill>
              </a:rPr>
              <a:t>급하강 : 급상승 (약 3.6배)</a:t>
            </a:r>
            <a:endParaRPr lang="en-US" sz="1200" dirty="0"/>
          </a:p>
        </p:txBody>
      </p:sp>
      <p:sp>
        <p:nvSpPr>
          <p:cNvPr id="10" name="m3_card_2"/>
          <p:cNvSpPr/>
          <p:nvPr/>
        </p:nvSpPr>
        <p:spPr>
          <a:xfrm>
            <a:off x="5852160" y="3383280"/>
            <a:ext cx="2834640" cy="1051560"/>
          </a:xfrm>
          <a:prstGeom prst="roundRect">
            <a:avLst>
              <a:gd name="adj" fmla="val 10435"/>
            </a:avLst>
          </a:prstGeom>
          <a:solidFill>
            <a:srgbClr val="EEF2F7"/>
          </a:solidFill>
          <a:ln w="12700">
            <a:solidFill>
              <a:srgbClr val="EEF2F7"/>
            </a:solidFill>
            <a:prstDash val="solid"/>
          </a:ln>
        </p:spPr>
      </p:sp>
      <p:sp>
        <p:nvSpPr>
          <p:cNvPr id="11" name="m3_big_2"/>
          <p:cNvSpPr txBox="1"/>
          <p:nvPr/>
        </p:nvSpPr>
        <p:spPr>
          <a:xfrm>
            <a:off x="6035040" y="3474720"/>
            <a:ext cx="2560320" cy="457200"/>
          </a:xfrm>
          <a:prstGeom prst="rect">
            <a:avLst/>
          </a:prstGeom>
          <a:noFill/>
          <a:ln/>
        </p:spPr>
        <p:txBody>
          <a:bodyPr wrap="square" lIns="0" tIns="0" rIns="0" bIns="0" rtlCol="0" anchor="ctr"/>
          <a:lstStyle/>
          <a:p>
            <a:pPr indent="0" marL="0">
              <a:buNone/>
            </a:pPr>
            <a:r>
              <a:rPr lang="en-US" sz="2000" b="1" dirty="0">
                <a:solidFill>
                  <a:srgbClr val="E4572E"/>
                </a:solidFill>
              </a:rPr>
              <a:t>9일 모두 하강</a:t>
            </a:r>
            <a:endParaRPr lang="en-US" sz="2000" dirty="0"/>
          </a:p>
        </p:txBody>
      </p:sp>
      <p:sp>
        <p:nvSpPr>
          <p:cNvPr id="12" name="m3_lab_2"/>
          <p:cNvSpPr txBox="1"/>
          <p:nvPr/>
        </p:nvSpPr>
        <p:spPr>
          <a:xfrm>
            <a:off x="6035040" y="3950208"/>
            <a:ext cx="2560320" cy="365760"/>
          </a:xfrm>
          <a:prstGeom prst="rect">
            <a:avLst/>
          </a:prstGeom>
          <a:noFill/>
          <a:ln/>
        </p:spPr>
        <p:txBody>
          <a:bodyPr wrap="square" lIns="0" tIns="0" rIns="0" bIns="0" rtlCol="0" anchor="t"/>
          <a:lstStyle/>
          <a:p>
            <a:pPr indent="0" marL="0">
              <a:buNone/>
            </a:pPr>
            <a:r>
              <a:rPr lang="en-US" sz="1200" dirty="0">
                <a:solidFill>
                  <a:schemeClr val="tx1"/>
                </a:solidFill>
              </a:rPr>
              <a:t>12월 급변일의 방향</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③ 급상승은 비와 함께, 급하강은 맑은 날에</a:t>
            </a:r>
            <a:endParaRPr lang="en-US" sz="2400" dirty="0"/>
          </a:p>
        </p:txBody>
      </p:sp>
      <p:sp>
        <p:nvSpPr>
          <p:cNvPr id="3" name="rain_card_0"/>
          <p:cNvSpPr/>
          <p:nvPr/>
        </p:nvSpPr>
        <p:spPr>
          <a:xfrm>
            <a:off x="457200" y="1051560"/>
            <a:ext cx="1965960" cy="1828800"/>
          </a:xfrm>
          <a:prstGeom prst="roundRect">
            <a:avLst>
              <a:gd name="adj" fmla="val 6000"/>
            </a:avLst>
          </a:prstGeom>
          <a:solidFill>
            <a:srgbClr val="EEF2F7"/>
          </a:solidFill>
          <a:ln w="12700">
            <a:solidFill>
              <a:srgbClr val="EEF2F7"/>
            </a:solidFill>
            <a:prstDash val="solid"/>
          </a:ln>
        </p:spPr>
      </p:sp>
      <p:sp>
        <p:nvSpPr>
          <p:cNvPr id="4" name="rain_icon_0_bg"/>
          <p:cNvSpPr/>
          <p:nvPr/>
        </p:nvSpPr>
        <p:spPr>
          <a:xfrm>
            <a:off x="640080" y="1188720"/>
            <a:ext cx="457200" cy="457200"/>
          </a:xfrm>
          <a:prstGeom prst="ellipse">
            <a:avLst/>
          </a:prstGeom>
          <a:solidFill>
            <a:srgbClr val="E4572E"/>
          </a:solidFill>
          <a:ln w="12700">
            <a:solidFill>
              <a:srgbClr val="E4572E"/>
            </a:solidFill>
            <a:prstDash val="solid"/>
          </a:ln>
        </p:spPr>
      </p:sp>
      <p:pic>
        <p:nvPicPr>
          <p:cNvPr id="5" name="rain_icon_0" descr="preencoded.png">    </p:cNvPr>
          <p:cNvPicPr>
            <a:picLocks noChangeAspect="1"/>
          </p:cNvPicPr>
          <p:nvPr/>
        </p:nvPicPr>
        <p:blipFill>
          <a:blip r:embed="rId1"/>
          <a:stretch>
            <a:fillRect/>
          </a:stretch>
        </p:blipFill>
        <p:spPr>
          <a:xfrm>
            <a:off x="749808" y="1298448"/>
            <a:ext cx="237744" cy="237744"/>
          </a:xfrm>
          <a:prstGeom prst="rect">
            <a:avLst/>
          </a:prstGeom>
        </p:spPr>
      </p:pic>
      <p:sp>
        <p:nvSpPr>
          <p:cNvPr id="6" name="rain_big_0"/>
          <p:cNvSpPr txBox="1"/>
          <p:nvPr/>
        </p:nvSpPr>
        <p:spPr>
          <a:xfrm>
            <a:off x="640080" y="1737360"/>
            <a:ext cx="1645920" cy="548640"/>
          </a:xfrm>
          <a:prstGeom prst="rect">
            <a:avLst/>
          </a:prstGeom>
          <a:noFill/>
          <a:ln/>
        </p:spPr>
        <p:txBody>
          <a:bodyPr wrap="square" lIns="0" tIns="0" rIns="0" bIns="0" rtlCol="0" anchor="ctr"/>
          <a:lstStyle/>
          <a:p>
            <a:pPr indent="0" marL="0">
              <a:buNone/>
            </a:pPr>
            <a:r>
              <a:rPr lang="en-US" sz="3200" b="1" dirty="0">
                <a:solidFill>
                  <a:srgbClr val="E4572E"/>
                </a:solidFill>
              </a:rPr>
              <a:t>50%</a:t>
            </a:r>
            <a:endParaRPr lang="en-US" sz="3200" dirty="0"/>
          </a:p>
        </p:txBody>
      </p:sp>
      <p:sp>
        <p:nvSpPr>
          <p:cNvPr id="7" name="rain_lab_0"/>
          <p:cNvSpPr txBox="1"/>
          <p:nvPr/>
        </p:nvSpPr>
        <p:spPr>
          <a:xfrm>
            <a:off x="640080" y="2286000"/>
            <a:ext cx="1691640" cy="548640"/>
          </a:xfrm>
          <a:prstGeom prst="rect">
            <a:avLst/>
          </a:prstGeom>
          <a:noFill/>
          <a:ln/>
        </p:spPr>
        <p:txBody>
          <a:bodyPr wrap="square" lIns="0" tIns="0" rIns="0" bIns="0" rtlCol="0" anchor="t"/>
          <a:lstStyle/>
          <a:p>
            <a:pPr indent="0" marL="0">
              <a:buNone/>
            </a:pPr>
            <a:r>
              <a:rPr lang="en-US" sz="1100" dirty="0">
                <a:solidFill>
                  <a:schemeClr val="tx1"/>
                </a:solidFill>
              </a:rPr>
              <a:t>급상승 8일 중 4일이</a:t>
            </a:r>
            <a:endParaRPr lang="en-US" sz="1100" dirty="0"/>
          </a:p>
          <a:p>
            <a:pPr indent="0" marL="0">
              <a:buNone/>
            </a:pPr>
            <a:r>
              <a:rPr lang="en-US" sz="1100" dirty="0">
                <a:solidFill>
                  <a:schemeClr val="tx1"/>
                </a:solidFill>
              </a:rPr>
              <a:t>비 10mm 이상</a:t>
            </a:r>
            <a:endParaRPr lang="en-US" sz="1100" dirty="0"/>
          </a:p>
        </p:txBody>
      </p:sp>
      <p:sp>
        <p:nvSpPr>
          <p:cNvPr id="8" name="rain_card_1"/>
          <p:cNvSpPr/>
          <p:nvPr/>
        </p:nvSpPr>
        <p:spPr>
          <a:xfrm>
            <a:off x="2606040" y="1051560"/>
            <a:ext cx="1965960" cy="1828800"/>
          </a:xfrm>
          <a:prstGeom prst="roundRect">
            <a:avLst>
              <a:gd name="adj" fmla="val 6000"/>
            </a:avLst>
          </a:prstGeom>
          <a:solidFill>
            <a:srgbClr val="EEF2F7"/>
          </a:solidFill>
          <a:ln w="12700">
            <a:solidFill>
              <a:srgbClr val="EEF2F7"/>
            </a:solidFill>
            <a:prstDash val="solid"/>
          </a:ln>
        </p:spPr>
      </p:sp>
      <p:sp>
        <p:nvSpPr>
          <p:cNvPr id="9" name="rain_icon_1_bg"/>
          <p:cNvSpPr/>
          <p:nvPr/>
        </p:nvSpPr>
        <p:spPr>
          <a:xfrm>
            <a:off x="2788920" y="1188720"/>
            <a:ext cx="457200" cy="457200"/>
          </a:xfrm>
          <a:prstGeom prst="ellipse">
            <a:avLst/>
          </a:prstGeom>
          <a:solidFill>
            <a:srgbClr val="2E86AB"/>
          </a:solidFill>
          <a:ln w="12700">
            <a:solidFill>
              <a:srgbClr val="2E86AB"/>
            </a:solidFill>
            <a:prstDash val="solid"/>
          </a:ln>
        </p:spPr>
      </p:sp>
      <p:pic>
        <p:nvPicPr>
          <p:cNvPr id="10" name="rain_icon_1" descr="preencoded.png">    </p:cNvPr>
          <p:cNvPicPr>
            <a:picLocks noChangeAspect="1"/>
          </p:cNvPicPr>
          <p:nvPr/>
        </p:nvPicPr>
        <p:blipFill>
          <a:blip r:embed="rId2"/>
          <a:stretch>
            <a:fillRect/>
          </a:stretch>
        </p:blipFill>
        <p:spPr>
          <a:xfrm>
            <a:off x="2898648" y="1298448"/>
            <a:ext cx="237744" cy="237744"/>
          </a:xfrm>
          <a:prstGeom prst="rect">
            <a:avLst/>
          </a:prstGeom>
        </p:spPr>
      </p:pic>
      <p:sp>
        <p:nvSpPr>
          <p:cNvPr id="11" name="rain_big_1"/>
          <p:cNvSpPr txBox="1"/>
          <p:nvPr/>
        </p:nvSpPr>
        <p:spPr>
          <a:xfrm>
            <a:off x="2788920" y="1737360"/>
            <a:ext cx="1645920" cy="548640"/>
          </a:xfrm>
          <a:prstGeom prst="rect">
            <a:avLst/>
          </a:prstGeom>
          <a:noFill/>
          <a:ln/>
        </p:spPr>
        <p:txBody>
          <a:bodyPr wrap="square" lIns="0" tIns="0" rIns="0" bIns="0" rtlCol="0" anchor="ctr"/>
          <a:lstStyle/>
          <a:p>
            <a:pPr indent="0" marL="0">
              <a:buNone/>
            </a:pPr>
            <a:r>
              <a:rPr lang="en-US" sz="3200" b="1" dirty="0">
                <a:solidFill>
                  <a:srgbClr val="2E86AB"/>
                </a:solidFill>
              </a:rPr>
              <a:t>3%</a:t>
            </a:r>
            <a:endParaRPr lang="en-US" sz="3200" dirty="0"/>
          </a:p>
        </p:txBody>
      </p:sp>
      <p:sp>
        <p:nvSpPr>
          <p:cNvPr id="12" name="rain_lab_1"/>
          <p:cNvSpPr txBox="1"/>
          <p:nvPr/>
        </p:nvSpPr>
        <p:spPr>
          <a:xfrm>
            <a:off x="2788920" y="2286000"/>
            <a:ext cx="1691640" cy="548640"/>
          </a:xfrm>
          <a:prstGeom prst="rect">
            <a:avLst/>
          </a:prstGeom>
          <a:noFill/>
          <a:ln/>
        </p:spPr>
        <p:txBody>
          <a:bodyPr wrap="square" lIns="0" tIns="0" rIns="0" bIns="0" rtlCol="0" anchor="t"/>
          <a:lstStyle/>
          <a:p>
            <a:pPr indent="0" marL="0">
              <a:buNone/>
            </a:pPr>
            <a:r>
              <a:rPr lang="en-US" sz="1100" dirty="0">
                <a:solidFill>
                  <a:schemeClr val="tx1"/>
                </a:solidFill>
              </a:rPr>
              <a:t>급하강 29일 중 1일만</a:t>
            </a:r>
            <a:endParaRPr lang="en-US" sz="1100" dirty="0"/>
          </a:p>
          <a:p>
            <a:pPr indent="0" marL="0">
              <a:buNone/>
            </a:pPr>
            <a:r>
              <a:rPr lang="en-US" sz="1100" dirty="0">
                <a:solidFill>
                  <a:schemeClr val="tx1"/>
                </a:solidFill>
              </a:rPr>
              <a:t>비 10mm 이상</a:t>
            </a:r>
            <a:endParaRPr lang="en-US" sz="1100" dirty="0"/>
          </a:p>
        </p:txBody>
      </p:sp>
      <p:sp>
        <p:nvSpPr>
          <p:cNvPr id="13" name="rain_case_head"/>
          <p:cNvSpPr txBox="1"/>
          <p:nvPr/>
        </p:nvSpPr>
        <p:spPr>
          <a:xfrm>
            <a:off x="457200" y="3108960"/>
            <a:ext cx="4114800" cy="274320"/>
          </a:xfrm>
          <a:prstGeom prst="rect">
            <a:avLst/>
          </a:prstGeom>
          <a:noFill/>
          <a:ln/>
        </p:spPr>
        <p:txBody>
          <a:bodyPr wrap="square" lIns="0" tIns="0" rIns="0" bIns="0" rtlCol="0" anchor="t"/>
          <a:lstStyle/>
          <a:p>
            <a:pPr indent="0" marL="0">
              <a:buNone/>
            </a:pPr>
            <a:r>
              <a:rPr lang="en-US" sz="1200" b="1" dirty="0">
                <a:solidFill>
                  <a:srgbClr val="14213D"/>
                </a:solidFill>
              </a:rPr>
              <a:t>대표 사례</a:t>
            </a:r>
            <a:endParaRPr lang="en-US" sz="1200" dirty="0"/>
          </a:p>
        </p:txBody>
      </p:sp>
      <p:sp>
        <p:nvSpPr>
          <p:cNvPr id="14" name="rain_case_body"/>
          <p:cNvSpPr txBox="1"/>
          <p:nvPr/>
        </p:nvSpPr>
        <p:spPr>
          <a:xfrm>
            <a:off x="457200" y="3383280"/>
            <a:ext cx="4114800" cy="548640"/>
          </a:xfrm>
          <a:prstGeom prst="rect">
            <a:avLst/>
          </a:prstGeom>
          <a:noFill/>
          <a:ln/>
        </p:spPr>
        <p:txBody>
          <a:bodyPr wrap="square" lIns="0" tIns="0" rIns="0" bIns="0" rtlCol="0" anchor="t"/>
          <a:lstStyle/>
          <a:p>
            <a:pPr indent="0" marL="0">
              <a:buNone/>
            </a:pPr>
            <a:r>
              <a:rPr lang="en-US" sz="1300" dirty="0">
                <a:solidFill>
                  <a:schemeClr val="tx1"/>
                </a:solidFill>
              </a:rPr>
              <a:t>2024-02-19 비 43.6mm와 함께 +6.9℃ → 다음 날 맑아지며 −7.0℃</a:t>
            </a:r>
            <a:endParaRPr lang="en-US" sz="1300" dirty="0"/>
          </a:p>
        </p:txBody>
      </p:sp>
      <p:sp>
        <p:nvSpPr>
          <p:cNvPr id="15" name="rain_ce_head"/>
          <p:cNvSpPr txBox="1"/>
          <p:nvPr/>
        </p:nvSpPr>
        <p:spPr>
          <a:xfrm>
            <a:off x="457200" y="3931920"/>
            <a:ext cx="4114800" cy="274320"/>
          </a:xfrm>
          <a:prstGeom prst="rect">
            <a:avLst/>
          </a:prstGeom>
          <a:noFill/>
          <a:ln/>
        </p:spPr>
        <p:txBody>
          <a:bodyPr wrap="square" lIns="0" tIns="0" rIns="0" bIns="0" rtlCol="0" anchor="t"/>
          <a:lstStyle/>
          <a:p>
            <a:pPr indent="0" marL="0">
              <a:buNone/>
            </a:pPr>
            <a:r>
              <a:rPr lang="en-US" sz="1200" b="1" dirty="0">
                <a:solidFill>
                  <a:srgbClr val="A23B2A"/>
                </a:solidFill>
              </a:rPr>
              <a:t>반례</a:t>
            </a:r>
            <a:endParaRPr lang="en-US" sz="1200" dirty="0"/>
          </a:p>
        </p:txBody>
      </p:sp>
      <p:sp>
        <p:nvSpPr>
          <p:cNvPr id="16" name="rain_ce_body"/>
          <p:cNvSpPr txBox="1"/>
          <p:nvPr/>
        </p:nvSpPr>
        <p:spPr>
          <a:xfrm>
            <a:off x="457200" y="4206240"/>
            <a:ext cx="4114800" cy="457200"/>
          </a:xfrm>
          <a:prstGeom prst="rect">
            <a:avLst/>
          </a:prstGeom>
          <a:noFill/>
          <a:ln/>
        </p:spPr>
        <p:txBody>
          <a:bodyPr wrap="square" lIns="0" tIns="0" rIns="0" bIns="0" rtlCol="0" anchor="t"/>
          <a:lstStyle/>
          <a:p>
            <a:pPr indent="0" marL="0">
              <a:buNone/>
            </a:pPr>
            <a:r>
              <a:rPr lang="en-US" sz="1300" dirty="0">
                <a:solidFill>
                  <a:schemeClr val="tx1"/>
                </a:solidFill>
              </a:rPr>
              <a:t>2025-11-30은 비 없이 +6.9℃ 급상승</a:t>
            </a:r>
            <a:endParaRPr lang="en-US" sz="1300" dirty="0"/>
          </a:p>
        </p:txBody>
      </p:sp>
      <p:sp>
        <p:nvSpPr>
          <p:cNvPr id="17" name="rain_hyp_card"/>
          <p:cNvSpPr/>
          <p:nvPr/>
        </p:nvSpPr>
        <p:spPr>
          <a:xfrm>
            <a:off x="4937760" y="1051560"/>
            <a:ext cx="3749040" cy="3474720"/>
          </a:xfrm>
          <a:prstGeom prst="roundRect">
            <a:avLst>
              <a:gd name="adj" fmla="val 3158"/>
            </a:avLst>
          </a:prstGeom>
          <a:solidFill>
            <a:srgbClr val="EEF2F7"/>
          </a:solidFill>
          <a:ln w="12700">
            <a:solidFill>
              <a:srgbClr val="EEF2F7"/>
            </a:solidFill>
            <a:prstDash val="solid"/>
          </a:ln>
        </p:spPr>
      </p:sp>
      <p:sp>
        <p:nvSpPr>
          <p:cNvPr id="18" name="rain_hyp_icon_bg"/>
          <p:cNvSpPr/>
          <p:nvPr/>
        </p:nvSpPr>
        <p:spPr>
          <a:xfrm>
            <a:off x="5166360" y="1234440"/>
            <a:ext cx="502920" cy="502920"/>
          </a:xfrm>
          <a:prstGeom prst="ellipse">
            <a:avLst/>
          </a:prstGeom>
          <a:solidFill>
            <a:srgbClr val="F4A259"/>
          </a:solidFill>
          <a:ln w="12700">
            <a:solidFill>
              <a:srgbClr val="F4A259"/>
            </a:solidFill>
            <a:prstDash val="solid"/>
          </a:ln>
        </p:spPr>
      </p:sp>
      <p:pic>
        <p:nvPicPr>
          <p:cNvPr id="19" name="rain_hyp_icon" descr="preencoded.png">    </p:cNvPr>
          <p:cNvPicPr>
            <a:picLocks noChangeAspect="1"/>
          </p:cNvPicPr>
          <p:nvPr/>
        </p:nvPicPr>
        <p:blipFill>
          <a:blip r:embed="rId3"/>
          <a:stretch>
            <a:fillRect/>
          </a:stretch>
        </p:blipFill>
        <p:spPr>
          <a:xfrm>
            <a:off x="5287061" y="1355141"/>
            <a:ext cx="261518" cy="261518"/>
          </a:xfrm>
          <a:prstGeom prst="rect">
            <a:avLst/>
          </a:prstGeom>
        </p:spPr>
      </p:pic>
      <p:sp>
        <p:nvSpPr>
          <p:cNvPr id="20" name="rain_hyp_head"/>
          <p:cNvSpPr txBox="1"/>
          <p:nvPr/>
        </p:nvSpPr>
        <p:spPr>
          <a:xfrm>
            <a:off x="5806440" y="1234440"/>
            <a:ext cx="2743200" cy="502920"/>
          </a:xfrm>
          <a:prstGeom prst="rect">
            <a:avLst/>
          </a:prstGeom>
          <a:noFill/>
          <a:ln/>
        </p:spPr>
        <p:txBody>
          <a:bodyPr wrap="square" lIns="0" tIns="0" rIns="0" bIns="0" rtlCol="0" anchor="ctr"/>
          <a:lstStyle/>
          <a:p>
            <a:pPr indent="0" marL="0">
              <a:buNone/>
            </a:pPr>
            <a:r>
              <a:rPr lang="en-US" sz="1600" b="1" dirty="0">
                <a:solidFill>
                  <a:schemeClr val="accent1"/>
                </a:solidFill>
              </a:rPr>
              <a:t>해석 (가설)</a:t>
            </a:r>
            <a:endParaRPr lang="en-US" sz="1600" dirty="0"/>
          </a:p>
        </p:txBody>
      </p:sp>
      <p:sp>
        <p:nvSpPr>
          <p:cNvPr id="21" name="rain_hyp_body"/>
          <p:cNvSpPr txBox="1"/>
          <p:nvPr/>
        </p:nvSpPr>
        <p:spPr>
          <a:xfrm>
            <a:off x="5166360" y="1920240"/>
            <a:ext cx="3337560" cy="24688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저기압 앞쪽: 따뜻하고 습한 남서풍 → 비와 함께 기온 상승</a:t>
            </a:r>
            <a:endParaRPr lang="en-US" sz="1300" dirty="0"/>
          </a:p>
          <a:p>
            <a:pPr marL="342900" indent="-342900">
              <a:spcAft>
                <a:spcPts val="800"/>
              </a:spcAft>
              <a:buSzPct val="100000"/>
              <a:buChar char="•"/>
            </a:pPr>
            <a:r>
              <a:rPr lang="en-US" sz="1300" dirty="0">
                <a:solidFill>
                  <a:schemeClr val="tx1"/>
                </a:solidFill>
              </a:rPr>
              <a:t>저기압이 지나간 뒤: 차고 건조한 북서풍 → 맑으면서 급격한 하강</a:t>
            </a:r>
            <a:endParaRPr lang="en-US" sz="1300" dirty="0"/>
          </a:p>
          <a:p>
            <a:pPr marL="342900" indent="-342900">
              <a:spcAft>
                <a:spcPts val="800"/>
              </a:spcAft>
              <a:buSzPct val="100000"/>
              <a:buChar char="•"/>
            </a:pPr>
            <a:r>
              <a:rPr lang="en-US" sz="1300" dirty="0">
                <a:solidFill>
                  <a:schemeClr val="tx1"/>
                </a:solidFill>
              </a:rPr>
              <a:t>찬 공기 남하가 따뜻한 공기 유입보다 짧고 강해 하강이 더 잦을 수 있다</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③ 가장 크게 변한 8일은 모두 '하강'이었다</a:t>
            </a:r>
            <a:endParaRPr lang="en-US" sz="2400" dirty="0"/>
          </a:p>
        </p:txBody>
      </p:sp>
      <p:graphicFrame>
        <p:nvGraphicFramePr>
          <p:cNvPr id="21" name="top_table"/>
          <p:cNvGraphicFramePr>
            <a:graphicFrameLocks noGrp="1"/>
          </p:cNvGraphicFramePr>
          <p:nvPr>
            <p:extLst>
              <p:ext uri="{D42A27DB-BD31-4B8C-83A1-F6EECF244321}">
                <p14:modId xmlns:p14="http://schemas.microsoft.com/office/powerpoint/2010/main" val="1579011935"/>
              </p:ext>
            </p:extLst>
          </p:nvPr>
        </p:nvGraphicFramePr>
        <p:xfrm>
          <a:off x="457200" y="1005840"/>
          <a:ext cx="5120640" cy="914400"/>
        </p:xfrm>
        <a:graphic>
          <a:graphicData uri="http://schemas.openxmlformats.org/drawingml/2006/table">
            <a:tbl>
              <a:tblPr/>
              <a:tblGrid>
                <a:gridCol w="1371600"/>
                <a:gridCol w="1280160"/>
                <a:gridCol w="1280160"/>
                <a:gridCol w="1188720"/>
              </a:tblGrid>
              <a:tr h="384048">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날짜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평균기온(℃)</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전일 대비(℃)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강수(mm)</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r>
              <a:tr h="384048">
                <a:tc>
                  <a:txBody>
                    <a:bodyPr/>
                    <a:lstStyle/>
                    <a:p>
                      <a:pPr algn="ctr" indent="0" marL="0">
                        <a:buNone/>
                      </a:pPr>
                      <a:r>
                        <a:rPr lang="en-US" sz="1200" b="1" dirty="0">
                          <a:solidFill>
                            <a:srgbClr val="1F2933"/>
                          </a:solidFill>
                          <a:latin typeface="Malgun Gothic" pitchFamily="34" charset="0"/>
                          <a:ea typeface="Malgun Gothic" pitchFamily="34" charset="-122"/>
                          <a:cs typeface="Malgun Gothic" pitchFamily="34" charset="-120"/>
                        </a:rPr>
                        <a:t>2022-11-30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1F2933"/>
                          </a:solidFill>
                          <a:latin typeface="Malgun Gothic" pitchFamily="34" charset="0"/>
                          <a:ea typeface="Malgun Gothic" pitchFamily="34" charset="-122"/>
                          <a:cs typeface="Malgun Gothic" pitchFamily="34" charset="-120"/>
                        </a:rPr>
                        <a:t>0.2</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2E86AB"/>
                          </a:solidFill>
                          <a:latin typeface="Malgun Gothic" pitchFamily="34" charset="0"/>
                          <a:ea typeface="Malgun Gothic" pitchFamily="34" charset="-122"/>
                          <a:cs typeface="Malgun Gothic" pitchFamily="34" charset="-120"/>
                        </a:rPr>
                        <a:t>−14.5</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1F2933"/>
                          </a:solidFill>
                          <a:latin typeface="Malgun Gothic" pitchFamily="34" charset="0"/>
                          <a:ea typeface="Malgun Gothic" pitchFamily="34" charset="-122"/>
                          <a:cs typeface="Malgun Gothic" pitchFamily="34" charset="-120"/>
                        </a:rPr>
                        <a:t>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2023-11-24</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3.9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2E86AB"/>
                          </a:solidFill>
                          <a:latin typeface="Malgun Gothic" pitchFamily="34" charset="0"/>
                          <a:ea typeface="Malgun Gothic" pitchFamily="34" charset="-122"/>
                          <a:cs typeface="Malgun Gothic" pitchFamily="34" charset="-120"/>
                        </a:rPr>
                        <a:t>−9.8</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2020-12-30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−3.9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2E86AB"/>
                          </a:solidFill>
                          <a:latin typeface="Malgun Gothic" pitchFamily="34" charset="0"/>
                          <a:ea typeface="Malgun Gothic" pitchFamily="34" charset="-122"/>
                          <a:cs typeface="Malgun Gothic" pitchFamily="34" charset="-120"/>
                        </a:rPr>
                        <a:t>−9.2</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3.4</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2023-12-16</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3.4</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2E86AB"/>
                          </a:solidFill>
                          <a:latin typeface="Malgun Gothic" pitchFamily="34" charset="0"/>
                          <a:ea typeface="Malgun Gothic" pitchFamily="34" charset="-122"/>
                          <a:cs typeface="Malgun Gothic" pitchFamily="34" charset="-120"/>
                        </a:rPr>
                        <a:t>−8.9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0.6</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2023-01-24</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−6.1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2E86AB"/>
                          </a:solidFill>
                          <a:latin typeface="Malgun Gothic" pitchFamily="34" charset="0"/>
                          <a:ea typeface="Malgun Gothic" pitchFamily="34" charset="-122"/>
                          <a:cs typeface="Malgun Gothic" pitchFamily="34" charset="-120"/>
                        </a:rPr>
                        <a:t>−8.9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2021-02-02</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0.5</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2E86AB"/>
                          </a:solidFill>
                          <a:latin typeface="Malgun Gothic" pitchFamily="34" charset="0"/>
                          <a:ea typeface="Malgun Gothic" pitchFamily="34" charset="-122"/>
                          <a:cs typeface="Malgun Gothic" pitchFamily="34" charset="-120"/>
                        </a:rPr>
                        <a:t>−8.7</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2023-12-17</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−5.0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2E86AB"/>
                          </a:solidFill>
                          <a:latin typeface="Malgun Gothic" pitchFamily="34" charset="0"/>
                          <a:ea typeface="Malgun Gothic" pitchFamily="34" charset="-122"/>
                          <a:cs typeface="Malgun Gothic" pitchFamily="34" charset="-120"/>
                        </a:rPr>
                        <a:t>−8.4</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2023-03-13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4.0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b="1" dirty="0">
                          <a:solidFill>
                            <a:srgbClr val="2E86AB"/>
                          </a:solidFill>
                          <a:latin typeface="Malgun Gothic" pitchFamily="34" charset="0"/>
                          <a:ea typeface="Malgun Gothic" pitchFamily="34" charset="-122"/>
                          <a:cs typeface="Malgun Gothic" pitchFamily="34" charset="-120"/>
                        </a:rPr>
                        <a:t>−8.4</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200" dirty="0">
                          <a:solidFill>
                            <a:srgbClr val="1F2933"/>
                          </a:solidFill>
                          <a:latin typeface="Malgun Gothic" pitchFamily="34" charset="0"/>
                          <a:ea typeface="Malgun Gothic" pitchFamily="34" charset="-122"/>
                          <a:cs typeface="Malgun Gothic" pitchFamily="34" charset="-120"/>
                        </a:rPr>
                        <a:t>0.0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4" name="top_obs_head"/>
          <p:cNvSpPr txBox="1"/>
          <p:nvPr/>
        </p:nvSpPr>
        <p:spPr>
          <a:xfrm>
            <a:off x="5852160" y="1005840"/>
            <a:ext cx="2834640" cy="274320"/>
          </a:xfrm>
          <a:prstGeom prst="rect">
            <a:avLst/>
          </a:prstGeom>
          <a:noFill/>
          <a:ln/>
        </p:spPr>
        <p:txBody>
          <a:bodyPr wrap="square" lIns="0" tIns="0" rIns="0" bIns="0" rtlCol="0" anchor="t"/>
          <a:lstStyle/>
          <a:p>
            <a:pPr indent="0" marL="0">
              <a:buNone/>
            </a:pPr>
            <a:r>
              <a:rPr lang="en-US" sz="1200" b="1" dirty="0">
                <a:solidFill>
                  <a:srgbClr val="14213D"/>
                </a:solidFill>
              </a:rPr>
              <a:t>관찰</a:t>
            </a:r>
            <a:endParaRPr lang="en-US" sz="1200" dirty="0"/>
          </a:p>
        </p:txBody>
      </p:sp>
      <p:sp>
        <p:nvSpPr>
          <p:cNvPr id="5" name="top_obs_body"/>
          <p:cNvSpPr txBox="1"/>
          <p:nvPr/>
        </p:nvSpPr>
        <p:spPr>
          <a:xfrm>
            <a:off x="5852160" y="1280160"/>
            <a:ext cx="2834640" cy="1005840"/>
          </a:xfrm>
          <a:prstGeom prst="rect">
            <a:avLst/>
          </a:prstGeom>
          <a:noFill/>
          <a:ln/>
        </p:spPr>
        <p:txBody>
          <a:bodyPr wrap="square" lIns="0" tIns="0" rIns="0" bIns="0" rtlCol="0" anchor="t"/>
          <a:lstStyle/>
          <a:p>
            <a:pPr indent="0" marL="0">
              <a:buNone/>
            </a:pPr>
            <a:r>
              <a:rPr lang="en-US" sz="1200" dirty="0">
                <a:solidFill>
                  <a:schemeClr val="tx1"/>
                </a:solidFill>
              </a:rPr>
              <a:t>변화폭 상위 8일이 전부 하강이고, 대부분 강수 0mm. 최대는 2022-11-30 하루 −14.5℃.</a:t>
            </a:r>
            <a:endParaRPr lang="en-US" sz="1200" dirty="0"/>
          </a:p>
        </p:txBody>
      </p:sp>
      <p:sp>
        <p:nvSpPr>
          <p:cNvPr id="6" name="top_link_head"/>
          <p:cNvSpPr txBox="1"/>
          <p:nvPr/>
        </p:nvSpPr>
        <p:spPr>
          <a:xfrm>
            <a:off x="5852160" y="2331720"/>
            <a:ext cx="2834640" cy="274320"/>
          </a:xfrm>
          <a:prstGeom prst="rect">
            <a:avLst/>
          </a:prstGeom>
          <a:noFill/>
          <a:ln/>
        </p:spPr>
        <p:txBody>
          <a:bodyPr wrap="square" lIns="0" tIns="0" rIns="0" bIns="0" rtlCol="0" anchor="t"/>
          <a:lstStyle/>
          <a:p>
            <a:pPr indent="0" marL="0">
              <a:buNone/>
            </a:pPr>
            <a:r>
              <a:rPr lang="en-US" sz="1200" b="1" dirty="0">
                <a:solidFill>
                  <a:srgbClr val="2E86AB"/>
                </a:solidFill>
              </a:rPr>
              <a:t>11장 분포와 같은 이야기</a:t>
            </a:r>
            <a:endParaRPr lang="en-US" sz="1200" dirty="0"/>
          </a:p>
        </p:txBody>
      </p:sp>
      <p:sp>
        <p:nvSpPr>
          <p:cNvPr id="7" name="top_link_body"/>
          <p:cNvSpPr txBox="1"/>
          <p:nvPr/>
        </p:nvSpPr>
        <p:spPr>
          <a:xfrm>
            <a:off x="5852160" y="2606040"/>
            <a:ext cx="2834640" cy="731520"/>
          </a:xfrm>
          <a:prstGeom prst="rect">
            <a:avLst/>
          </a:prstGeom>
          <a:noFill/>
          <a:ln/>
        </p:spPr>
        <p:txBody>
          <a:bodyPr wrap="square" lIns="0" tIns="0" rIns="0" bIns="0" rtlCol="0" anchor="t"/>
          <a:lstStyle/>
          <a:p>
            <a:pPr indent="0" marL="0">
              <a:buNone/>
            </a:pPr>
            <a:r>
              <a:rPr lang="en-US" sz="1200" dirty="0">
                <a:solidFill>
                  <a:schemeClr val="tx1"/>
                </a:solidFill>
              </a:rPr>
              <a:t>변화 분포의 왼쪽 꼬리가 길었던 이유가 바로 이 날들</a:t>
            </a:r>
            <a:endParaRPr lang="en-US" sz="1200" dirty="0"/>
          </a:p>
        </p:txBody>
      </p:sp>
      <p:sp>
        <p:nvSpPr>
          <p:cNvPr id="8" name="top_plan_head"/>
          <p:cNvSpPr txBox="1"/>
          <p:nvPr/>
        </p:nvSpPr>
        <p:spPr>
          <a:xfrm>
            <a:off x="5852160" y="3429000"/>
            <a:ext cx="2834640" cy="274320"/>
          </a:xfrm>
          <a:prstGeom prst="rect">
            <a:avLst/>
          </a:prstGeom>
          <a:noFill/>
          <a:ln/>
        </p:spPr>
        <p:txBody>
          <a:bodyPr wrap="square" lIns="0" tIns="0" rIns="0" bIns="0" rtlCol="0" anchor="t"/>
          <a:lstStyle/>
          <a:p>
            <a:pPr indent="0" marL="0">
              <a:buNone/>
            </a:pPr>
            <a:r>
              <a:rPr lang="en-US" sz="1200" b="1" dirty="0">
                <a:solidFill>
                  <a:srgbClr val="5B8E7D"/>
                </a:solidFill>
              </a:rPr>
              <a:t>검증 계획</a:t>
            </a:r>
            <a:endParaRPr lang="en-US" sz="1200" dirty="0"/>
          </a:p>
        </p:txBody>
      </p:sp>
      <p:sp>
        <p:nvSpPr>
          <p:cNvPr id="9" name="top_plan_body"/>
          <p:cNvSpPr txBox="1"/>
          <p:nvPr/>
        </p:nvSpPr>
        <p:spPr>
          <a:xfrm>
            <a:off x="5852160" y="3703320"/>
            <a:ext cx="2834640" cy="731520"/>
          </a:xfrm>
          <a:prstGeom prst="rect">
            <a:avLst/>
          </a:prstGeom>
          <a:noFill/>
          <a:ln/>
        </p:spPr>
        <p:txBody>
          <a:bodyPr wrap="square" lIns="0" tIns="0" rIns="0" bIns="0" rtlCol="0" anchor="t"/>
          <a:lstStyle/>
          <a:p>
            <a:pPr indent="0" marL="0">
              <a:buNone/>
            </a:pPr>
            <a:r>
              <a:rPr lang="en-US" sz="1200" dirty="0">
                <a:solidFill>
                  <a:schemeClr val="tx1"/>
                </a:solidFill>
              </a:rPr>
              <a:t>이 날짜들을 기상청 한파특보·뉴스와 대조해 실제 한파였는지 확인</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인사이트 요약: 관찰 · 해석 · 행동</a:t>
            </a:r>
            <a:endParaRPr lang="en-US" sz="2400" dirty="0"/>
          </a:p>
        </p:txBody>
      </p:sp>
      <p:graphicFrame>
        <p:nvGraphicFramePr>
          <p:cNvPr id="22" name="sum_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097280"/>
                <a:gridCol w="2560320"/>
                <a:gridCol w="2377440"/>
                <a:gridCol w="2194560"/>
              </a:tblGrid>
              <a:tr h="411480">
                <a:tc>
                  <a:txBody>
                    <a:bodyPr/>
                    <a:lstStyle/>
                    <a:p>
                      <a:pPr indent="0" marL="0">
                        <a:buNone/>
                      </a:pP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관찰 (Fact)</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해석 (Why)</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행동 (Action)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r>
              <a:tr h="1005840">
                <a:tc>
                  <a:txBody>
                    <a:bodyPr/>
                    <a:lstStyle/>
                    <a:p>
                      <a:pPr indent="0" marL="0">
                        <a:buNone/>
                      </a:pPr>
                      <a:r>
                        <a:rPr lang="en-US" sz="1200" b="1" dirty="0">
                          <a:solidFill>
                            <a:srgbClr val="E4572E"/>
                          </a:solidFill>
                          <a:latin typeface="Malgun Gothic" pitchFamily="34" charset="0"/>
                          <a:ea typeface="Malgun Gothic" pitchFamily="34" charset="-122"/>
                          <a:cs typeface="Malgun Gothic" pitchFamily="34" charset="-120"/>
                        </a:rPr>
                        <a:t>① 추세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여름 6년 연속 +2.21℃, 연평균은 2022·2025 하락</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변동 큰 겨울이 연평균의 상승을 가림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30년 이상 자료로 재확인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1005840">
                <a:tc>
                  <a:txBody>
                    <a:bodyPr/>
                    <a:lstStyle/>
                    <a:p>
                      <a:pPr indent="0" marL="0">
                        <a:buNone/>
                      </a:pPr>
                      <a:r>
                        <a:rPr lang="en-US" sz="1200" b="1" dirty="0">
                          <a:solidFill>
                            <a:srgbClr val="E4572E"/>
                          </a:solidFill>
                          <a:latin typeface="Malgun Gothic" pitchFamily="34" charset="0"/>
                          <a:ea typeface="Malgun Gothic" pitchFamily="34" charset="-122"/>
                          <a:cs typeface="Malgun Gothic" pitchFamily="34" charset="-120"/>
                        </a:rPr>
                        <a:t>② 변동성</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11~12월 표준편차가 여름의 약 2배, 잔차도 같은 방향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겨울 대륙고기압의 강약 반복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겨울엔 하루 단위 예보 변화에 더 주의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1005840">
                <a:tc>
                  <a:txBody>
                    <a:bodyPr/>
                    <a:lstStyle/>
                    <a:p>
                      <a:pPr indent="0" marL="0">
                        <a:buNone/>
                      </a:pPr>
                      <a:r>
                        <a:rPr lang="en-US" sz="1200" b="1" dirty="0">
                          <a:solidFill>
                            <a:srgbClr val="E4572E"/>
                          </a:solidFill>
                          <a:latin typeface="Malgun Gothic" pitchFamily="34" charset="0"/>
                          <a:ea typeface="Malgun Gothic" pitchFamily="34" charset="-122"/>
                          <a:cs typeface="Malgun Gothic" pitchFamily="34" charset="-120"/>
                        </a:rPr>
                        <a:t>③ 급변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37일 전부 10~3월, 하강 29일, 급상승 50%가 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저기압 통과 후 찬 공기의 빠른 남하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주풍향 데이터를 추가해 검증</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시계열 분해: 숨어 있던 1℃ 추세가 보인다</a:t>
            </a:r>
            <a:endParaRPr lang="en-US" sz="2400" dirty="0"/>
          </a:p>
        </p:txBody>
      </p:sp>
      <p:pic>
        <p:nvPicPr>
          <p:cNvPr id="3" name="graph04" descr="04_decomposition.png">    </p:cNvPr>
          <p:cNvPicPr>
            <a:picLocks noChangeAspect="1"/>
          </p:cNvPicPr>
          <p:nvPr/>
        </p:nvPicPr>
        <p:blipFill>
          <a:blip r:embed="rId1"/>
          <a:stretch>
            <a:fillRect/>
          </a:stretch>
        </p:blipFill>
        <p:spPr>
          <a:xfrm>
            <a:off x="457200" y="1005840"/>
            <a:ext cx="4754880" cy="3566160"/>
          </a:xfrm>
          <a:prstGeom prst="rect">
            <a:avLst/>
          </a:prstGeom>
        </p:spPr>
      </p:pic>
      <p:sp>
        <p:nvSpPr>
          <p:cNvPr id="4" name="dec_big_0"/>
          <p:cNvSpPr txBox="1"/>
          <p:nvPr/>
        </p:nvSpPr>
        <p:spPr>
          <a:xfrm>
            <a:off x="5486400" y="1005840"/>
            <a:ext cx="3200400" cy="457200"/>
          </a:xfrm>
          <a:prstGeom prst="rect">
            <a:avLst/>
          </a:prstGeom>
          <a:noFill/>
          <a:ln/>
        </p:spPr>
        <p:txBody>
          <a:bodyPr wrap="square" lIns="0" tIns="0" rIns="0" bIns="0" rtlCol="0" anchor="ctr"/>
          <a:lstStyle/>
          <a:p>
            <a:pPr indent="0" marL="0">
              <a:buNone/>
            </a:pPr>
            <a:r>
              <a:rPr lang="en-US" sz="2400" b="1" dirty="0">
                <a:solidFill>
                  <a:srgbClr val="E4572E"/>
                </a:solidFill>
              </a:rPr>
              <a:t>+0.79℃</a:t>
            </a:r>
            <a:endParaRPr lang="en-US" sz="2400" dirty="0"/>
          </a:p>
        </p:txBody>
      </p:sp>
      <p:sp>
        <p:nvSpPr>
          <p:cNvPr id="5" name="dec_lab_0"/>
          <p:cNvSpPr txBox="1"/>
          <p:nvPr/>
        </p:nvSpPr>
        <p:spPr>
          <a:xfrm>
            <a:off x="5486400" y="1463040"/>
            <a:ext cx="3200400" cy="320040"/>
          </a:xfrm>
          <a:prstGeom prst="rect">
            <a:avLst/>
          </a:prstGeom>
          <a:noFill/>
          <a:ln/>
        </p:spPr>
        <p:txBody>
          <a:bodyPr wrap="square" lIns="0" tIns="0" rIns="0" bIns="0" rtlCol="0" anchor="t"/>
          <a:lstStyle/>
          <a:p>
            <a:pPr indent="0" marL="0">
              <a:buNone/>
            </a:pPr>
            <a:r>
              <a:rPr lang="en-US" sz="1200" dirty="0">
                <a:solidFill>
                  <a:schemeClr val="tx1"/>
                </a:solidFill>
              </a:rPr>
              <a:t>추세 변화 (2020.7 → 2025.7)</a:t>
            </a:r>
            <a:endParaRPr lang="en-US" sz="1200" dirty="0"/>
          </a:p>
        </p:txBody>
      </p:sp>
      <p:sp>
        <p:nvSpPr>
          <p:cNvPr id="6" name="dec_big_1"/>
          <p:cNvSpPr txBox="1"/>
          <p:nvPr/>
        </p:nvSpPr>
        <p:spPr>
          <a:xfrm>
            <a:off x="5486400" y="1874520"/>
            <a:ext cx="3200400" cy="457200"/>
          </a:xfrm>
          <a:prstGeom prst="rect">
            <a:avLst/>
          </a:prstGeom>
          <a:noFill/>
          <a:ln/>
        </p:spPr>
        <p:txBody>
          <a:bodyPr wrap="square" lIns="0" tIns="0" rIns="0" bIns="0" rtlCol="0" anchor="ctr"/>
          <a:lstStyle/>
          <a:p>
            <a:pPr indent="0" marL="0">
              <a:buNone/>
            </a:pPr>
            <a:r>
              <a:rPr lang="en-US" sz="2400" b="1" dirty="0">
                <a:solidFill>
                  <a:srgbClr val="2E86AB"/>
                </a:solidFill>
              </a:rPr>
              <a:t>30.47℃</a:t>
            </a:r>
            <a:endParaRPr lang="en-US" sz="2400" dirty="0"/>
          </a:p>
        </p:txBody>
      </p:sp>
      <p:sp>
        <p:nvSpPr>
          <p:cNvPr id="7" name="dec_lab_1"/>
          <p:cNvSpPr txBox="1"/>
          <p:nvPr/>
        </p:nvSpPr>
        <p:spPr>
          <a:xfrm>
            <a:off x="5486400" y="2331720"/>
            <a:ext cx="3200400" cy="320040"/>
          </a:xfrm>
          <a:prstGeom prst="rect">
            <a:avLst/>
          </a:prstGeom>
          <a:noFill/>
          <a:ln/>
        </p:spPr>
        <p:txBody>
          <a:bodyPr wrap="square" lIns="0" tIns="0" rIns="0" bIns="0" rtlCol="0" anchor="t"/>
          <a:lstStyle/>
          <a:p>
            <a:pPr indent="0" marL="0">
              <a:buNone/>
            </a:pPr>
            <a:r>
              <a:rPr lang="en-US" sz="1200" dirty="0">
                <a:solidFill>
                  <a:schemeClr val="tx1"/>
                </a:solidFill>
              </a:rPr>
              <a:t>계절성 진폭 = 추세의 약 39배</a:t>
            </a:r>
            <a:endParaRPr lang="en-US" sz="1200" dirty="0"/>
          </a:p>
        </p:txBody>
      </p:sp>
      <p:sp>
        <p:nvSpPr>
          <p:cNvPr id="8" name="dec_big_2"/>
          <p:cNvSpPr txBox="1"/>
          <p:nvPr/>
        </p:nvSpPr>
        <p:spPr>
          <a:xfrm>
            <a:off x="5486400" y="2743200"/>
            <a:ext cx="3200400" cy="457200"/>
          </a:xfrm>
          <a:prstGeom prst="rect">
            <a:avLst/>
          </a:prstGeom>
          <a:noFill/>
          <a:ln/>
        </p:spPr>
        <p:txBody>
          <a:bodyPr wrap="square" lIns="0" tIns="0" rIns="0" bIns="0" rtlCol="0" anchor="ctr"/>
          <a:lstStyle/>
          <a:p>
            <a:pPr indent="0" marL="0">
              <a:buNone/>
            </a:pPr>
            <a:r>
              <a:rPr lang="en-US" sz="2400" b="1" dirty="0">
                <a:solidFill>
                  <a:srgbClr val="5B8E7D"/>
                </a:solidFill>
              </a:rPr>
              <a:t>2.49℃</a:t>
            </a:r>
            <a:endParaRPr lang="en-US" sz="2400" dirty="0"/>
          </a:p>
        </p:txBody>
      </p:sp>
      <p:sp>
        <p:nvSpPr>
          <p:cNvPr id="9" name="dec_lab_2"/>
          <p:cNvSpPr txBox="1"/>
          <p:nvPr/>
        </p:nvSpPr>
        <p:spPr>
          <a:xfrm>
            <a:off x="5486400" y="3200400"/>
            <a:ext cx="3200400" cy="320040"/>
          </a:xfrm>
          <a:prstGeom prst="rect">
            <a:avLst/>
          </a:prstGeom>
          <a:noFill/>
          <a:ln/>
        </p:spPr>
        <p:txBody>
          <a:bodyPr wrap="square" lIns="0" tIns="0" rIns="0" bIns="0" rtlCol="0" anchor="t"/>
          <a:lstStyle/>
          <a:p>
            <a:pPr indent="0" marL="0">
              <a:buNone/>
            </a:pPr>
            <a:r>
              <a:rPr lang="en-US" sz="1200" dirty="0">
                <a:solidFill>
                  <a:schemeClr val="tx1"/>
                </a:solidFill>
              </a:rPr>
              <a:t>잔차(노이즈) 표준편차</a:t>
            </a:r>
            <a:endParaRPr lang="en-US" sz="1200" dirty="0"/>
          </a:p>
        </p:txBody>
      </p:sp>
      <p:sp>
        <p:nvSpPr>
          <p:cNvPr id="10" name="dec_note_card"/>
          <p:cNvSpPr/>
          <p:nvPr/>
        </p:nvSpPr>
        <p:spPr>
          <a:xfrm>
            <a:off x="5486400" y="3657600"/>
            <a:ext cx="3200400" cy="868680"/>
          </a:xfrm>
          <a:prstGeom prst="roundRect">
            <a:avLst>
              <a:gd name="adj" fmla="val 12632"/>
            </a:avLst>
          </a:prstGeom>
          <a:solidFill>
            <a:srgbClr val="EEF2F7"/>
          </a:solidFill>
          <a:ln w="12700">
            <a:solidFill>
              <a:srgbClr val="EEF2F7"/>
            </a:solidFill>
            <a:prstDash val="solid"/>
          </a:ln>
        </p:spPr>
      </p:sp>
      <p:sp>
        <p:nvSpPr>
          <p:cNvPr id="11" name="dec_note"/>
          <p:cNvSpPr txBox="1"/>
          <p:nvPr/>
        </p:nvSpPr>
        <p:spPr>
          <a:xfrm>
            <a:off x="5623560" y="3721608"/>
            <a:ext cx="2926080" cy="731520"/>
          </a:xfrm>
          <a:prstGeom prst="rect">
            <a:avLst/>
          </a:prstGeom>
          <a:noFill/>
          <a:ln/>
        </p:spPr>
        <p:txBody>
          <a:bodyPr wrap="square" lIns="0" tIns="0" rIns="0" bIns="0" rtlCol="0" anchor="ctr"/>
          <a:lstStyle/>
          <a:p>
            <a:pPr indent="0" marL="0">
              <a:buNone/>
            </a:pPr>
            <a:r>
              <a:rPr lang="en-US" sz="1100" dirty="0">
                <a:solidFill>
                  <a:schemeClr val="tx1"/>
                </a:solidFill>
              </a:rPr>
              <a:t>가법 모델·주기 365일. 같은 날짜 값이 5~6개뿐이라 계절성 선에 노이즈가 남는 한계가 있다.</a:t>
            </a:r>
            <a:endParaRPr lang="en-US" sz="11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베이스라인 예측: 평년값이 '작년 같은 날'보다 낫다</a:t>
            </a:r>
            <a:endParaRPr lang="en-US" sz="2400" dirty="0"/>
          </a:p>
        </p:txBody>
      </p:sp>
      <p:graphicFrame>
        <p:nvGraphicFramePr>
          <p:cNvPr id="3" name="chart_mae" descr=""/>
          <p:cNvGraphicFramePr/>
          <p:nvPr/>
        </p:nvGraphicFramePr>
        <p:xfrm>
          <a:off x="457200" y="1005840"/>
          <a:ext cx="4206240" cy="3520440"/>
        </p:xfrm>
        <a:graphic xmlns:a="http://schemas.openxmlformats.org/drawingml/2006/main">
          <a:graphicData uri="http://schemas.openxmlformats.org/drawingml/2006/chart">
            <c:chart xmlns:c="http://schemas.openxmlformats.org/drawingml/2006/chart" r:id="rId1"/>
          </a:graphicData>
        </a:graphic>
      </p:graphicFrame>
      <p:sp>
        <p:nvSpPr>
          <p:cNvPr id="4" name="pr_0_head"/>
          <p:cNvSpPr txBox="1"/>
          <p:nvPr/>
        </p:nvSpPr>
        <p:spPr>
          <a:xfrm>
            <a:off x="4983480" y="1005840"/>
            <a:ext cx="3703320" cy="274320"/>
          </a:xfrm>
          <a:prstGeom prst="rect">
            <a:avLst/>
          </a:prstGeom>
          <a:noFill/>
          <a:ln/>
        </p:spPr>
        <p:txBody>
          <a:bodyPr wrap="square" lIns="0" tIns="0" rIns="0" bIns="0" rtlCol="0" anchor="t"/>
          <a:lstStyle/>
          <a:p>
            <a:pPr indent="0" marL="0">
              <a:buNone/>
            </a:pPr>
            <a:r>
              <a:rPr lang="en-US" sz="1200" b="1" dirty="0">
                <a:solidFill>
                  <a:srgbClr val="14213D"/>
                </a:solidFill>
              </a:rPr>
              <a:t>방법</a:t>
            </a:r>
            <a:endParaRPr lang="en-US" sz="1200" dirty="0"/>
          </a:p>
        </p:txBody>
      </p:sp>
      <p:sp>
        <p:nvSpPr>
          <p:cNvPr id="5" name="pr_0_body"/>
          <p:cNvSpPr txBox="1"/>
          <p:nvPr/>
        </p:nvSpPr>
        <p:spPr>
          <a:xfrm>
            <a:off x="4983480" y="1280160"/>
            <a:ext cx="3703320" cy="822960"/>
          </a:xfrm>
          <a:prstGeom prst="rect">
            <a:avLst/>
          </a:prstGeom>
          <a:noFill/>
          <a:ln/>
        </p:spPr>
        <p:txBody>
          <a:bodyPr wrap="square" lIns="0" tIns="0" rIns="0" bIns="0" rtlCol="0" anchor="t"/>
          <a:lstStyle/>
          <a:p>
            <a:pPr indent="0" marL="0">
              <a:buNone/>
            </a:pPr>
            <a:r>
              <a:rPr lang="en-US" sz="1200" dirty="0">
                <a:solidFill>
                  <a:schemeClr val="tx1"/>
                </a:solidFill>
              </a:rPr>
              <a:t>2020~2024년만으로 2025년 365일을 맞혀 보고 평균절대오차(MAE)로 비교</a:t>
            </a:r>
            <a:endParaRPr lang="en-US" sz="1200" dirty="0"/>
          </a:p>
        </p:txBody>
      </p:sp>
      <p:sp>
        <p:nvSpPr>
          <p:cNvPr id="6" name="pr_1_head"/>
          <p:cNvSpPr txBox="1"/>
          <p:nvPr/>
        </p:nvSpPr>
        <p:spPr>
          <a:xfrm>
            <a:off x="4983480" y="2194560"/>
            <a:ext cx="3703320" cy="274320"/>
          </a:xfrm>
          <a:prstGeom prst="rect">
            <a:avLst/>
          </a:prstGeom>
          <a:noFill/>
          <a:ln/>
        </p:spPr>
        <p:txBody>
          <a:bodyPr wrap="square" lIns="0" tIns="0" rIns="0" bIns="0" rtlCol="0" anchor="t"/>
          <a:lstStyle/>
          <a:p>
            <a:pPr indent="0" marL="0">
              <a:buNone/>
            </a:pPr>
            <a:r>
              <a:rPr lang="en-US" sz="1200" b="1" dirty="0">
                <a:solidFill>
                  <a:srgbClr val="2E86AB"/>
                </a:solidFill>
              </a:rPr>
              <a:t>관찰</a:t>
            </a:r>
            <a:endParaRPr lang="en-US" sz="1200" dirty="0"/>
          </a:p>
        </p:txBody>
      </p:sp>
      <p:sp>
        <p:nvSpPr>
          <p:cNvPr id="7" name="pr_1_body"/>
          <p:cNvSpPr txBox="1"/>
          <p:nvPr/>
        </p:nvSpPr>
        <p:spPr>
          <a:xfrm>
            <a:off x="4983480" y="2468880"/>
            <a:ext cx="3703320" cy="822960"/>
          </a:xfrm>
          <a:prstGeom prst="rect">
            <a:avLst/>
          </a:prstGeom>
          <a:noFill/>
          <a:ln/>
        </p:spPr>
        <p:txBody>
          <a:bodyPr wrap="square" lIns="0" tIns="0" rIns="0" bIns="0" rtlCol="0" anchor="t"/>
          <a:lstStyle/>
          <a:p>
            <a:pPr indent="0" marL="0">
              <a:buNone/>
            </a:pPr>
            <a:r>
              <a:rPr lang="en-US" sz="1200" dirty="0">
                <a:solidFill>
                  <a:schemeClr val="tx1"/>
                </a:solidFill>
              </a:rPr>
              <a:t>평년값 방식이 0.46℃ 더 정확했다</a:t>
            </a:r>
            <a:endParaRPr lang="en-US" sz="1200" dirty="0"/>
          </a:p>
        </p:txBody>
      </p:sp>
      <p:sp>
        <p:nvSpPr>
          <p:cNvPr id="8" name="pr_2_head"/>
          <p:cNvSpPr txBox="1"/>
          <p:nvPr/>
        </p:nvSpPr>
        <p:spPr>
          <a:xfrm>
            <a:off x="4983480" y="3383280"/>
            <a:ext cx="3703320" cy="274320"/>
          </a:xfrm>
          <a:prstGeom prst="rect">
            <a:avLst/>
          </a:prstGeom>
          <a:noFill/>
          <a:ln/>
        </p:spPr>
        <p:txBody>
          <a:bodyPr wrap="square" lIns="0" tIns="0" rIns="0" bIns="0" rtlCol="0" anchor="t"/>
          <a:lstStyle/>
          <a:p>
            <a:pPr indent="0" marL="0">
              <a:buNone/>
            </a:pPr>
            <a:r>
              <a:rPr lang="en-US" sz="1200" b="1" dirty="0">
                <a:solidFill>
                  <a:srgbClr val="E4572E"/>
                </a:solidFill>
              </a:rPr>
              <a:t>해석 (가설)</a:t>
            </a:r>
            <a:endParaRPr lang="en-US" sz="1200" dirty="0"/>
          </a:p>
        </p:txBody>
      </p:sp>
      <p:sp>
        <p:nvSpPr>
          <p:cNvPr id="9" name="pr_2_body"/>
          <p:cNvSpPr txBox="1"/>
          <p:nvPr/>
        </p:nvSpPr>
        <p:spPr>
          <a:xfrm>
            <a:off x="4983480" y="3657600"/>
            <a:ext cx="3703320" cy="822960"/>
          </a:xfrm>
          <a:prstGeom prst="rect">
            <a:avLst/>
          </a:prstGeom>
          <a:noFill/>
          <a:ln/>
        </p:spPr>
        <p:txBody>
          <a:bodyPr wrap="square" lIns="0" tIns="0" rIns="0" bIns="0" rtlCol="0" anchor="t"/>
          <a:lstStyle/>
          <a:p>
            <a:pPr indent="0" marL="0">
              <a:buNone/>
            </a:pPr>
            <a:r>
              <a:rPr lang="en-US" sz="1200" dirty="0">
                <a:solidFill>
                  <a:schemeClr val="tx1"/>
                </a:solidFill>
              </a:rPr>
              <a:t>작년 하루치는 그해의 우연한 변동까지 복사한다. 여러 해를 평균하면 노이즈가 상쇄된다.</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예측 오차도 겨울에 가장 크다</a:t>
            </a:r>
            <a:endParaRPr lang="en-US" sz="2400" dirty="0"/>
          </a:p>
        </p:txBody>
      </p:sp>
      <p:graphicFrame>
        <p:nvGraphicFramePr>
          <p:cNvPr id="3" name="chart_mae_m" descr=""/>
          <p:cNvGraphicFramePr/>
          <p:nvPr/>
        </p:nvGraphicFramePr>
        <p:xfrm>
          <a:off x="457200" y="1005840"/>
          <a:ext cx="5120640" cy="3520440"/>
        </p:xfrm>
        <a:graphic xmlns:a="http://schemas.openxmlformats.org/drawingml/2006/main">
          <a:graphicData uri="http://schemas.openxmlformats.org/drawingml/2006/chart">
            <c:chart xmlns:c="http://schemas.openxmlformats.org/drawingml/2006/chart" r:id="rId1"/>
          </a:graphicData>
        </a:graphic>
      </p:graphicFrame>
      <p:sp>
        <p:nvSpPr>
          <p:cNvPr id="4" name="mm_obs_head"/>
          <p:cNvSpPr txBox="1"/>
          <p:nvPr/>
        </p:nvSpPr>
        <p:spPr>
          <a:xfrm>
            <a:off x="5852160" y="1005840"/>
            <a:ext cx="2834640" cy="274320"/>
          </a:xfrm>
          <a:prstGeom prst="rect">
            <a:avLst/>
          </a:prstGeom>
          <a:noFill/>
          <a:ln/>
        </p:spPr>
        <p:txBody>
          <a:bodyPr wrap="square" lIns="0" tIns="0" rIns="0" bIns="0" rtlCol="0" anchor="t"/>
          <a:lstStyle/>
          <a:p>
            <a:pPr indent="0" marL="0">
              <a:buNone/>
            </a:pPr>
            <a:r>
              <a:rPr lang="en-US" sz="1200" b="1" dirty="0">
                <a:solidFill>
                  <a:srgbClr val="14213D"/>
                </a:solidFill>
              </a:rPr>
              <a:t>관찰</a:t>
            </a:r>
            <a:endParaRPr lang="en-US" sz="1200" dirty="0"/>
          </a:p>
        </p:txBody>
      </p:sp>
      <p:sp>
        <p:nvSpPr>
          <p:cNvPr id="5" name="mm_obs_body"/>
          <p:cNvSpPr txBox="1"/>
          <p:nvPr/>
        </p:nvSpPr>
        <p:spPr>
          <a:xfrm>
            <a:off x="5852160" y="1280160"/>
            <a:ext cx="2834640" cy="822960"/>
          </a:xfrm>
          <a:prstGeom prst="rect">
            <a:avLst/>
          </a:prstGeom>
          <a:noFill/>
          <a:ln/>
        </p:spPr>
        <p:txBody>
          <a:bodyPr wrap="square" lIns="0" tIns="0" rIns="0" bIns="0" rtlCol="0" anchor="t"/>
          <a:lstStyle/>
          <a:p>
            <a:pPr indent="0" marL="0">
              <a:buNone/>
            </a:pPr>
            <a:r>
              <a:rPr lang="en-US" sz="1200" dirty="0">
                <a:solidFill>
                  <a:schemeClr val="tx1"/>
                </a:solidFill>
              </a:rPr>
              <a:t>2월 4.32℃로 최대, 6월 1.19℃로 최소. 12월 3.47℃도 높다.</a:t>
            </a:r>
            <a:endParaRPr lang="en-US" sz="1200" dirty="0"/>
          </a:p>
        </p:txBody>
      </p:sp>
      <p:sp>
        <p:nvSpPr>
          <p:cNvPr id="6" name="mm_link_head"/>
          <p:cNvSpPr txBox="1"/>
          <p:nvPr/>
        </p:nvSpPr>
        <p:spPr>
          <a:xfrm>
            <a:off x="5852160" y="2148840"/>
            <a:ext cx="2834640" cy="274320"/>
          </a:xfrm>
          <a:prstGeom prst="rect">
            <a:avLst/>
          </a:prstGeom>
          <a:noFill/>
          <a:ln/>
        </p:spPr>
        <p:txBody>
          <a:bodyPr wrap="square" lIns="0" tIns="0" rIns="0" bIns="0" rtlCol="0" anchor="t"/>
          <a:lstStyle/>
          <a:p>
            <a:pPr indent="0" marL="0">
              <a:buNone/>
            </a:pPr>
            <a:r>
              <a:rPr lang="en-US" sz="1200" b="1" dirty="0">
                <a:solidFill>
                  <a:srgbClr val="E4572E"/>
                </a:solidFill>
              </a:rPr>
              <a:t>연결</a:t>
            </a:r>
            <a:endParaRPr lang="en-US" sz="1200" dirty="0"/>
          </a:p>
        </p:txBody>
      </p:sp>
      <p:sp>
        <p:nvSpPr>
          <p:cNvPr id="7" name="mm_link_body"/>
          <p:cNvSpPr txBox="1"/>
          <p:nvPr/>
        </p:nvSpPr>
        <p:spPr>
          <a:xfrm>
            <a:off x="5852160" y="2423160"/>
            <a:ext cx="2834640" cy="822960"/>
          </a:xfrm>
          <a:prstGeom prst="rect">
            <a:avLst/>
          </a:prstGeom>
          <a:noFill/>
          <a:ln/>
        </p:spPr>
        <p:txBody>
          <a:bodyPr wrap="square" lIns="0" tIns="0" rIns="0" bIns="0" rtlCol="0" anchor="t"/>
          <a:lstStyle/>
          <a:p>
            <a:pPr indent="0" marL="0">
              <a:buNone/>
            </a:pPr>
            <a:r>
              <a:rPr lang="en-US" sz="1200" dirty="0">
                <a:solidFill>
                  <a:schemeClr val="tx1"/>
                </a:solidFill>
              </a:rPr>
              <a:t>겨울이 불안정하다는 인사이트 ②와 같은 방향의 세 번째 근거</a:t>
            </a:r>
            <a:endParaRPr lang="en-US" sz="1200" dirty="0"/>
          </a:p>
        </p:txBody>
      </p:sp>
      <p:sp>
        <p:nvSpPr>
          <p:cNvPr id="8" name="mm_lim_head"/>
          <p:cNvSpPr txBox="1"/>
          <p:nvPr/>
        </p:nvSpPr>
        <p:spPr>
          <a:xfrm>
            <a:off x="5852160" y="3291840"/>
            <a:ext cx="2834640" cy="274320"/>
          </a:xfrm>
          <a:prstGeom prst="rect">
            <a:avLst/>
          </a:prstGeom>
          <a:noFill/>
          <a:ln/>
        </p:spPr>
        <p:txBody>
          <a:bodyPr wrap="square" lIns="0" tIns="0" rIns="0" bIns="0" rtlCol="0" anchor="t"/>
          <a:lstStyle/>
          <a:p>
            <a:pPr indent="0" marL="0">
              <a:buNone/>
            </a:pPr>
            <a:r>
              <a:rPr lang="en-US" sz="1200" b="1" dirty="0">
                <a:solidFill>
                  <a:srgbClr val="A23B2A"/>
                </a:solidFill>
              </a:rPr>
              <a:t>한계</a:t>
            </a:r>
            <a:endParaRPr lang="en-US" sz="1200" dirty="0"/>
          </a:p>
        </p:txBody>
      </p:sp>
      <p:sp>
        <p:nvSpPr>
          <p:cNvPr id="9" name="mm_lim_body"/>
          <p:cNvSpPr txBox="1"/>
          <p:nvPr/>
        </p:nvSpPr>
        <p:spPr>
          <a:xfrm>
            <a:off x="5852160" y="3566160"/>
            <a:ext cx="2834640" cy="1005840"/>
          </a:xfrm>
          <a:prstGeom prst="rect">
            <a:avLst/>
          </a:prstGeom>
          <a:noFill/>
          <a:ln/>
        </p:spPr>
        <p:txBody>
          <a:bodyPr wrap="square" lIns="0" tIns="0" rIns="0" bIns="0" rtlCol="0" anchor="t"/>
          <a:lstStyle/>
          <a:p>
            <a:pPr indent="0" marL="0">
              <a:buNone/>
            </a:pPr>
            <a:r>
              <a:rPr lang="en-US" sz="1200" dirty="0">
                <a:solidFill>
                  <a:schemeClr val="tx1"/>
                </a:solidFill>
              </a:rPr>
              <a:t>추세를 반영하지 못해 2025년 실제는 평년보다 0.26℃ 높았다. 정확도보다 '기준선'이 목적.</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대시보드: 조건을 바꿔 보며 새 패턴을 찾았다</a:t>
            </a:r>
            <a:endParaRPr lang="en-US" sz="2400" dirty="0"/>
          </a:p>
        </p:txBody>
      </p:sp>
      <p:pic>
        <p:nvPicPr>
          <p:cNvPr id="3" name="dash_shot" descr="dashboard_1_all.png">    </p:cNvPr>
          <p:cNvPicPr>
            <a:picLocks noChangeAspect="1"/>
          </p:cNvPicPr>
          <p:nvPr/>
        </p:nvPicPr>
        <p:blipFill>
          <a:blip r:embed="rId1"/>
          <a:stretch>
            <a:fillRect/>
          </a:stretch>
        </p:blipFill>
        <p:spPr>
          <a:xfrm>
            <a:off x="457200" y="1005840"/>
            <a:ext cx="4206240" cy="2011108"/>
          </a:xfrm>
          <a:prstGeom prst="rect">
            <a:avLst/>
          </a:prstGeom>
        </p:spPr>
      </p:pic>
      <p:sp>
        <p:nvSpPr>
          <p:cNvPr id="4" name="dash_cap"/>
          <p:cNvSpPr txBox="1"/>
          <p:nvPr/>
        </p:nvSpPr>
        <p:spPr>
          <a:xfrm>
            <a:off x="457200" y="3063240"/>
            <a:ext cx="4206240" cy="411480"/>
          </a:xfrm>
          <a:prstGeom prst="rect">
            <a:avLst/>
          </a:prstGeom>
          <a:noFill/>
          <a:ln/>
        </p:spPr>
        <p:txBody>
          <a:bodyPr wrap="square" lIns="0" tIns="0" rIns="0" bIns="0" rtlCol="0" anchor="t"/>
          <a:lstStyle/>
          <a:p>
            <a:pPr indent="0" marL="0">
              <a:buNone/>
            </a:pPr>
            <a:r>
              <a:rPr lang="en-US" sz="1100" dirty="0">
                <a:solidFill>
                  <a:schemeClr val="accent5"/>
                </a:solidFill>
              </a:rPr>
              <a:t>Streamlit · 기간, 월, 이동평균 기간, 급변일 기준을 사이드바에서 조절</a:t>
            </a:r>
            <a:endParaRPr lang="en-US" sz="1100" dirty="0"/>
          </a:p>
        </p:txBody>
      </p:sp>
      <p:graphicFrame>
        <p:nvGraphicFramePr>
          <p:cNvPr id="26" name="dash_table"/>
          <p:cNvGraphicFramePr>
            <a:graphicFrameLocks noGrp="1"/>
          </p:cNvGraphicFramePr>
          <p:nvPr>
            <p:extLst>
              <p:ext uri="{D42A27DB-BD31-4B8C-83A1-F6EECF244321}">
                <p14:modId xmlns:p14="http://schemas.microsoft.com/office/powerpoint/2010/main" val="1579011935"/>
              </p:ext>
            </p:extLst>
          </p:nvPr>
        </p:nvGraphicFramePr>
        <p:xfrm>
          <a:off x="4937760" y="1005840"/>
          <a:ext cx="3749040" cy="914400"/>
        </p:xfrm>
        <a:graphic>
          <a:graphicData uri="http://schemas.openxmlformats.org/drawingml/2006/table">
            <a:tbl>
              <a:tblPr/>
              <a:tblGrid>
                <a:gridCol w="1234440"/>
                <a:gridCol w="2514600"/>
              </a:tblGrid>
              <a:tr h="47548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조작</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결과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4213D"/>
                    </a:solidFill>
                  </a:tcPr>
                </a:tc>
              </a:tr>
              <a:tr h="475488">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기본값 (전체)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급변일 37일, 리포트와 일치 → 검증</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75488">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11·12월만</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급변일 17일 (전체의 46%)</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75488">
                <a:tc>
                  <a:txBody>
                    <a:bodyPr/>
                    <a:lstStyle/>
                    <a:p>
                      <a:pPr indent="0" marL="0">
                        <a:buNone/>
                      </a:pPr>
                      <a:r>
                        <a:rPr lang="en-US" sz="1200" b="1" dirty="0">
                          <a:solidFill>
                            <a:srgbClr val="E4572E"/>
                          </a:solidFill>
                          <a:latin typeface="Malgun Gothic" pitchFamily="34" charset="0"/>
                          <a:ea typeface="Malgun Gothic" pitchFamily="34" charset="-122"/>
                          <a:cs typeface="Malgun Gothic" pitchFamily="34" charset="-120"/>
                        </a:rPr>
                        <a:t>6·7·8월만</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b="1" dirty="0">
                          <a:solidFill>
                            <a:srgbClr val="E4572E"/>
                          </a:solidFill>
                          <a:latin typeface="Malgun Gothic" pitchFamily="34" charset="0"/>
                          <a:ea typeface="Malgun Gothic" pitchFamily="34" charset="-122"/>
                          <a:cs typeface="Malgun Gothic" pitchFamily="34" charset="-120"/>
                        </a:rPr>
                        <a:t>급변일 0일, 여름 평균 6년 연속 상승 발견</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75488">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기준 |z| &gt; 2.5</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200" dirty="0">
                          <a:solidFill>
                            <a:srgbClr val="1F2933"/>
                          </a:solidFill>
                          <a:latin typeface="Malgun Gothic" pitchFamily="34" charset="0"/>
                          <a:ea typeface="Malgun Gothic" pitchFamily="34" charset="-122"/>
                          <a:cs typeface="Malgun Gothic" pitchFamily="34" charset="-120"/>
                        </a:rPr>
                        <a:t>60일로 증가, 여름엔 여전히 0일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6" name="dash_msg_card"/>
          <p:cNvSpPr/>
          <p:nvPr/>
        </p:nvSpPr>
        <p:spPr>
          <a:xfrm>
            <a:off x="457200" y="3657600"/>
            <a:ext cx="8229600" cy="868680"/>
          </a:xfrm>
          <a:prstGeom prst="roundRect">
            <a:avLst>
              <a:gd name="adj" fmla="val 12632"/>
            </a:avLst>
          </a:prstGeom>
          <a:solidFill>
            <a:srgbClr val="EEF2F7"/>
          </a:solidFill>
          <a:ln w="12700">
            <a:solidFill>
              <a:srgbClr val="EEF2F7"/>
            </a:solidFill>
            <a:prstDash val="solid"/>
          </a:ln>
        </p:spPr>
      </p:sp>
      <p:sp>
        <p:nvSpPr>
          <p:cNvPr id="7" name="dash_msg_icon_bg"/>
          <p:cNvSpPr/>
          <p:nvPr/>
        </p:nvSpPr>
        <p:spPr>
          <a:xfrm>
            <a:off x="640080" y="3794760"/>
            <a:ext cx="594360" cy="594360"/>
          </a:xfrm>
          <a:prstGeom prst="ellipse">
            <a:avLst/>
          </a:prstGeom>
          <a:solidFill>
            <a:srgbClr val="F4A259"/>
          </a:solidFill>
          <a:ln w="12700">
            <a:solidFill>
              <a:srgbClr val="F4A259"/>
            </a:solidFill>
            <a:prstDash val="solid"/>
          </a:ln>
        </p:spPr>
      </p:sp>
      <p:pic>
        <p:nvPicPr>
          <p:cNvPr id="8" name="dash_msg_icon" descr="preencoded.png">    </p:cNvPr>
          <p:cNvPicPr>
            <a:picLocks noChangeAspect="1"/>
          </p:cNvPicPr>
          <p:nvPr/>
        </p:nvPicPr>
        <p:blipFill>
          <a:blip r:embed="rId2"/>
          <a:stretch>
            <a:fillRect/>
          </a:stretch>
        </p:blipFill>
        <p:spPr>
          <a:xfrm>
            <a:off x="782726" y="3937406"/>
            <a:ext cx="309067" cy="309067"/>
          </a:xfrm>
          <a:prstGeom prst="rect">
            <a:avLst/>
          </a:prstGeom>
        </p:spPr>
      </p:pic>
      <p:sp>
        <p:nvSpPr>
          <p:cNvPr id="9" name="dash_msg"/>
          <p:cNvSpPr txBox="1"/>
          <p:nvPr/>
        </p:nvSpPr>
        <p:spPr>
          <a:xfrm>
            <a:off x="1417320" y="3703320"/>
            <a:ext cx="7132320" cy="777240"/>
          </a:xfrm>
          <a:prstGeom prst="rect">
            <a:avLst/>
          </a:prstGeom>
          <a:noFill/>
          <a:ln/>
        </p:spPr>
        <p:txBody>
          <a:bodyPr wrap="square" lIns="0" tIns="0" rIns="0" bIns="0" rtlCol="0" anchor="ctr"/>
          <a:lstStyle/>
          <a:p>
            <a:pPr indent="0" marL="0">
              <a:buNone/>
            </a:pPr>
            <a:r>
              <a:rPr lang="en-US" sz="1400" dirty="0">
                <a:solidFill>
                  <a:schemeClr val="tx1"/>
                </a:solidFill>
              </a:rPr>
              <a:t>정적 그래프 3장에선 안 보이던 </a:t>
            </a:r>
            <a:pPr indent="0" marL="0">
              <a:buNone/>
            </a:pPr>
            <a:r>
              <a:rPr lang="en-US" sz="1400" b="1" dirty="0">
                <a:solidFill>
                  <a:srgbClr val="E4572E"/>
                </a:solidFill>
              </a:rPr>
              <a:t>'여름 6년 연속 상승'</a:t>
            </a:r>
            <a:pPr indent="0" marL="0">
              <a:buNone/>
            </a:pPr>
            <a:r>
              <a:rPr lang="en-US" sz="1400" dirty="0">
                <a:solidFill>
                  <a:schemeClr val="tx1"/>
                </a:solidFill>
              </a:rPr>
              <a:t>을 여름만 골라 보다가 발견 → 인사이트 ①로 반영</a:t>
            </a:r>
            <a:endParaRPr lang="en-US" sz="14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결론과 한계, 그리고 다음 단계</a:t>
            </a:r>
            <a:endParaRPr lang="en-US" sz="2400" dirty="0"/>
          </a:p>
        </p:txBody>
      </p:sp>
      <p:sp>
        <p:nvSpPr>
          <p:cNvPr id="3" name="end_card_0"/>
          <p:cNvSpPr/>
          <p:nvPr/>
        </p:nvSpPr>
        <p:spPr>
          <a:xfrm>
            <a:off x="457200" y="1051560"/>
            <a:ext cx="2560320" cy="3474720"/>
          </a:xfrm>
          <a:prstGeom prst="roundRect">
            <a:avLst>
              <a:gd name="adj" fmla="val 4286"/>
            </a:avLst>
          </a:prstGeom>
          <a:solidFill>
            <a:srgbClr val="EEF2F7"/>
          </a:solidFill>
          <a:ln w="12700">
            <a:solidFill>
              <a:srgbClr val="EEF2F7"/>
            </a:solidFill>
            <a:prstDash val="solid"/>
          </a:ln>
        </p:spPr>
      </p:sp>
      <p:sp>
        <p:nvSpPr>
          <p:cNvPr id="4" name="end_icon_0_bg"/>
          <p:cNvSpPr/>
          <p:nvPr/>
        </p:nvSpPr>
        <p:spPr>
          <a:xfrm>
            <a:off x="685800" y="1234440"/>
            <a:ext cx="502920" cy="502920"/>
          </a:xfrm>
          <a:prstGeom prst="ellipse">
            <a:avLst/>
          </a:prstGeom>
          <a:solidFill>
            <a:srgbClr val="5B8E7D"/>
          </a:solidFill>
          <a:ln w="12700">
            <a:solidFill>
              <a:srgbClr val="5B8E7D"/>
            </a:solidFill>
            <a:prstDash val="solid"/>
          </a:ln>
        </p:spPr>
      </p:sp>
      <p:pic>
        <p:nvPicPr>
          <p:cNvPr id="5" name="end_icon_0" descr="preencoded.png">    </p:cNvPr>
          <p:cNvPicPr>
            <a:picLocks noChangeAspect="1"/>
          </p:cNvPicPr>
          <p:nvPr/>
        </p:nvPicPr>
        <p:blipFill>
          <a:blip r:embed="rId1"/>
          <a:stretch>
            <a:fillRect/>
          </a:stretch>
        </p:blipFill>
        <p:spPr>
          <a:xfrm>
            <a:off x="806501" y="1355141"/>
            <a:ext cx="261518" cy="261518"/>
          </a:xfrm>
          <a:prstGeom prst="rect">
            <a:avLst/>
          </a:prstGeom>
        </p:spPr>
      </p:pic>
      <p:sp>
        <p:nvSpPr>
          <p:cNvPr id="6" name="end_head_0"/>
          <p:cNvSpPr txBox="1"/>
          <p:nvPr/>
        </p:nvSpPr>
        <p:spPr>
          <a:xfrm>
            <a:off x="1325880" y="1234440"/>
            <a:ext cx="1554480" cy="502920"/>
          </a:xfrm>
          <a:prstGeom prst="rect">
            <a:avLst/>
          </a:prstGeom>
          <a:noFill/>
          <a:ln/>
        </p:spPr>
        <p:txBody>
          <a:bodyPr wrap="square" lIns="0" tIns="0" rIns="0" bIns="0" rtlCol="0" anchor="ctr"/>
          <a:lstStyle/>
          <a:p>
            <a:pPr indent="0" marL="0">
              <a:buNone/>
            </a:pPr>
            <a:r>
              <a:rPr lang="en-US" sz="1700" b="1" dirty="0">
                <a:solidFill>
                  <a:schemeClr val="tx2"/>
                </a:solidFill>
              </a:rPr>
              <a:t>결론</a:t>
            </a:r>
            <a:endParaRPr lang="en-US" sz="1700" dirty="0"/>
          </a:p>
        </p:txBody>
      </p:sp>
      <p:sp>
        <p:nvSpPr>
          <p:cNvPr id="7" name="end_body_0"/>
          <p:cNvSpPr txBox="1"/>
          <p:nvPr/>
        </p:nvSpPr>
        <p:spPr>
          <a:xfrm>
            <a:off x="685800" y="1965960"/>
            <a:ext cx="2148840" cy="2423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부산 기온은 계절성이 지배적</a:t>
            </a:r>
            <a:endParaRPr lang="en-US" sz="1300" dirty="0"/>
          </a:p>
          <a:p>
            <a:pPr marL="342900" indent="-342900">
              <a:spcAft>
                <a:spcPts val="800"/>
              </a:spcAft>
              <a:buSzPct val="100000"/>
              <a:buChar char="•"/>
            </a:pPr>
            <a:r>
              <a:rPr lang="en-US" sz="1300" dirty="0">
                <a:solidFill>
                  <a:schemeClr val="tx1"/>
                </a:solidFill>
              </a:rPr>
              <a:t>여름은 6년 연속 상승, 연평균은 겨울 변동에 흔들림</a:t>
            </a:r>
            <a:endParaRPr lang="en-US" sz="1300" dirty="0"/>
          </a:p>
          <a:p>
            <a:pPr marL="342900" indent="-342900">
              <a:spcAft>
                <a:spcPts val="800"/>
              </a:spcAft>
              <a:buSzPct val="100000"/>
              <a:buChar char="•"/>
            </a:pPr>
            <a:r>
              <a:rPr lang="en-US" sz="1300" dirty="0">
                <a:solidFill>
                  <a:schemeClr val="tx1"/>
                </a:solidFill>
              </a:rPr>
              <a:t>급변은 추운 계절에 주로 하강으로 발생</a:t>
            </a:r>
            <a:endParaRPr lang="en-US" sz="1300" dirty="0"/>
          </a:p>
        </p:txBody>
      </p:sp>
      <p:sp>
        <p:nvSpPr>
          <p:cNvPr id="8" name="end_card_1"/>
          <p:cNvSpPr/>
          <p:nvPr/>
        </p:nvSpPr>
        <p:spPr>
          <a:xfrm>
            <a:off x="3291840" y="1051560"/>
            <a:ext cx="2560320" cy="3474720"/>
          </a:xfrm>
          <a:prstGeom prst="roundRect">
            <a:avLst>
              <a:gd name="adj" fmla="val 4286"/>
            </a:avLst>
          </a:prstGeom>
          <a:solidFill>
            <a:srgbClr val="EEF2F7"/>
          </a:solidFill>
          <a:ln w="12700">
            <a:solidFill>
              <a:srgbClr val="EEF2F7"/>
            </a:solidFill>
            <a:prstDash val="solid"/>
          </a:ln>
        </p:spPr>
      </p:sp>
      <p:sp>
        <p:nvSpPr>
          <p:cNvPr id="9" name="end_icon_1_bg"/>
          <p:cNvSpPr/>
          <p:nvPr/>
        </p:nvSpPr>
        <p:spPr>
          <a:xfrm>
            <a:off x="3520440" y="1234440"/>
            <a:ext cx="502920" cy="502920"/>
          </a:xfrm>
          <a:prstGeom prst="ellipse">
            <a:avLst/>
          </a:prstGeom>
          <a:solidFill>
            <a:srgbClr val="A23B2A"/>
          </a:solidFill>
          <a:ln w="12700">
            <a:solidFill>
              <a:srgbClr val="A23B2A"/>
            </a:solidFill>
            <a:prstDash val="solid"/>
          </a:ln>
        </p:spPr>
      </p:sp>
      <p:pic>
        <p:nvPicPr>
          <p:cNvPr id="10" name="end_icon_1" descr="preencoded.png">    </p:cNvPr>
          <p:cNvPicPr>
            <a:picLocks noChangeAspect="1"/>
          </p:cNvPicPr>
          <p:nvPr/>
        </p:nvPicPr>
        <p:blipFill>
          <a:blip r:embed="rId2"/>
          <a:stretch>
            <a:fillRect/>
          </a:stretch>
        </p:blipFill>
        <p:spPr>
          <a:xfrm>
            <a:off x="3641141" y="1355141"/>
            <a:ext cx="261518" cy="261518"/>
          </a:xfrm>
          <a:prstGeom prst="rect">
            <a:avLst/>
          </a:prstGeom>
        </p:spPr>
      </p:pic>
      <p:sp>
        <p:nvSpPr>
          <p:cNvPr id="11" name="end_head_1"/>
          <p:cNvSpPr txBox="1"/>
          <p:nvPr/>
        </p:nvSpPr>
        <p:spPr>
          <a:xfrm>
            <a:off x="4160520" y="1234440"/>
            <a:ext cx="1554480" cy="502920"/>
          </a:xfrm>
          <a:prstGeom prst="rect">
            <a:avLst/>
          </a:prstGeom>
          <a:noFill/>
          <a:ln/>
        </p:spPr>
        <p:txBody>
          <a:bodyPr wrap="square" lIns="0" tIns="0" rIns="0" bIns="0" rtlCol="0" anchor="ctr"/>
          <a:lstStyle/>
          <a:p>
            <a:pPr indent="0" marL="0">
              <a:buNone/>
            </a:pPr>
            <a:r>
              <a:rPr lang="en-US" sz="1700" b="1" dirty="0">
                <a:solidFill>
                  <a:schemeClr val="tx2"/>
                </a:solidFill>
              </a:rPr>
              <a:t>한계</a:t>
            </a:r>
            <a:endParaRPr lang="en-US" sz="1700" dirty="0"/>
          </a:p>
        </p:txBody>
      </p:sp>
      <p:sp>
        <p:nvSpPr>
          <p:cNvPr id="12" name="end_body_1"/>
          <p:cNvSpPr txBox="1"/>
          <p:nvPr/>
        </p:nvSpPr>
        <p:spPr>
          <a:xfrm>
            <a:off x="3520440" y="1965960"/>
            <a:ext cx="2148840" cy="2423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6년: 장기 추세로 일반화 어려움</a:t>
            </a:r>
            <a:endParaRPr lang="en-US" sz="1300" dirty="0"/>
          </a:p>
          <a:p>
            <a:pPr marL="342900" indent="-342900">
              <a:spcAft>
                <a:spcPts val="800"/>
              </a:spcAft>
              <a:buSzPct val="100000"/>
              <a:buChar char="•"/>
            </a:pPr>
            <a:r>
              <a:rPr lang="en-US" sz="1300" dirty="0">
                <a:solidFill>
                  <a:schemeClr val="tx1"/>
                </a:solidFill>
              </a:rPr>
              <a:t>재분석 격자 자료: 관측소와 차이 가능</a:t>
            </a:r>
            <a:endParaRPr lang="en-US" sz="1300" dirty="0"/>
          </a:p>
          <a:p>
            <a:pPr marL="342900" indent="-342900">
              <a:spcAft>
                <a:spcPts val="800"/>
              </a:spcAft>
              <a:buSzPct val="100000"/>
              <a:buChar char="•"/>
            </a:pPr>
            <a:r>
              <a:rPr lang="en-US" sz="1300" dirty="0">
                <a:solidFill>
                  <a:schemeClr val="tx1"/>
                </a:solidFill>
              </a:rPr>
              <a:t>기압·풍향 변수가 없어 원인은 가설</a:t>
            </a:r>
            <a:endParaRPr lang="en-US" sz="1300" dirty="0"/>
          </a:p>
        </p:txBody>
      </p:sp>
      <p:sp>
        <p:nvSpPr>
          <p:cNvPr id="13" name="end_card_2"/>
          <p:cNvSpPr/>
          <p:nvPr/>
        </p:nvSpPr>
        <p:spPr>
          <a:xfrm>
            <a:off x="6126480" y="1051560"/>
            <a:ext cx="2560320" cy="3474720"/>
          </a:xfrm>
          <a:prstGeom prst="roundRect">
            <a:avLst>
              <a:gd name="adj" fmla="val 4286"/>
            </a:avLst>
          </a:prstGeom>
          <a:solidFill>
            <a:srgbClr val="EEF2F7"/>
          </a:solidFill>
          <a:ln w="12700">
            <a:solidFill>
              <a:srgbClr val="EEF2F7"/>
            </a:solidFill>
            <a:prstDash val="solid"/>
          </a:ln>
        </p:spPr>
      </p:sp>
      <p:sp>
        <p:nvSpPr>
          <p:cNvPr id="14" name="end_icon_2_bg"/>
          <p:cNvSpPr/>
          <p:nvPr/>
        </p:nvSpPr>
        <p:spPr>
          <a:xfrm>
            <a:off x="6355080" y="1234440"/>
            <a:ext cx="502920" cy="502920"/>
          </a:xfrm>
          <a:prstGeom prst="ellipse">
            <a:avLst/>
          </a:prstGeom>
          <a:solidFill>
            <a:srgbClr val="2E86AB"/>
          </a:solidFill>
          <a:ln w="12700">
            <a:solidFill>
              <a:srgbClr val="2E86AB"/>
            </a:solidFill>
            <a:prstDash val="solid"/>
          </a:ln>
        </p:spPr>
      </p:sp>
      <p:pic>
        <p:nvPicPr>
          <p:cNvPr id="15" name="end_icon_2" descr="preencoded.png">    </p:cNvPr>
          <p:cNvPicPr>
            <a:picLocks noChangeAspect="1"/>
          </p:cNvPicPr>
          <p:nvPr/>
        </p:nvPicPr>
        <p:blipFill>
          <a:blip r:embed="rId3"/>
          <a:stretch>
            <a:fillRect/>
          </a:stretch>
        </p:blipFill>
        <p:spPr>
          <a:xfrm>
            <a:off x="6475781" y="1355141"/>
            <a:ext cx="261518" cy="261518"/>
          </a:xfrm>
          <a:prstGeom prst="rect">
            <a:avLst/>
          </a:prstGeom>
        </p:spPr>
      </p:pic>
      <p:sp>
        <p:nvSpPr>
          <p:cNvPr id="16" name="end_head_2"/>
          <p:cNvSpPr txBox="1"/>
          <p:nvPr/>
        </p:nvSpPr>
        <p:spPr>
          <a:xfrm>
            <a:off x="6995160" y="1234440"/>
            <a:ext cx="1554480" cy="502920"/>
          </a:xfrm>
          <a:prstGeom prst="rect">
            <a:avLst/>
          </a:prstGeom>
          <a:noFill/>
          <a:ln/>
        </p:spPr>
        <p:txBody>
          <a:bodyPr wrap="square" lIns="0" tIns="0" rIns="0" bIns="0" rtlCol="0" anchor="ctr"/>
          <a:lstStyle/>
          <a:p>
            <a:pPr indent="0" marL="0">
              <a:buNone/>
            </a:pPr>
            <a:r>
              <a:rPr lang="en-US" sz="1700" b="1" dirty="0">
                <a:solidFill>
                  <a:schemeClr val="tx2"/>
                </a:solidFill>
              </a:rPr>
              <a:t>다음 단계</a:t>
            </a:r>
            <a:endParaRPr lang="en-US" sz="1700" dirty="0"/>
          </a:p>
        </p:txBody>
      </p:sp>
      <p:sp>
        <p:nvSpPr>
          <p:cNvPr id="17" name="end_body_2"/>
          <p:cNvSpPr txBox="1"/>
          <p:nvPr/>
        </p:nvSpPr>
        <p:spPr>
          <a:xfrm>
            <a:off x="6355080" y="1965960"/>
            <a:ext cx="2148840" cy="2423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30년 이상 자료로 같은 분석 반복</a:t>
            </a:r>
            <a:endParaRPr lang="en-US" sz="1300" dirty="0"/>
          </a:p>
          <a:p>
            <a:pPr marL="342900" indent="-342900">
              <a:spcAft>
                <a:spcPts val="800"/>
              </a:spcAft>
              <a:buSzPct val="100000"/>
              <a:buChar char="•"/>
            </a:pPr>
            <a:r>
              <a:rPr lang="en-US" sz="1300" dirty="0">
                <a:solidFill>
                  <a:schemeClr val="tx1"/>
                </a:solidFill>
              </a:rPr>
              <a:t>주풍향 데이터로 급변 원인 검증</a:t>
            </a:r>
            <a:endParaRPr lang="en-US" sz="1300" dirty="0"/>
          </a:p>
          <a:p>
            <a:pPr marL="342900" indent="-342900">
              <a:spcAft>
                <a:spcPts val="800"/>
              </a:spcAft>
              <a:buSzPct val="100000"/>
              <a:buChar char="•"/>
            </a:pPr>
            <a:r>
              <a:rPr lang="en-US" sz="1300" dirty="0">
                <a:solidFill>
                  <a:schemeClr val="tx1"/>
                </a:solidFill>
              </a:rPr>
              <a:t>급변일을 기상청 한파특보와 대조</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AI는 이렇게 쓰고, 이렇게 검증했다</a:t>
            </a:r>
            <a:endParaRPr lang="en-US" sz="2400" dirty="0"/>
          </a:p>
        </p:txBody>
      </p:sp>
      <p:sp>
        <p:nvSpPr>
          <p:cNvPr id="3" name="ai_icon_0_bg"/>
          <p:cNvSpPr/>
          <p:nvPr/>
        </p:nvSpPr>
        <p:spPr>
          <a:xfrm>
            <a:off x="457200" y="1051560"/>
            <a:ext cx="640080" cy="640080"/>
          </a:xfrm>
          <a:prstGeom prst="ellipse">
            <a:avLst/>
          </a:prstGeom>
          <a:solidFill>
            <a:srgbClr val="14213D"/>
          </a:solidFill>
          <a:ln w="12700">
            <a:solidFill>
              <a:srgbClr val="14213D"/>
            </a:solidFill>
            <a:prstDash val="solid"/>
          </a:ln>
        </p:spPr>
      </p:sp>
      <p:pic>
        <p:nvPicPr>
          <p:cNvPr id="4" name="ai_icon_0" descr="preencoded.png">    </p:cNvPr>
          <p:cNvPicPr>
            <a:picLocks noChangeAspect="1"/>
          </p:cNvPicPr>
          <p:nvPr/>
        </p:nvPicPr>
        <p:blipFill>
          <a:blip r:embed="rId1"/>
          <a:stretch>
            <a:fillRect/>
          </a:stretch>
        </p:blipFill>
        <p:spPr>
          <a:xfrm>
            <a:off x="610819" y="1205179"/>
            <a:ext cx="332842" cy="332842"/>
          </a:xfrm>
          <a:prstGeom prst="rect">
            <a:avLst/>
          </a:prstGeom>
        </p:spPr>
      </p:pic>
      <p:sp>
        <p:nvSpPr>
          <p:cNvPr id="5" name="ai_head_0"/>
          <p:cNvSpPr txBox="1"/>
          <p:nvPr/>
        </p:nvSpPr>
        <p:spPr>
          <a:xfrm>
            <a:off x="1325880" y="1033272"/>
            <a:ext cx="7315200" cy="347472"/>
          </a:xfrm>
          <a:prstGeom prst="rect">
            <a:avLst/>
          </a:prstGeom>
          <a:noFill/>
          <a:ln/>
        </p:spPr>
        <p:txBody>
          <a:bodyPr wrap="square" lIns="0" tIns="0" rIns="0" bIns="0" rtlCol="0" anchor="t"/>
          <a:lstStyle/>
          <a:p>
            <a:pPr indent="0" marL="0">
              <a:buNone/>
            </a:pPr>
            <a:r>
              <a:rPr lang="en-US" sz="1600" b="1" dirty="0">
                <a:solidFill>
                  <a:schemeClr val="tx2"/>
                </a:solidFill>
              </a:rPr>
              <a:t>코드 오류를 실행으로 발견</a:t>
            </a:r>
            <a:endParaRPr lang="en-US" sz="1600" dirty="0"/>
          </a:p>
        </p:txBody>
      </p:sp>
      <p:sp>
        <p:nvSpPr>
          <p:cNvPr id="6" name="ai_body_0"/>
          <p:cNvSpPr txBox="1"/>
          <p:nvPr/>
        </p:nvSpPr>
        <p:spPr>
          <a:xfrm>
            <a:off x="1325880" y="1399032"/>
            <a:ext cx="7315200" cy="594360"/>
          </a:xfrm>
          <a:prstGeom prst="rect">
            <a:avLst/>
          </a:prstGeom>
          <a:noFill/>
          <a:ln/>
        </p:spPr>
        <p:txBody>
          <a:bodyPr wrap="square" lIns="0" tIns="0" rIns="0" bIns="0" rtlCol="0" anchor="t"/>
          <a:lstStyle/>
          <a:p>
            <a:pPr indent="0" marL="0">
              <a:buNone/>
            </a:pPr>
            <a:r>
              <a:rPr lang="en-US" sz="1300" dirty="0">
                <a:solidFill>
                  <a:schemeClr val="tx1"/>
                </a:solidFill>
              </a:rPr>
              <a:t>boxplot 인자 오류(matplotlib 버전 차이), Streamlit 차트 빈칸 문제를 직접 실행해 발견하고 수정</a:t>
            </a:r>
            <a:endParaRPr lang="en-US" sz="1300" dirty="0"/>
          </a:p>
        </p:txBody>
      </p:sp>
      <p:sp>
        <p:nvSpPr>
          <p:cNvPr id="7" name="ai_icon_1_bg"/>
          <p:cNvSpPr/>
          <p:nvPr/>
        </p:nvSpPr>
        <p:spPr>
          <a:xfrm>
            <a:off x="457200" y="2221992"/>
            <a:ext cx="640080" cy="640080"/>
          </a:xfrm>
          <a:prstGeom prst="ellipse">
            <a:avLst/>
          </a:prstGeom>
          <a:solidFill>
            <a:srgbClr val="14213D"/>
          </a:solidFill>
          <a:ln w="12700">
            <a:solidFill>
              <a:srgbClr val="14213D"/>
            </a:solidFill>
            <a:prstDash val="solid"/>
          </a:ln>
        </p:spPr>
      </p:sp>
      <p:pic>
        <p:nvPicPr>
          <p:cNvPr id="8" name="ai_icon_1" descr="preencoded.png">    </p:cNvPr>
          <p:cNvPicPr>
            <a:picLocks noChangeAspect="1"/>
          </p:cNvPicPr>
          <p:nvPr/>
        </p:nvPicPr>
        <p:blipFill>
          <a:blip r:embed="rId2"/>
          <a:stretch>
            <a:fillRect/>
          </a:stretch>
        </p:blipFill>
        <p:spPr>
          <a:xfrm>
            <a:off x="610819" y="2375611"/>
            <a:ext cx="332842" cy="332842"/>
          </a:xfrm>
          <a:prstGeom prst="rect">
            <a:avLst/>
          </a:prstGeom>
        </p:spPr>
      </p:pic>
      <p:sp>
        <p:nvSpPr>
          <p:cNvPr id="9" name="ai_head_1"/>
          <p:cNvSpPr txBox="1"/>
          <p:nvPr/>
        </p:nvSpPr>
        <p:spPr>
          <a:xfrm>
            <a:off x="1325880" y="2203704"/>
            <a:ext cx="7315200" cy="347472"/>
          </a:xfrm>
          <a:prstGeom prst="rect">
            <a:avLst/>
          </a:prstGeom>
          <a:noFill/>
          <a:ln/>
        </p:spPr>
        <p:txBody>
          <a:bodyPr wrap="square" lIns="0" tIns="0" rIns="0" bIns="0" rtlCol="0" anchor="t"/>
          <a:lstStyle/>
          <a:p>
            <a:pPr indent="0" marL="0">
              <a:buNone/>
            </a:pPr>
            <a:r>
              <a:rPr lang="en-US" sz="1600" b="1" dirty="0">
                <a:solidFill>
                  <a:schemeClr val="tx2"/>
                </a:solidFill>
              </a:rPr>
              <a:t>맞지 않는 가설은 배제</a:t>
            </a:r>
            <a:endParaRPr lang="en-US" sz="1600" dirty="0"/>
          </a:p>
        </p:txBody>
      </p:sp>
      <p:sp>
        <p:nvSpPr>
          <p:cNvPr id="10" name="ai_body_1"/>
          <p:cNvSpPr txBox="1"/>
          <p:nvPr/>
        </p:nvSpPr>
        <p:spPr>
          <a:xfrm>
            <a:off x="1325880" y="2569464"/>
            <a:ext cx="7315200" cy="594360"/>
          </a:xfrm>
          <a:prstGeom prst="rect">
            <a:avLst/>
          </a:prstGeom>
          <a:noFill/>
          <a:ln/>
        </p:spPr>
        <p:txBody>
          <a:bodyPr wrap="square" lIns="0" tIns="0" rIns="0" bIns="0" rtlCol="0" anchor="t"/>
          <a:lstStyle/>
          <a:p>
            <a:pPr indent="0" marL="0">
              <a:buNone/>
            </a:pPr>
            <a:r>
              <a:rPr lang="en-US" sz="1300" dirty="0">
                <a:solidFill>
                  <a:schemeClr val="tx1"/>
                </a:solidFill>
              </a:rPr>
              <a:t>'측정 장비 오류'는 재분석 자료라, '여름 비'는 여름 급변 0일이라 데이터와 맞지 않아 제외</a:t>
            </a:r>
            <a:endParaRPr lang="en-US" sz="1300" dirty="0"/>
          </a:p>
        </p:txBody>
      </p:sp>
      <p:sp>
        <p:nvSpPr>
          <p:cNvPr id="11" name="ai_icon_2_bg"/>
          <p:cNvSpPr/>
          <p:nvPr/>
        </p:nvSpPr>
        <p:spPr>
          <a:xfrm>
            <a:off x="457200" y="3392424"/>
            <a:ext cx="640080" cy="640080"/>
          </a:xfrm>
          <a:prstGeom prst="ellipse">
            <a:avLst/>
          </a:prstGeom>
          <a:solidFill>
            <a:srgbClr val="14213D"/>
          </a:solidFill>
          <a:ln w="12700">
            <a:solidFill>
              <a:srgbClr val="14213D"/>
            </a:solidFill>
            <a:prstDash val="solid"/>
          </a:ln>
        </p:spPr>
      </p:sp>
      <p:pic>
        <p:nvPicPr>
          <p:cNvPr id="12" name="ai_icon_2" descr="preencoded.png">    </p:cNvPr>
          <p:cNvPicPr>
            <a:picLocks noChangeAspect="1"/>
          </p:cNvPicPr>
          <p:nvPr/>
        </p:nvPicPr>
        <p:blipFill>
          <a:blip r:embed="rId3"/>
          <a:stretch>
            <a:fillRect/>
          </a:stretch>
        </p:blipFill>
        <p:spPr>
          <a:xfrm>
            <a:off x="610819" y="3546043"/>
            <a:ext cx="332842" cy="332842"/>
          </a:xfrm>
          <a:prstGeom prst="rect">
            <a:avLst/>
          </a:prstGeom>
        </p:spPr>
      </p:pic>
      <p:sp>
        <p:nvSpPr>
          <p:cNvPr id="13" name="ai_head_2"/>
          <p:cNvSpPr txBox="1"/>
          <p:nvPr/>
        </p:nvSpPr>
        <p:spPr>
          <a:xfrm>
            <a:off x="1325880" y="3374136"/>
            <a:ext cx="7315200" cy="347472"/>
          </a:xfrm>
          <a:prstGeom prst="rect">
            <a:avLst/>
          </a:prstGeom>
          <a:noFill/>
          <a:ln/>
        </p:spPr>
        <p:txBody>
          <a:bodyPr wrap="square" lIns="0" tIns="0" rIns="0" bIns="0" rtlCol="0" anchor="t"/>
          <a:lstStyle/>
          <a:p>
            <a:pPr indent="0" marL="0">
              <a:buNone/>
            </a:pPr>
            <a:r>
              <a:rPr lang="en-US" sz="1600" b="1" dirty="0">
                <a:solidFill>
                  <a:schemeClr val="tx2"/>
                </a:solidFill>
              </a:rPr>
              <a:t>수치는 교차 대조</a:t>
            </a:r>
            <a:endParaRPr lang="en-US" sz="1600" dirty="0"/>
          </a:p>
        </p:txBody>
      </p:sp>
      <p:sp>
        <p:nvSpPr>
          <p:cNvPr id="14" name="ai_body_2"/>
          <p:cNvSpPr txBox="1"/>
          <p:nvPr/>
        </p:nvSpPr>
        <p:spPr>
          <a:xfrm>
            <a:off x="1325880" y="3739896"/>
            <a:ext cx="7315200" cy="594360"/>
          </a:xfrm>
          <a:prstGeom prst="rect">
            <a:avLst/>
          </a:prstGeom>
          <a:noFill/>
          <a:ln/>
        </p:spPr>
        <p:txBody>
          <a:bodyPr wrap="square" lIns="0" tIns="0" rIns="0" bIns="0" rtlCol="0" anchor="t"/>
          <a:lstStyle/>
          <a:p>
            <a:pPr indent="0" marL="0">
              <a:buNone/>
            </a:pPr>
            <a:r>
              <a:rPr lang="en-US" sz="1300" dirty="0">
                <a:solidFill>
                  <a:schemeClr val="tx1"/>
                </a:solidFill>
              </a:rPr>
              <a:t>대시보드 급변일 37일·평균 14.17℃를 분석 로그와 대조. 리포트 수치를 원본 CSV로 재계산해 확인</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lIns="0" tIns="0" rIns="0" bIns="0" rtlCol="0" anchor="b"/>
          <a:lstStyle/>
          <a:p>
            <a:pPr algn="l" indent="0" marL="0">
              <a:buNone/>
            </a:pPr>
            <a:r>
              <a:rPr lang="en-US" sz="3400" b="1" dirty="0">
                <a:solidFill>
                  <a:schemeClr val="bg1"/>
                </a:solidFill>
              </a:rPr>
              <a:t>감사합니다</a:t>
            </a:r>
            <a:endParaRPr lang="en-US" sz="3400" dirty="0"/>
          </a:p>
        </p:txBody>
      </p:sp>
      <p:sp>
        <p:nvSpPr>
          <p:cNvPr id="3" name="Text 0"/>
          <p:cNvSpPr/>
          <p:nvPr>
            <p:ph idx="101" type="body" hasCustomPrompt="1"/>
          </p:nvPr>
        </p:nvSpPr>
        <p:spPr>
          <a:xfrm>
            <a:off x="548640" y="2743200"/>
            <a:ext cx="8046720" cy="822960"/>
          </a:xfrm>
          <a:prstGeom prst="rect">
            <a:avLst/>
          </a:prstGeom>
          <a:noFill/>
          <a:ln/>
        </p:spPr>
        <p:txBody>
          <a:bodyPr wrap="square" lIns="0" tIns="0" rIns="0" bIns="0" rtlCol="0" anchor="t"/>
          <a:lstStyle/>
          <a:p>
            <a:pPr algn="l" indent="0" marL="0">
              <a:buNone/>
            </a:pPr>
            <a:r>
              <a:rPr lang="en-US" sz="1600" dirty="0">
                <a:solidFill>
                  <a:schemeClr val="bg2"/>
                </a:solidFill>
              </a:rPr>
              <a:t>질문 받겠습니다 · github.com/17lucky71/busan-temperature-trend</a:t>
            </a:r>
            <a:endParaRPr lang="en-US" sz="1600" dirty="0"/>
          </a:p>
        </p:txBody>
      </p:sp>
      <p:sp>
        <p:nvSpPr>
          <p:cNvPr id="4" name="end_logo_bg"/>
          <p:cNvSpPr/>
          <p:nvPr/>
        </p:nvSpPr>
        <p:spPr>
          <a:xfrm>
            <a:off x="548640" y="548640"/>
            <a:ext cx="685800" cy="685800"/>
          </a:xfrm>
          <a:prstGeom prst="ellipse">
            <a:avLst/>
          </a:prstGeom>
          <a:solidFill>
            <a:srgbClr val="E4572E"/>
          </a:solidFill>
          <a:ln w="12700">
            <a:solidFill>
              <a:srgbClr val="E4572E"/>
            </a:solidFill>
            <a:prstDash val="solid"/>
          </a:ln>
        </p:spPr>
      </p:sp>
      <p:pic>
        <p:nvPicPr>
          <p:cNvPr id="5" name="end_logo" descr="preencoded.png">    </p:cNvPr>
          <p:cNvPicPr>
            <a:picLocks noChangeAspect="1"/>
          </p:cNvPicPr>
          <p:nvPr/>
        </p:nvPicPr>
        <p:blipFill>
          <a:blip r:embed="rId1"/>
          <a:stretch>
            <a:fillRect/>
          </a:stretch>
        </p:blipFill>
        <p:spPr>
          <a:xfrm>
            <a:off x="713232" y="713232"/>
            <a:ext cx="356616" cy="35661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예상 질문과 답변 (1/2)</a:t>
            </a:r>
            <a:endParaRPr lang="en-US" sz="2400" dirty="0"/>
          </a:p>
        </p:txBody>
      </p:sp>
      <p:sp>
        <p:nvSpPr>
          <p:cNvPr id="3" name="qa_card_0_0"/>
          <p:cNvSpPr/>
          <p:nvPr/>
        </p:nvSpPr>
        <p:spPr>
          <a:xfrm>
            <a:off x="457200" y="1005840"/>
            <a:ext cx="4023360" cy="1645920"/>
          </a:xfrm>
          <a:prstGeom prst="roundRect">
            <a:avLst>
              <a:gd name="adj" fmla="val 6667"/>
            </a:avLst>
          </a:prstGeom>
          <a:solidFill>
            <a:srgbClr val="EEF2F7"/>
          </a:solidFill>
          <a:ln w="12700">
            <a:solidFill>
              <a:srgbClr val="EEF2F7"/>
            </a:solidFill>
            <a:prstDash val="solid"/>
          </a:ln>
        </p:spPr>
      </p:sp>
      <p:sp>
        <p:nvSpPr>
          <p:cNvPr id="4" name="qa_q_0_0"/>
          <p:cNvSpPr txBox="1"/>
          <p:nvPr/>
        </p:nvSpPr>
        <p:spPr>
          <a:xfrm>
            <a:off x="640080" y="1115568"/>
            <a:ext cx="3657600" cy="365760"/>
          </a:xfrm>
          <a:prstGeom prst="rect">
            <a:avLst/>
          </a:prstGeom>
          <a:noFill/>
          <a:ln/>
        </p:spPr>
        <p:txBody>
          <a:bodyPr wrap="square" lIns="0" tIns="0" rIns="0" bIns="0" rtlCol="0" anchor="t"/>
          <a:lstStyle/>
          <a:p>
            <a:pPr indent="0" marL="0">
              <a:buNone/>
            </a:pPr>
            <a:r>
              <a:rPr lang="en-US" sz="1300" b="1" dirty="0">
                <a:solidFill>
                  <a:schemeClr val="tx2"/>
                </a:solidFill>
              </a:rPr>
              <a:t>Q. 이상치를 왜 삭제하지 않았나요?</a:t>
            </a:r>
            <a:endParaRPr lang="en-US" sz="1300" dirty="0"/>
          </a:p>
        </p:txBody>
      </p:sp>
      <p:sp>
        <p:nvSpPr>
          <p:cNvPr id="5" name="qa_a_0_0"/>
          <p:cNvSpPr txBox="1"/>
          <p:nvPr/>
        </p:nvSpPr>
        <p:spPr>
          <a:xfrm>
            <a:off x="640080" y="1508760"/>
            <a:ext cx="3657600" cy="1051560"/>
          </a:xfrm>
          <a:prstGeom prst="rect">
            <a:avLst/>
          </a:prstGeom>
          <a:noFill/>
          <a:ln/>
        </p:spPr>
        <p:txBody>
          <a:bodyPr wrap="square" lIns="0" tIns="0" rIns="0" bIns="0" rtlCol="0" anchor="t"/>
          <a:lstStyle/>
          <a:p>
            <a:pPr indent="0" marL="0">
              <a:buNone/>
            </a:pPr>
            <a:r>
              <a:rPr lang="en-US" sz="1200" dirty="0">
                <a:solidFill>
                  <a:schemeClr val="tx1"/>
                </a:solidFill>
              </a:rPr>
              <a:t>급변은 오류보다 한파 같은 실제 현상일 가능성이 크고, 지우면 변동성을 과소평가합니다. 대신 is_outlier로 표시해 분석 대상으로 썼습니다.</a:t>
            </a:r>
            <a:endParaRPr lang="en-US" sz="1200" dirty="0"/>
          </a:p>
        </p:txBody>
      </p:sp>
      <p:sp>
        <p:nvSpPr>
          <p:cNvPr id="6" name="qa_card_0_1"/>
          <p:cNvSpPr/>
          <p:nvPr/>
        </p:nvSpPr>
        <p:spPr>
          <a:xfrm>
            <a:off x="4663440" y="1005840"/>
            <a:ext cx="4023360" cy="1645920"/>
          </a:xfrm>
          <a:prstGeom prst="roundRect">
            <a:avLst>
              <a:gd name="adj" fmla="val 6667"/>
            </a:avLst>
          </a:prstGeom>
          <a:solidFill>
            <a:srgbClr val="EEF2F7"/>
          </a:solidFill>
          <a:ln w="12700">
            <a:solidFill>
              <a:srgbClr val="EEF2F7"/>
            </a:solidFill>
            <a:prstDash val="solid"/>
          </a:ln>
        </p:spPr>
      </p:sp>
      <p:sp>
        <p:nvSpPr>
          <p:cNvPr id="7" name="qa_q_0_1"/>
          <p:cNvSpPr txBox="1"/>
          <p:nvPr/>
        </p:nvSpPr>
        <p:spPr>
          <a:xfrm>
            <a:off x="4846320" y="1115568"/>
            <a:ext cx="3657600" cy="365760"/>
          </a:xfrm>
          <a:prstGeom prst="rect">
            <a:avLst/>
          </a:prstGeom>
          <a:noFill/>
          <a:ln/>
        </p:spPr>
        <p:txBody>
          <a:bodyPr wrap="square" lIns="0" tIns="0" rIns="0" bIns="0" rtlCol="0" anchor="t"/>
          <a:lstStyle/>
          <a:p>
            <a:pPr indent="0" marL="0">
              <a:buNone/>
            </a:pPr>
            <a:r>
              <a:rPr lang="en-US" sz="1300" b="1" dirty="0">
                <a:solidFill>
                  <a:schemeClr val="tx2"/>
                </a:solidFill>
              </a:rPr>
              <a:t>Q. 왜 |z| &gt; 3을 기준으로 했나요?</a:t>
            </a:r>
            <a:endParaRPr lang="en-US" sz="1300" dirty="0"/>
          </a:p>
        </p:txBody>
      </p:sp>
      <p:sp>
        <p:nvSpPr>
          <p:cNvPr id="8" name="qa_a_0_1"/>
          <p:cNvSpPr txBox="1"/>
          <p:nvPr/>
        </p:nvSpPr>
        <p:spPr>
          <a:xfrm>
            <a:off x="4846320" y="1508760"/>
            <a:ext cx="3657600" cy="1051560"/>
          </a:xfrm>
          <a:prstGeom prst="rect">
            <a:avLst/>
          </a:prstGeom>
          <a:noFill/>
          <a:ln/>
        </p:spPr>
        <p:txBody>
          <a:bodyPr wrap="square" lIns="0" tIns="0" rIns="0" bIns="0" rtlCol="0" anchor="t"/>
          <a:lstStyle/>
          <a:p>
            <a:pPr indent="0" marL="0">
              <a:buNone/>
            </a:pPr>
            <a:r>
              <a:rPr lang="en-US" sz="1200" dirty="0">
                <a:solidFill>
                  <a:schemeClr val="tx1"/>
                </a:solidFill>
              </a:rPr>
              <a:t>정규분포에서 약 0.3%에 해당하는 관례적 기준(±6.2℃)입니다. 2.5로 낮춰도 '추운 계절 집중' 결론이 유지되는 것을 대시보드로 확인했습니다.</a:t>
            </a:r>
            <a:endParaRPr lang="en-US" sz="1200" dirty="0"/>
          </a:p>
        </p:txBody>
      </p:sp>
      <p:sp>
        <p:nvSpPr>
          <p:cNvPr id="9" name="qa_card_0_2"/>
          <p:cNvSpPr/>
          <p:nvPr/>
        </p:nvSpPr>
        <p:spPr>
          <a:xfrm>
            <a:off x="457200" y="2788920"/>
            <a:ext cx="4023360" cy="1645920"/>
          </a:xfrm>
          <a:prstGeom prst="roundRect">
            <a:avLst>
              <a:gd name="adj" fmla="val 6667"/>
            </a:avLst>
          </a:prstGeom>
          <a:solidFill>
            <a:srgbClr val="EEF2F7"/>
          </a:solidFill>
          <a:ln w="12700">
            <a:solidFill>
              <a:srgbClr val="EEF2F7"/>
            </a:solidFill>
            <a:prstDash val="solid"/>
          </a:ln>
        </p:spPr>
      </p:sp>
      <p:sp>
        <p:nvSpPr>
          <p:cNvPr id="10" name="qa_q_0_2"/>
          <p:cNvSpPr txBox="1"/>
          <p:nvPr/>
        </p:nvSpPr>
        <p:spPr>
          <a:xfrm>
            <a:off x="640080" y="2898648"/>
            <a:ext cx="3657600" cy="365760"/>
          </a:xfrm>
          <a:prstGeom prst="rect">
            <a:avLst/>
          </a:prstGeom>
          <a:noFill/>
          <a:ln/>
        </p:spPr>
        <p:txBody>
          <a:bodyPr wrap="square" lIns="0" tIns="0" rIns="0" bIns="0" rtlCol="0" anchor="t"/>
          <a:lstStyle/>
          <a:p>
            <a:pPr indent="0" marL="0">
              <a:buNone/>
            </a:pPr>
            <a:r>
              <a:rPr lang="en-US" sz="1300" b="1" dirty="0">
                <a:solidFill>
                  <a:schemeClr val="tx2"/>
                </a:solidFill>
              </a:rPr>
              <a:t>Q. 여름 6년 연속 상승이면 온난화인가요?</a:t>
            </a:r>
            <a:endParaRPr lang="en-US" sz="1300" dirty="0"/>
          </a:p>
        </p:txBody>
      </p:sp>
      <p:sp>
        <p:nvSpPr>
          <p:cNvPr id="11" name="qa_a_0_2"/>
          <p:cNvSpPr txBox="1"/>
          <p:nvPr/>
        </p:nvSpPr>
        <p:spPr>
          <a:xfrm>
            <a:off x="640080" y="3291840"/>
            <a:ext cx="3657600" cy="1051560"/>
          </a:xfrm>
          <a:prstGeom prst="rect">
            <a:avLst/>
          </a:prstGeom>
          <a:noFill/>
          <a:ln/>
        </p:spPr>
        <p:txBody>
          <a:bodyPr wrap="square" lIns="0" tIns="0" rIns="0" bIns="0" rtlCol="0" anchor="t"/>
          <a:lstStyle/>
          <a:p>
            <a:pPr indent="0" marL="0">
              <a:buNone/>
            </a:pPr>
            <a:r>
              <a:rPr lang="en-US" sz="1200" dirty="0">
                <a:solidFill>
                  <a:schemeClr val="tx1"/>
                </a:solidFill>
              </a:rPr>
              <a:t>관찰은 사실이지만 6년은 짧아 단정하지 않았습니다. 30년 이상 자료로 같은 경향이 나오는지 확인하는 것이 다음 단계입니다.</a:t>
            </a:r>
            <a:endParaRPr lang="en-US" sz="1200" dirty="0"/>
          </a:p>
        </p:txBody>
      </p:sp>
      <p:sp>
        <p:nvSpPr>
          <p:cNvPr id="12" name="qa_card_0_3"/>
          <p:cNvSpPr/>
          <p:nvPr/>
        </p:nvSpPr>
        <p:spPr>
          <a:xfrm>
            <a:off x="4663440" y="2788920"/>
            <a:ext cx="4023360" cy="1645920"/>
          </a:xfrm>
          <a:prstGeom prst="roundRect">
            <a:avLst>
              <a:gd name="adj" fmla="val 6667"/>
            </a:avLst>
          </a:prstGeom>
          <a:solidFill>
            <a:srgbClr val="EEF2F7"/>
          </a:solidFill>
          <a:ln w="12700">
            <a:solidFill>
              <a:srgbClr val="EEF2F7"/>
            </a:solidFill>
            <a:prstDash val="solid"/>
          </a:ln>
        </p:spPr>
      </p:sp>
      <p:sp>
        <p:nvSpPr>
          <p:cNvPr id="13" name="qa_q_0_3"/>
          <p:cNvSpPr txBox="1"/>
          <p:nvPr/>
        </p:nvSpPr>
        <p:spPr>
          <a:xfrm>
            <a:off x="4846320" y="2898648"/>
            <a:ext cx="3657600" cy="365760"/>
          </a:xfrm>
          <a:prstGeom prst="rect">
            <a:avLst/>
          </a:prstGeom>
          <a:noFill/>
          <a:ln/>
        </p:spPr>
        <p:txBody>
          <a:bodyPr wrap="square" lIns="0" tIns="0" rIns="0" bIns="0" rtlCol="0" anchor="t"/>
          <a:lstStyle/>
          <a:p>
            <a:pPr indent="0" marL="0">
              <a:buNone/>
            </a:pPr>
            <a:r>
              <a:rPr lang="en-US" sz="1300" b="1" dirty="0">
                <a:solidFill>
                  <a:schemeClr val="tx2"/>
                </a:solidFill>
              </a:rPr>
              <a:t>Q. 관찰과 해석을 어떻게 구분했나요?</a:t>
            </a:r>
            <a:endParaRPr lang="en-US" sz="1300" dirty="0"/>
          </a:p>
        </p:txBody>
      </p:sp>
      <p:sp>
        <p:nvSpPr>
          <p:cNvPr id="14" name="qa_a_0_3"/>
          <p:cNvSpPr txBox="1"/>
          <p:nvPr/>
        </p:nvSpPr>
        <p:spPr>
          <a:xfrm>
            <a:off x="4846320" y="3291840"/>
            <a:ext cx="3657600" cy="1051560"/>
          </a:xfrm>
          <a:prstGeom prst="rect">
            <a:avLst/>
          </a:prstGeom>
          <a:noFill/>
          <a:ln/>
        </p:spPr>
        <p:txBody>
          <a:bodyPr wrap="square" lIns="0" tIns="0" rIns="0" bIns="0" rtlCol="0" anchor="t"/>
          <a:lstStyle/>
          <a:p>
            <a:pPr indent="0" marL="0">
              <a:buNone/>
            </a:pPr>
            <a:r>
              <a:rPr lang="en-US" sz="1200" dirty="0">
                <a:solidFill>
                  <a:schemeClr val="tx1"/>
                </a:solidFill>
              </a:rPr>
              <a:t>'급하강 29일, 급상승 8일'은 데이터로 확인한 관찰, '찬 공기 남하가 더 급격하다'는 검증이 필요한 해석입니다. 리포트에도 항목을 나눠 적었습니다.</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2"/>
                </a:solidFill>
              </a:rPr>
              <a:t>예상 질문과 답변 (2/2)</a:t>
            </a:r>
            <a:endParaRPr lang="en-US" sz="2400" dirty="0"/>
          </a:p>
        </p:txBody>
      </p:sp>
      <p:sp>
        <p:nvSpPr>
          <p:cNvPr id="3" name="qa_card_1_0"/>
          <p:cNvSpPr/>
          <p:nvPr/>
        </p:nvSpPr>
        <p:spPr>
          <a:xfrm>
            <a:off x="457200" y="1005840"/>
            <a:ext cx="4023360" cy="1645920"/>
          </a:xfrm>
          <a:prstGeom prst="roundRect">
            <a:avLst>
              <a:gd name="adj" fmla="val 6667"/>
            </a:avLst>
          </a:prstGeom>
          <a:solidFill>
            <a:srgbClr val="EEF2F7"/>
          </a:solidFill>
          <a:ln w="12700">
            <a:solidFill>
              <a:srgbClr val="EEF2F7"/>
            </a:solidFill>
            <a:prstDash val="solid"/>
          </a:ln>
        </p:spPr>
      </p:sp>
      <p:sp>
        <p:nvSpPr>
          <p:cNvPr id="4" name="qa_q_1_0"/>
          <p:cNvSpPr txBox="1"/>
          <p:nvPr/>
        </p:nvSpPr>
        <p:spPr>
          <a:xfrm>
            <a:off x="640080" y="1115568"/>
            <a:ext cx="3657600" cy="365760"/>
          </a:xfrm>
          <a:prstGeom prst="rect">
            <a:avLst/>
          </a:prstGeom>
          <a:noFill/>
          <a:ln/>
        </p:spPr>
        <p:txBody>
          <a:bodyPr wrap="square" lIns="0" tIns="0" rIns="0" bIns="0" rtlCol="0" anchor="t"/>
          <a:lstStyle/>
          <a:p>
            <a:pPr indent="0" marL="0">
              <a:buNone/>
            </a:pPr>
            <a:r>
              <a:rPr lang="en-US" sz="1300" b="1" dirty="0">
                <a:solidFill>
                  <a:schemeClr val="tx2"/>
                </a:solidFill>
              </a:rPr>
              <a:t>Q. 365일 이동평균은 왜 앞뒤가 비어 있나요?</a:t>
            </a:r>
            <a:endParaRPr lang="en-US" sz="1300" dirty="0"/>
          </a:p>
        </p:txBody>
      </p:sp>
      <p:sp>
        <p:nvSpPr>
          <p:cNvPr id="5" name="qa_a_1_0"/>
          <p:cNvSpPr txBox="1"/>
          <p:nvPr/>
        </p:nvSpPr>
        <p:spPr>
          <a:xfrm>
            <a:off x="640080" y="1508760"/>
            <a:ext cx="3657600" cy="1051560"/>
          </a:xfrm>
          <a:prstGeom prst="rect">
            <a:avLst/>
          </a:prstGeom>
          <a:noFill/>
          <a:ln/>
        </p:spPr>
        <p:txBody>
          <a:bodyPr wrap="square" lIns="0" tIns="0" rIns="0" bIns="0" rtlCol="0" anchor="t"/>
          <a:lstStyle/>
          <a:p>
            <a:pPr indent="0" marL="0">
              <a:buNone/>
            </a:pPr>
            <a:r>
              <a:rPr lang="en-US" sz="1200" dirty="0">
                <a:solidFill>
                  <a:schemeClr val="tx1"/>
                </a:solidFill>
              </a:rPr>
              <a:t>중심 이동평균이라 앞뒤 반년치가 있어야 계산됩니다. 1년 주기 평균이라 계절성을 지우고 추세만 남깁니다.</a:t>
            </a:r>
            <a:endParaRPr lang="en-US" sz="1200" dirty="0"/>
          </a:p>
        </p:txBody>
      </p:sp>
      <p:sp>
        <p:nvSpPr>
          <p:cNvPr id="6" name="qa_card_1_1"/>
          <p:cNvSpPr/>
          <p:nvPr/>
        </p:nvSpPr>
        <p:spPr>
          <a:xfrm>
            <a:off x="4663440" y="1005840"/>
            <a:ext cx="4023360" cy="1645920"/>
          </a:xfrm>
          <a:prstGeom prst="roundRect">
            <a:avLst>
              <a:gd name="adj" fmla="val 6667"/>
            </a:avLst>
          </a:prstGeom>
          <a:solidFill>
            <a:srgbClr val="EEF2F7"/>
          </a:solidFill>
          <a:ln w="12700">
            <a:solidFill>
              <a:srgbClr val="EEF2F7"/>
            </a:solidFill>
            <a:prstDash val="solid"/>
          </a:ln>
        </p:spPr>
      </p:sp>
      <p:sp>
        <p:nvSpPr>
          <p:cNvPr id="7" name="qa_q_1_1"/>
          <p:cNvSpPr txBox="1"/>
          <p:nvPr/>
        </p:nvSpPr>
        <p:spPr>
          <a:xfrm>
            <a:off x="4846320" y="1115568"/>
            <a:ext cx="3657600" cy="365760"/>
          </a:xfrm>
          <a:prstGeom prst="rect">
            <a:avLst/>
          </a:prstGeom>
          <a:noFill/>
          <a:ln/>
        </p:spPr>
        <p:txBody>
          <a:bodyPr wrap="square" lIns="0" tIns="0" rIns="0" bIns="0" rtlCol="0" anchor="t"/>
          <a:lstStyle/>
          <a:p>
            <a:pPr indent="0" marL="0">
              <a:buNone/>
            </a:pPr>
            <a:r>
              <a:rPr lang="en-US" sz="1300" b="1" dirty="0">
                <a:solidFill>
                  <a:schemeClr val="tx2"/>
                </a:solidFill>
              </a:rPr>
              <a:t>Q. 분해한 계절성 선은 왜 매끈하지 않나요?</a:t>
            </a:r>
            <a:endParaRPr lang="en-US" sz="1300" dirty="0"/>
          </a:p>
        </p:txBody>
      </p:sp>
      <p:sp>
        <p:nvSpPr>
          <p:cNvPr id="8" name="qa_a_1_1"/>
          <p:cNvSpPr txBox="1"/>
          <p:nvPr/>
        </p:nvSpPr>
        <p:spPr>
          <a:xfrm>
            <a:off x="4846320" y="1508760"/>
            <a:ext cx="3657600" cy="1051560"/>
          </a:xfrm>
          <a:prstGeom prst="rect">
            <a:avLst/>
          </a:prstGeom>
          <a:noFill/>
          <a:ln/>
        </p:spPr>
        <p:txBody>
          <a:bodyPr wrap="square" lIns="0" tIns="0" rIns="0" bIns="0" rtlCol="0" anchor="t"/>
          <a:lstStyle/>
          <a:p>
            <a:pPr indent="0" marL="0">
              <a:buNone/>
            </a:pPr>
            <a:r>
              <a:rPr lang="en-US" sz="1200" dirty="0">
                <a:solidFill>
                  <a:schemeClr val="tx1"/>
                </a:solidFill>
              </a:rPr>
              <a:t>같은 날짜의 값이 5~6개뿐이라 날짜별 평균에도 노이즈가 남습니다. 기간이 길수록 매끈해집니다.</a:t>
            </a:r>
            <a:endParaRPr lang="en-US" sz="1200" dirty="0"/>
          </a:p>
        </p:txBody>
      </p:sp>
      <p:sp>
        <p:nvSpPr>
          <p:cNvPr id="9" name="qa_card_1_2"/>
          <p:cNvSpPr/>
          <p:nvPr/>
        </p:nvSpPr>
        <p:spPr>
          <a:xfrm>
            <a:off x="457200" y="2788920"/>
            <a:ext cx="4023360" cy="1645920"/>
          </a:xfrm>
          <a:prstGeom prst="roundRect">
            <a:avLst>
              <a:gd name="adj" fmla="val 6667"/>
            </a:avLst>
          </a:prstGeom>
          <a:solidFill>
            <a:srgbClr val="EEF2F7"/>
          </a:solidFill>
          <a:ln w="12700">
            <a:solidFill>
              <a:srgbClr val="EEF2F7"/>
            </a:solidFill>
            <a:prstDash val="solid"/>
          </a:ln>
        </p:spPr>
      </p:sp>
      <p:sp>
        <p:nvSpPr>
          <p:cNvPr id="10" name="qa_q_1_2"/>
          <p:cNvSpPr txBox="1"/>
          <p:nvPr/>
        </p:nvSpPr>
        <p:spPr>
          <a:xfrm>
            <a:off x="640080" y="2898648"/>
            <a:ext cx="3657600" cy="365760"/>
          </a:xfrm>
          <a:prstGeom prst="rect">
            <a:avLst/>
          </a:prstGeom>
          <a:noFill/>
          <a:ln/>
        </p:spPr>
        <p:txBody>
          <a:bodyPr wrap="square" lIns="0" tIns="0" rIns="0" bIns="0" rtlCol="0" anchor="t"/>
          <a:lstStyle/>
          <a:p>
            <a:pPr indent="0" marL="0">
              <a:buNone/>
            </a:pPr>
            <a:r>
              <a:rPr lang="en-US" sz="1300" b="1" dirty="0">
                <a:solidFill>
                  <a:schemeClr val="tx2"/>
                </a:solidFill>
              </a:rPr>
              <a:t>Q. 평년값이 더 정확한 이유는요?</a:t>
            </a:r>
            <a:endParaRPr lang="en-US" sz="1300" dirty="0"/>
          </a:p>
        </p:txBody>
      </p:sp>
      <p:sp>
        <p:nvSpPr>
          <p:cNvPr id="11" name="qa_a_1_2"/>
          <p:cNvSpPr txBox="1"/>
          <p:nvPr/>
        </p:nvSpPr>
        <p:spPr>
          <a:xfrm>
            <a:off x="640080" y="3291840"/>
            <a:ext cx="3657600" cy="1051560"/>
          </a:xfrm>
          <a:prstGeom prst="rect">
            <a:avLst/>
          </a:prstGeom>
          <a:noFill/>
          <a:ln/>
        </p:spPr>
        <p:txBody>
          <a:bodyPr wrap="square" lIns="0" tIns="0" rIns="0" bIns="0" rtlCol="0" anchor="t"/>
          <a:lstStyle/>
          <a:p>
            <a:pPr indent="0" marL="0">
              <a:buNone/>
            </a:pPr>
            <a:r>
              <a:rPr lang="en-US" sz="1200" dirty="0">
                <a:solidFill>
                  <a:schemeClr val="tx1"/>
                </a:solidFill>
              </a:rPr>
              <a:t>여러 해를 평균해 우연한 변동이 상쇄되기 때문입니다. 단, 추세를 반영 못 해 2025년은 실제가 0.26℃ 더 높았습니다.</a:t>
            </a:r>
            <a:endParaRPr lang="en-US" sz="1200" dirty="0"/>
          </a:p>
        </p:txBody>
      </p:sp>
      <p:sp>
        <p:nvSpPr>
          <p:cNvPr id="12" name="qa_card_1_3"/>
          <p:cNvSpPr/>
          <p:nvPr/>
        </p:nvSpPr>
        <p:spPr>
          <a:xfrm>
            <a:off x="4663440" y="2788920"/>
            <a:ext cx="4023360" cy="1645920"/>
          </a:xfrm>
          <a:prstGeom prst="roundRect">
            <a:avLst>
              <a:gd name="adj" fmla="val 6667"/>
            </a:avLst>
          </a:prstGeom>
          <a:solidFill>
            <a:srgbClr val="EEF2F7"/>
          </a:solidFill>
          <a:ln w="12700">
            <a:solidFill>
              <a:srgbClr val="EEF2F7"/>
            </a:solidFill>
            <a:prstDash val="solid"/>
          </a:ln>
        </p:spPr>
      </p:sp>
      <p:sp>
        <p:nvSpPr>
          <p:cNvPr id="13" name="qa_q_1_3"/>
          <p:cNvSpPr txBox="1"/>
          <p:nvPr/>
        </p:nvSpPr>
        <p:spPr>
          <a:xfrm>
            <a:off x="4846320" y="2898648"/>
            <a:ext cx="3657600" cy="365760"/>
          </a:xfrm>
          <a:prstGeom prst="rect">
            <a:avLst/>
          </a:prstGeom>
          <a:noFill/>
          <a:ln/>
        </p:spPr>
        <p:txBody>
          <a:bodyPr wrap="square" lIns="0" tIns="0" rIns="0" bIns="0" rtlCol="0" anchor="t"/>
          <a:lstStyle/>
          <a:p>
            <a:pPr indent="0" marL="0">
              <a:buNone/>
            </a:pPr>
            <a:r>
              <a:rPr lang="en-US" sz="1300" b="1" dirty="0">
                <a:solidFill>
                  <a:schemeClr val="tx2"/>
                </a:solidFill>
              </a:rPr>
              <a:t>Q. AI 결과는 어떻게 검증했나요?</a:t>
            </a:r>
            <a:endParaRPr lang="en-US" sz="1300" dirty="0"/>
          </a:p>
        </p:txBody>
      </p:sp>
      <p:sp>
        <p:nvSpPr>
          <p:cNvPr id="14" name="qa_a_1_3"/>
          <p:cNvSpPr txBox="1"/>
          <p:nvPr/>
        </p:nvSpPr>
        <p:spPr>
          <a:xfrm>
            <a:off x="4846320" y="3291840"/>
            <a:ext cx="3657600" cy="1051560"/>
          </a:xfrm>
          <a:prstGeom prst="rect">
            <a:avLst/>
          </a:prstGeom>
          <a:noFill/>
          <a:ln/>
        </p:spPr>
        <p:txBody>
          <a:bodyPr wrap="square" lIns="0" tIns="0" rIns="0" bIns="0" rtlCol="0" anchor="t"/>
          <a:lstStyle/>
          <a:p>
            <a:pPr indent="0" marL="0">
              <a:buNone/>
            </a:pPr>
            <a:r>
              <a:rPr lang="en-US" sz="1200" dirty="0">
                <a:solidFill>
                  <a:schemeClr val="tx1"/>
                </a:solidFill>
              </a:rPr>
              <a:t>직접 실행해 오류 2건을 고쳤고, 데이터와 맞지 않는 가설은 배제했으며, 대시보드·로그·원본 CSV 수치를 서로 대조했습니다.</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D99AE"/>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Busan Temperature">
  <a:themeElements>
    <a:clrScheme name="Busan Temperature">
      <a:dk1>
        <a:srgbClr val="1F2933"/>
      </a:dk1>
      <a:lt1>
        <a:srgbClr val="FFFFFF"/>
      </a:lt1>
      <a:dk2>
        <a:srgbClr val="14213D"/>
      </a:dk2>
      <a:lt2>
        <a:srgbClr val="EEF2F7"/>
      </a:lt2>
      <a:accent1>
        <a:srgbClr val="E4572E"/>
      </a:accent1>
      <a:accent2>
        <a:srgbClr val="2E86AB"/>
      </a:accent2>
      <a:accent3>
        <a:srgbClr val="F4A259"/>
      </a:accent3>
      <a:accent4>
        <a:srgbClr val="5B8E7D"/>
      </a:accent4>
      <a:accent5>
        <a:srgbClr val="8D99AE"/>
      </a:accent5>
      <a:accent6>
        <a:srgbClr val="A23B2A"/>
      </a:accent6>
      <a:hlink>
        <a:srgbClr val="2E86AB"/>
      </a:hlink>
      <a:folHlink>
        <a:srgbClr val="5B8E7D"/>
      </a:folHlink>
    </a:clrScheme>
    <a:fontScheme name="Busan Temperatur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부산 2020~2025 일별 기온 트렌드 분석</dc:title>
  <dc:subject>PptxGenJS Presentation</dc:subject>
  <dc:creator>17lucky71</dc:creator>
  <cp:lastModifiedBy>17lucky71</cp:lastModifiedBy>
  <cp:revision>1</cp:revision>
  <dcterms:created xsi:type="dcterms:W3CDTF">2026-10-05T09:23:00Z</dcterms:created>
  <dcterms:modified xsi:type="dcterms:W3CDTF">2026-10-05T09:23:00Z</dcterms:modified>
</cp:coreProperties>
</file>